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85" r:id="rId4"/>
    <p:sldId id="286" r:id="rId5"/>
    <p:sldId id="294" r:id="rId6"/>
    <p:sldId id="295" r:id="rId7"/>
    <p:sldId id="296" r:id="rId8"/>
    <p:sldId id="297" r:id="rId9"/>
    <p:sldId id="284" r:id="rId10"/>
    <p:sldId id="283" r:id="rId11"/>
    <p:sldId id="282" r:id="rId12"/>
    <p:sldId id="287" r:id="rId13"/>
    <p:sldId id="281" r:id="rId14"/>
    <p:sldId id="288" r:id="rId15"/>
    <p:sldId id="280" r:id="rId16"/>
    <p:sldId id="279" r:id="rId17"/>
    <p:sldId id="290" r:id="rId18"/>
    <p:sldId id="291" r:id="rId19"/>
    <p:sldId id="278" r:id="rId20"/>
    <p:sldId id="277" r:id="rId21"/>
    <p:sldId id="292" r:id="rId22"/>
    <p:sldId id="293" r:id="rId23"/>
    <p:sldId id="276" r:id="rId24"/>
    <p:sldId id="275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AEA7F0-4FA8-5257-ABA5-2BAC22F02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1C8DCD-B4CB-AF01-82F9-EF882C0DD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8200B3-B5DA-07A1-3F60-E5F92A96D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14A172-6EEF-F02E-B3CD-97C04E0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352960-B483-EB22-68FE-2EFF8C30A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459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AD50A6-E350-47D7-9685-DBA274D9B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F6EEC6-A374-76D1-B67E-32B6A9D8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0AAB5D-7A1C-33AB-25C8-8131E4BB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667815-8AC7-50D5-85BA-FBD04494B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5F76F8-57A2-B39A-76AB-B833AB4FD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85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1D2D6F-043E-AA99-4A07-C39346EA1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5D1875F-FDB0-8AE8-809D-6D2BCEF4E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2B0508-6093-C553-52AE-D4EBB59AD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BB3BCCD-10A6-E3B7-3767-F241FDA41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BBE0DD-3168-EDCD-AC79-FAB7DD27E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5298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561D7A-F6ED-A7A1-0C97-547C0BD1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ED177-997B-C115-6B9F-502729AD0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EB93AC8-DF4D-B95D-A28D-3FB2B14F4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A165D2-9930-13F6-8164-001D4A7DB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17345A-98B5-D544-0625-99189F99B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DAD09D-970A-A3C1-5F5F-8237C98F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109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345DF8-16A9-238B-BB10-E988C263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4C33D5E-2698-8CC1-D8EC-5BA02E770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3692CD-7098-2D93-FA9C-B539AE4FB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A3795D0-AD58-FE7C-5847-F9A9F367F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64EEF46-8372-6B84-8CD2-F2C46AD58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986FB7-385F-6A90-809F-876DD9D8A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005880B-0D4B-E2AC-215A-CC4C39715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B3E1401-526C-4939-7EBF-CC5E17ECA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5790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C704BE-994E-F2FF-EF14-78A149C2D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CCE502-4B3C-5E13-0AD5-C9A26DC3E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542C3E2-7DB9-7D8C-BDB9-80D5EC2C6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649FB0-A46E-013C-B571-9F1E7983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60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83ACB15-3D94-6CC7-616D-735086F7F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79F3D74-4193-EC57-E976-4D32E83C4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F5AC7B-694D-239A-A08F-21AA5C9FB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41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5DDDC6-C8ED-AC89-6AF0-AA766D91E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1E8B2F-FC08-A286-9BD1-367C9610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27D7123-2771-C5CC-DA7C-85DF690B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285D4B-ECB3-DDD5-345C-D98FE2C9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00DE1F1-A39B-6971-3535-49474C144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367D8C6-938A-2502-890B-042EC458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609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D4CEF3-020C-374D-60C9-54CC611B5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31A0C3-932D-0A47-B16B-89BE10C830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850040-4726-EE11-A87B-D6FDB2825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EC8BF62-6EB9-BC27-4FD2-9A264106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04FAC3-AD4C-DFBF-13CA-72061D189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0C6169D-660E-9073-56A3-8CF3C2902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208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177BA-4F53-3F61-F843-E631D99FD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290D29E-46D9-6175-F129-70460A973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B463A-2641-FD51-AD06-0C625F6F4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D30334-AF73-0EDE-CCB1-FC0C1030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5A316C-7E81-F643-4B0B-C80A10D89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8977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01DB1-CEAA-2F7F-065A-DD09DDF716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264F5E6-A0BC-BC4E-A6BD-7A55A1ABA3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C8501A-127F-6D7A-37C9-D23AA82E1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0BE5BB-0D44-A6EF-026E-B0BF1E7B8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FBB1683-E85B-BAD4-FDF9-D72222A44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512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F8439-B886-5D48-2F29-E9F050112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631E2D-BA80-D8BE-7B20-09962D7E1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230332-F6EA-1B66-F48D-E7513AD32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BA78F7-69F3-C311-75E2-0C32215F1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A6DE64-E201-4707-7376-1B179333A5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220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S029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Работа стропальщика как последовательность действий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дальше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 dirty="0">
                <a:solidFill>
                  <a:srgbClr val="111111"/>
                </a:solidFill>
                <a:latin typeface="Arial"/>
              </a:rPr>
              <a:t>В этом блоке разбираем, как именно работает стропальщик: подготовка к работе, обязанности, сигналы, сопровождение груза, складирование и </a:t>
            </a:r>
            <a:r>
              <a:rPr lang="ru-RU" sz="1600" b="0" dirty="0" err="1">
                <a:solidFill>
                  <a:srgbClr val="111111"/>
                </a:solidFill>
                <a:latin typeface="Arial"/>
              </a:rPr>
              <a:t>расстроповка</a:t>
            </a:r>
            <a:r>
              <a:rPr lang="ru-RU" sz="1600" b="0" dirty="0">
                <a:solidFill>
                  <a:srgbClr val="111111"/>
                </a:solidFill>
                <a:latin typeface="Arial"/>
              </a:rPr>
              <a:t>. Это переход от правил строповки к самой рабочей технологии.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Стропальщик подает команду перед началом грузоподъемной операции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Ключевой визуальный вход</a:t>
            </a:r>
          </a:p>
        </p:txBody>
      </p:sp>
      <p:pic>
        <p:nvPicPr>
          <p:cNvPr id="22" name="Picture 21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16" y="2633472"/>
            <a:ext cx="400507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S030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Что будет в теме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Маршрут подтемы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1718419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spcAft>
                <a:spcPts val="800"/>
              </a:spcAft>
            </a:pPr>
            <a:r>
              <a:rPr lang="ru-RU" sz="1500" b="1">
                <a:solidFill>
                  <a:srgbClr val="0038B8"/>
                </a:solidFill>
                <a:latin typeface="Arial" panose="020B0604020202020204" pitchFamily="34" charset="0"/>
              </a:rPr>
              <a:t>Подготовка к работе</a:t>
            </a:r>
          </a:p>
          <a:p>
            <a:pPr>
              <a:spcAft>
                <a:spcPts val="800"/>
              </a:spcAft>
            </a:pPr>
            <a:r>
              <a:rPr lang="ru-RU" sz="1500" b="1">
                <a:solidFill>
                  <a:srgbClr val="0038B8"/>
                </a:solidFill>
                <a:latin typeface="Arial" panose="020B0604020202020204" pitchFamily="34" charset="0"/>
              </a:rPr>
              <a:t>Обязанности стропальщика</a:t>
            </a:r>
          </a:p>
          <a:p>
            <a:pPr>
              <a:spcAft>
                <a:spcPts val="800"/>
              </a:spcAft>
            </a:pPr>
            <a:r>
              <a:rPr lang="ru-RU" sz="1500" b="1">
                <a:solidFill>
                  <a:srgbClr val="0038B8"/>
                </a:solidFill>
                <a:latin typeface="Arial" panose="020B0604020202020204" pitchFamily="34" charset="0"/>
              </a:rPr>
              <a:t>Сигнализация</a:t>
            </a:r>
          </a:p>
          <a:p>
            <a:pPr>
              <a:spcAft>
                <a:spcPts val="800"/>
              </a:spcAft>
            </a:pPr>
            <a:r>
              <a:rPr lang="ru-RU" sz="1500" b="1">
                <a:solidFill>
                  <a:srgbClr val="0038B8"/>
                </a:solidFill>
                <a:latin typeface="Arial" panose="020B0604020202020204" pitchFamily="34" charset="0"/>
              </a:rPr>
              <a:t>Сопровождение груза</a:t>
            </a:r>
          </a:p>
          <a:p>
            <a:pPr>
              <a:spcAft>
                <a:spcPts val="800"/>
              </a:spcAft>
            </a:pPr>
            <a:r>
              <a:rPr lang="ru-RU" sz="1500" b="1">
                <a:solidFill>
                  <a:srgbClr val="0038B8"/>
                </a:solidFill>
                <a:latin typeface="Arial" panose="020B0604020202020204" pitchFamily="34" charset="0"/>
              </a:rPr>
              <a:t>Складирование и расстроповка</a:t>
            </a:r>
            <a:endParaRPr sz="1500" b="1" dirty="0">
              <a:solidFill>
                <a:srgbClr val="0038B8"/>
              </a:solidFill>
              <a:latin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170508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Подготовка к работе: слайды S031-S032</a:t>
            </a:r>
          </a:p>
          <a:p>
            <a:endParaRPr lang="ru-RU" sz="112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Обязанности стропальщика: слайды S033-S034</a:t>
            </a:r>
          </a:p>
          <a:p>
            <a:endParaRPr lang="ru-RU" sz="112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Сигнализация: слайды S035-S036</a:t>
            </a:r>
          </a:p>
          <a:p>
            <a:endParaRPr lang="ru-RU" sz="112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Сопровождение груза: слайды S037-S038</a:t>
            </a:r>
          </a:p>
          <a:p>
            <a:endParaRPr lang="ru-RU" sz="112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Складирование и расстроповка: слайды S039-S040</a:t>
            </a:r>
            <a:endParaRPr sz="1120" dirty="0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338554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Структура темы</a:t>
            </a:r>
            <a:endParaRPr sz="12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909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Подготовка к работе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01768" y="1865376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 err="1">
                <a:solidFill>
                  <a:srgbClr val="111111"/>
                </a:solidFill>
                <a:latin typeface="Arial"/>
              </a:rPr>
              <a:t>Памятка</a:t>
            </a:r>
            <a:r>
              <a:rPr sz="1300" b="1" dirty="0">
                <a:solidFill>
                  <a:srgbClr val="111111"/>
                </a:solidFill>
                <a:latin typeface="Arial"/>
              </a:rPr>
              <a:t> и </a:t>
            </a:r>
            <a:r>
              <a:rPr sz="1300" b="1" dirty="0" err="1">
                <a:solidFill>
                  <a:srgbClr val="111111"/>
                </a:solidFill>
                <a:latin typeface="Arial"/>
              </a:rPr>
              <a:t>схема</a:t>
            </a:r>
            <a:endParaRPr sz="1300" b="1" dirty="0">
              <a:solidFill>
                <a:srgbClr val="111111"/>
              </a:solidFill>
              <a:latin typeface="Arial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1A88E7-B59F-1E2B-3492-3A579B025CBC}"/>
              </a:ext>
            </a:extLst>
          </p:cNvPr>
          <p:cNvSpPr txBox="1"/>
          <p:nvPr/>
        </p:nvSpPr>
        <p:spPr>
          <a:xfrm>
            <a:off x="6095847" y="3314700"/>
            <a:ext cx="4069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Вставляем </a:t>
            </a:r>
            <a:r>
              <a:rPr lang="ru-RU" dirty="0" err="1"/>
              <a:t>слайдшоу</a:t>
            </a:r>
            <a:r>
              <a:rPr lang="ru-RU" dirty="0"/>
              <a:t> с озвучкой. Последовательность так как указано по пунктам в подвале </a:t>
            </a:r>
            <a:r>
              <a:rPr lang="en-US" dirty="0"/>
              <a:t>S031-P01</a:t>
            </a:r>
            <a:endParaRPr lang="ru-RU" dirty="0"/>
          </a:p>
        </p:txBody>
      </p:sp>
      <p:sp>
        <p:nvSpPr>
          <p:cNvPr id="6" name="Codex_S031_Card1_panel">
            <a:hlinkClick r:id="rId2" action="ppaction://hlinksldjump"/>
            <a:extLst>
              <a:ext uri="{FF2B5EF4-FFF2-40B4-BE49-F238E27FC236}">
                <a16:creationId xmlns:a16="http://schemas.microsoft.com/office/drawing/2014/main" id="{A9B54470-9D37-8AE9-6E80-7A7498CA7E14}"/>
              </a:ext>
            </a:extLst>
          </p:cNvPr>
          <p:cNvSpPr/>
          <p:nvPr/>
        </p:nvSpPr>
        <p:spPr>
          <a:xfrm>
            <a:off x="676910" y="2006600"/>
            <a:ext cx="406908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Codex_S031_Card1_strip">
            <a:hlinkClick r:id="rId2" action="ppaction://hlinksldjump"/>
            <a:extLst>
              <a:ext uri="{FF2B5EF4-FFF2-40B4-BE49-F238E27FC236}">
                <a16:creationId xmlns:a16="http://schemas.microsoft.com/office/drawing/2014/main" id="{E55AF304-5033-4606-5D51-DEA87C2812C7}"/>
              </a:ext>
            </a:extLst>
          </p:cNvPr>
          <p:cNvSpPr/>
          <p:nvPr/>
        </p:nvSpPr>
        <p:spPr>
          <a:xfrm>
            <a:off x="676910" y="2006600"/>
            <a:ext cx="406908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Codex_S031_Card1_text">
            <a:hlinkClick r:id="rId2" action="ppaction://hlinksldjump"/>
            <a:extLst>
              <a:ext uri="{FF2B5EF4-FFF2-40B4-BE49-F238E27FC236}">
                <a16:creationId xmlns:a16="http://schemas.microsoft.com/office/drawing/2014/main" id="{8FD36858-3815-0B4F-42BB-B6A15B399D09}"/>
              </a:ext>
            </a:extLst>
          </p:cNvPr>
          <p:cNvSpPr txBox="1"/>
          <p:nvPr/>
        </p:nvSpPr>
        <p:spPr>
          <a:xfrm>
            <a:off x="803910" y="2133600"/>
            <a:ext cx="3815080" cy="344710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40" b="1">
                <a:solidFill>
                  <a:srgbClr val="111111"/>
                </a:solidFill>
                <a:latin typeface="Arial" panose="020B0604020202020204" pitchFamily="34" charset="0"/>
              </a:rPr>
              <a:t>Уточни задание</a:t>
            </a:r>
          </a:p>
        </p:txBody>
      </p:sp>
      <p:sp>
        <p:nvSpPr>
          <p:cNvPr id="14" name="Codex_S031_Card2_panel">
            <a:hlinkClick r:id="rId3" action="ppaction://hlinksldjump"/>
            <a:extLst>
              <a:ext uri="{FF2B5EF4-FFF2-40B4-BE49-F238E27FC236}">
                <a16:creationId xmlns:a16="http://schemas.microsoft.com/office/drawing/2014/main" id="{BCF33069-F06F-759B-BD72-87C359F773B5}"/>
              </a:ext>
            </a:extLst>
          </p:cNvPr>
          <p:cNvSpPr/>
          <p:nvPr/>
        </p:nvSpPr>
        <p:spPr>
          <a:xfrm>
            <a:off x="676910" y="2730500"/>
            <a:ext cx="406908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Codex_S031_Card2_strip">
            <a:hlinkClick r:id="rId3" action="ppaction://hlinksldjump"/>
            <a:extLst>
              <a:ext uri="{FF2B5EF4-FFF2-40B4-BE49-F238E27FC236}">
                <a16:creationId xmlns:a16="http://schemas.microsoft.com/office/drawing/2014/main" id="{27C9E82B-ADCD-F6D2-FB66-2FB00D0F5D12}"/>
              </a:ext>
            </a:extLst>
          </p:cNvPr>
          <p:cNvSpPr/>
          <p:nvPr/>
        </p:nvSpPr>
        <p:spPr>
          <a:xfrm>
            <a:off x="676910" y="2730500"/>
            <a:ext cx="406908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Codex_S031_Card2_text">
            <a:hlinkClick r:id="rId3" action="ppaction://hlinksldjump"/>
            <a:extLst>
              <a:ext uri="{FF2B5EF4-FFF2-40B4-BE49-F238E27FC236}">
                <a16:creationId xmlns:a16="http://schemas.microsoft.com/office/drawing/2014/main" id="{D3AE6861-1CAF-CAAC-906B-2E2D6C9D0A20}"/>
              </a:ext>
            </a:extLst>
          </p:cNvPr>
          <p:cNvSpPr txBox="1"/>
          <p:nvPr/>
        </p:nvSpPr>
        <p:spPr>
          <a:xfrm>
            <a:off x="803910" y="2857500"/>
            <a:ext cx="3815080" cy="344710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40" b="1">
                <a:solidFill>
                  <a:srgbClr val="111111"/>
                </a:solidFill>
                <a:latin typeface="Arial" panose="020B0604020202020204" pitchFamily="34" charset="0"/>
              </a:rPr>
              <a:t>Проверь массу и характер груза</a:t>
            </a:r>
          </a:p>
        </p:txBody>
      </p:sp>
      <p:sp>
        <p:nvSpPr>
          <p:cNvPr id="39" name="Codex_S031_Card3_panel">
            <a:hlinkClick r:id="rId4" action="ppaction://hlinksldjump"/>
            <a:extLst>
              <a:ext uri="{FF2B5EF4-FFF2-40B4-BE49-F238E27FC236}">
                <a16:creationId xmlns:a16="http://schemas.microsoft.com/office/drawing/2014/main" id="{B9030824-33D7-CAE1-FD94-A08095C48B7D}"/>
              </a:ext>
            </a:extLst>
          </p:cNvPr>
          <p:cNvSpPr/>
          <p:nvPr/>
        </p:nvSpPr>
        <p:spPr>
          <a:xfrm>
            <a:off x="676910" y="3454400"/>
            <a:ext cx="406908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Codex_S031_Card3_strip">
            <a:hlinkClick r:id="rId4" action="ppaction://hlinksldjump"/>
            <a:extLst>
              <a:ext uri="{FF2B5EF4-FFF2-40B4-BE49-F238E27FC236}">
                <a16:creationId xmlns:a16="http://schemas.microsoft.com/office/drawing/2014/main" id="{1B4996BA-D24A-AEA3-D4F7-FDE02E675A6C}"/>
              </a:ext>
            </a:extLst>
          </p:cNvPr>
          <p:cNvSpPr/>
          <p:nvPr/>
        </p:nvSpPr>
        <p:spPr>
          <a:xfrm>
            <a:off x="676910" y="3454400"/>
            <a:ext cx="406908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Codex_S031_Card3_text">
            <a:hlinkClick r:id="rId4" action="ppaction://hlinksldjump"/>
            <a:extLst>
              <a:ext uri="{FF2B5EF4-FFF2-40B4-BE49-F238E27FC236}">
                <a16:creationId xmlns:a16="http://schemas.microsoft.com/office/drawing/2014/main" id="{E1C62F3C-7C59-A98F-39BF-FA5EE72FB84D}"/>
              </a:ext>
            </a:extLst>
          </p:cNvPr>
          <p:cNvSpPr txBox="1"/>
          <p:nvPr/>
        </p:nvSpPr>
        <p:spPr>
          <a:xfrm>
            <a:off x="803910" y="3581400"/>
            <a:ext cx="3815080" cy="344710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40" b="1">
                <a:solidFill>
                  <a:srgbClr val="111111"/>
                </a:solidFill>
                <a:latin typeface="Arial" panose="020B0604020202020204" pitchFamily="34" charset="0"/>
              </a:rPr>
              <a:t>Проверь место работы</a:t>
            </a:r>
          </a:p>
        </p:txBody>
      </p:sp>
      <p:sp>
        <p:nvSpPr>
          <p:cNvPr id="42" name="Codex_S031_Card4_panel">
            <a:hlinkClick r:id="rId5" action="ppaction://hlinksldjump"/>
            <a:extLst>
              <a:ext uri="{FF2B5EF4-FFF2-40B4-BE49-F238E27FC236}">
                <a16:creationId xmlns:a16="http://schemas.microsoft.com/office/drawing/2014/main" id="{D5440AE4-8D36-B450-6D74-BD9EC89B2EBA}"/>
              </a:ext>
            </a:extLst>
          </p:cNvPr>
          <p:cNvSpPr/>
          <p:nvPr/>
        </p:nvSpPr>
        <p:spPr>
          <a:xfrm>
            <a:off x="676910" y="4178300"/>
            <a:ext cx="406908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Codex_S031_Card4_strip">
            <a:hlinkClick r:id="rId5" action="ppaction://hlinksldjump"/>
            <a:extLst>
              <a:ext uri="{FF2B5EF4-FFF2-40B4-BE49-F238E27FC236}">
                <a16:creationId xmlns:a16="http://schemas.microsoft.com/office/drawing/2014/main" id="{B22D7491-8FBD-8706-02BF-B40217849202}"/>
              </a:ext>
            </a:extLst>
          </p:cNvPr>
          <p:cNvSpPr/>
          <p:nvPr/>
        </p:nvSpPr>
        <p:spPr>
          <a:xfrm>
            <a:off x="676910" y="4178300"/>
            <a:ext cx="406908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Codex_S031_Card4_text">
            <a:hlinkClick r:id="rId5" action="ppaction://hlinksldjump"/>
            <a:extLst>
              <a:ext uri="{FF2B5EF4-FFF2-40B4-BE49-F238E27FC236}">
                <a16:creationId xmlns:a16="http://schemas.microsoft.com/office/drawing/2014/main" id="{3DE5C911-73DE-84DE-F36A-63FBF805E871}"/>
              </a:ext>
            </a:extLst>
          </p:cNvPr>
          <p:cNvSpPr txBox="1"/>
          <p:nvPr/>
        </p:nvSpPr>
        <p:spPr>
          <a:xfrm>
            <a:off x="803910" y="4305300"/>
            <a:ext cx="3815080" cy="344710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40" b="1">
                <a:solidFill>
                  <a:srgbClr val="111111"/>
                </a:solidFill>
                <a:latin typeface="Arial" panose="020B0604020202020204" pitchFamily="34" charset="0"/>
              </a:rPr>
              <a:t>Проверь схемы и таблицы</a:t>
            </a:r>
          </a:p>
        </p:txBody>
      </p:sp>
      <p:sp>
        <p:nvSpPr>
          <p:cNvPr id="45" name="Codex_S031_Card5_panel">
            <a:hlinkClick r:id="rId6" action="ppaction://hlinksldjump"/>
            <a:extLst>
              <a:ext uri="{FF2B5EF4-FFF2-40B4-BE49-F238E27FC236}">
                <a16:creationId xmlns:a16="http://schemas.microsoft.com/office/drawing/2014/main" id="{BD437962-3A7F-69CE-C2C7-31F4F3D0B333}"/>
              </a:ext>
            </a:extLst>
          </p:cNvPr>
          <p:cNvSpPr/>
          <p:nvPr/>
        </p:nvSpPr>
        <p:spPr>
          <a:xfrm>
            <a:off x="676910" y="4902200"/>
            <a:ext cx="406908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Codex_S031_Card5_strip">
            <a:hlinkClick r:id="rId6" action="ppaction://hlinksldjump"/>
            <a:extLst>
              <a:ext uri="{FF2B5EF4-FFF2-40B4-BE49-F238E27FC236}">
                <a16:creationId xmlns:a16="http://schemas.microsoft.com/office/drawing/2014/main" id="{13248927-AD0F-A44A-F67A-8BC27F941F1C}"/>
              </a:ext>
            </a:extLst>
          </p:cNvPr>
          <p:cNvSpPr/>
          <p:nvPr/>
        </p:nvSpPr>
        <p:spPr>
          <a:xfrm>
            <a:off x="676910" y="4902200"/>
            <a:ext cx="406908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Codex_S031_Card5_text">
            <a:hlinkClick r:id="rId6" action="ppaction://hlinksldjump"/>
            <a:extLst>
              <a:ext uri="{FF2B5EF4-FFF2-40B4-BE49-F238E27FC236}">
                <a16:creationId xmlns:a16="http://schemas.microsoft.com/office/drawing/2014/main" id="{324A1532-EC73-2F16-BD8A-C5B77E4E2143}"/>
              </a:ext>
            </a:extLst>
          </p:cNvPr>
          <p:cNvSpPr txBox="1"/>
          <p:nvPr/>
        </p:nvSpPr>
        <p:spPr>
          <a:xfrm>
            <a:off x="803910" y="5029200"/>
            <a:ext cx="3815080" cy="344710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40" b="1">
                <a:solidFill>
                  <a:srgbClr val="111111"/>
                </a:solidFill>
                <a:latin typeface="Arial" panose="020B0604020202020204" pitchFamily="34" charset="0"/>
              </a:rPr>
              <a:t>Осмотри приспособления и тару</a:t>
            </a:r>
          </a:p>
        </p:txBody>
      </p:sp>
    </p:spTree>
    <p:extLst>
      <p:ext uri="{BB962C8B-B14F-4D97-AF65-F5344CB8AC3E}">
        <p14:creationId xmlns:p14="http://schemas.microsoft.com/office/powerpoint/2010/main" val="711148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S031-P01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Что должно быть до начала работ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hlinkClick r:id="rId3" action="ppaction://hlinksldjump"/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S031-P01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6B51D7-9970-D187-0403-565B4CF7DF5F}"/>
              </a:ext>
            </a:extLst>
          </p:cNvPr>
          <p:cNvSpPr txBox="1"/>
          <p:nvPr/>
        </p:nvSpPr>
        <p:spPr>
          <a:xfrm>
            <a:off x="901700" y="2324100"/>
            <a:ext cx="10033000" cy="3764107"/>
          </a:xfrm>
          <a:prstGeom prst="rect">
            <a:avLst/>
          </a:prstGeom>
          <a:noFill/>
        </p:spPr>
        <p:txBody>
          <a:bodyPr vert="horz" wrap="square" lIns="101600" tIns="76200" rIns="101600" bIns="76200" numCol="2" spcCol="228600" rtlCol="0">
            <a:spAutoFit/>
          </a:bodyPr>
          <a:lstStyle/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Инструкция "Уточни задание перед началом работ"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Инструкция требует от работника получить четкие указания от лица, ответственного за безопасное производство работ (обычно это мастер или прораб).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Что входит в уточнение задания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Место проведения работ: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точная зона, где будут перемещать грузы.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Тип и масса груза: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стропальщик должен знать точный вес и характер груза.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Схема строповки: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способ обвязки или зацепки конкретного груза.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Выбор приспособлений: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типы и грузоподъемность необходимых строп, траверс или захватов.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Маршрут перемещения: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траектория движения груза и место его конечной укладки.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Опасные зоны: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наличие вблизи ЛЭП, котлованов, заборов или других препятствий.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Знаки сигнализации: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согласование порядка обмена сигналами с машинистом крана.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Порядок действий стропальщика перед стартом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1. Получить инструктаж: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выслушать задание от ответственного лица.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2. Проверить документацию: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ознакомиться с технологической картой или </a:t>
            </a:r>
            <a:b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</a:b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схемой строповки.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3. Подобрать СИЗ: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надеть каску, жилет, защитные перчатки и спецобувь.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4. Осмотреть инструмент: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проверить бирки и клейма на стропах, убедиться в отсутствии дефектов.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5. Оценить площадку: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проверить освещенность и отсутствие посторонних людей в зоне работы.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Если схема строповки неизвестна или масса груза превышает грузоподъемность крана, стропальщик обязан отказаться от выполнения работ до устранения этих проблем.</a:t>
            </a:r>
          </a:p>
        </p:txBody>
      </p:sp>
    </p:spTree>
    <p:extLst>
      <p:ext uri="{BB962C8B-B14F-4D97-AF65-F5344CB8AC3E}">
        <p14:creationId xmlns:p14="http://schemas.microsoft.com/office/powerpoint/2010/main" val="314488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100" b="1">
                <a:solidFill>
                  <a:srgbClr val="111111"/>
                </a:solidFill>
                <a:latin typeface="Arial" panose="020B0604020202020204" pitchFamily="34" charset="0"/>
              </a:rPr>
              <a:t>S031-P02</a:t>
            </a:r>
            <a:endParaRPr sz="11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830997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200" b="1">
                <a:solidFill>
                  <a:srgbClr val="111111"/>
                </a:solidFill>
                <a:latin typeface="Arial" panose="020B0604020202020204" pitchFamily="34" charset="0"/>
              </a:rPr>
              <a:t>Подвал. Проверь массу и характер груза</a:t>
            </a:r>
            <a:endParaRPr sz="22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hlinkClick r:id="rId3" action="ppaction://hlinksldjump"/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000" b="1">
                <a:solidFill>
                  <a:srgbClr val="111111"/>
                </a:solidFill>
                <a:latin typeface="Arial" panose="020B0604020202020204" pitchFamily="34" charset="0"/>
              </a:rPr>
              <a:t>S031-P02</a:t>
            </a:r>
            <a:endParaRPr sz="10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7" name="Codex_S031P_LeftPanel">
            <a:extLst>
              <a:ext uri="{FF2B5EF4-FFF2-40B4-BE49-F238E27FC236}">
                <a16:creationId xmlns:a16="http://schemas.microsoft.com/office/drawing/2014/main" id="{879EBF3B-5057-1BED-FBF4-4225AC0F32D7}"/>
              </a:ext>
            </a:extLst>
          </p:cNvPr>
          <p:cNvSpPr/>
          <p:nvPr/>
        </p:nvSpPr>
        <p:spPr>
          <a:xfrm>
            <a:off x="901700" y="2324100"/>
            <a:ext cx="4787900" cy="2997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Codex_S031P_LeftStrip">
            <a:extLst>
              <a:ext uri="{FF2B5EF4-FFF2-40B4-BE49-F238E27FC236}">
                <a16:creationId xmlns:a16="http://schemas.microsoft.com/office/drawing/2014/main" id="{22483FB4-6888-9510-66D0-07AC06D0CFE7}"/>
              </a:ext>
            </a:extLst>
          </p:cNvPr>
          <p:cNvSpPr/>
          <p:nvPr/>
        </p:nvSpPr>
        <p:spPr>
          <a:xfrm>
            <a:off x="9017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Codex_S031P_RightPanel">
            <a:extLst>
              <a:ext uri="{FF2B5EF4-FFF2-40B4-BE49-F238E27FC236}">
                <a16:creationId xmlns:a16="http://schemas.microsoft.com/office/drawing/2014/main" id="{54C53769-F28C-19A8-765E-B71802E7A5ED}"/>
              </a:ext>
            </a:extLst>
          </p:cNvPr>
          <p:cNvSpPr/>
          <p:nvPr/>
        </p:nvSpPr>
        <p:spPr>
          <a:xfrm>
            <a:off x="5918200" y="2324100"/>
            <a:ext cx="47879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Codex_S031P_RightStrip">
            <a:extLst>
              <a:ext uri="{FF2B5EF4-FFF2-40B4-BE49-F238E27FC236}">
                <a16:creationId xmlns:a16="http://schemas.microsoft.com/office/drawing/2014/main" id="{A62307C1-B14B-CFCA-61FB-1F34324FDC93}"/>
              </a:ext>
            </a:extLst>
          </p:cNvPr>
          <p:cNvSpPr/>
          <p:nvPr/>
        </p:nvSpPr>
        <p:spPr>
          <a:xfrm>
            <a:off x="59182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Codex_S031P_LeftTitle">
            <a:extLst>
              <a:ext uri="{FF2B5EF4-FFF2-40B4-BE49-F238E27FC236}">
                <a16:creationId xmlns:a16="http://schemas.microsoft.com/office/drawing/2014/main" id="{1F2B533A-EA05-DF98-9EB7-3657571CD28B}"/>
              </a:ext>
            </a:extLst>
          </p:cNvPr>
          <p:cNvSpPr txBox="1"/>
          <p:nvPr/>
        </p:nvSpPr>
        <p:spPr>
          <a:xfrm>
            <a:off x="10541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Что проверить</a:t>
            </a:r>
          </a:p>
        </p:txBody>
      </p:sp>
      <p:sp>
        <p:nvSpPr>
          <p:cNvPr id="22" name="Codex_S031P_LeftBody">
            <a:extLst>
              <a:ext uri="{FF2B5EF4-FFF2-40B4-BE49-F238E27FC236}">
                <a16:creationId xmlns:a16="http://schemas.microsoft.com/office/drawing/2014/main" id="{EA320B51-721A-E4E0-E492-701AF7FFF863}"/>
              </a:ext>
            </a:extLst>
          </p:cNvPr>
          <p:cNvSpPr txBox="1"/>
          <p:nvPr/>
        </p:nvSpPr>
        <p:spPr>
          <a:xfrm>
            <a:off x="1054100" y="2806700"/>
            <a:ext cx="4483100" cy="64325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Масса груза по документам, маркировке или паспорту.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Фактический вес не должен быть предположением.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Если масса не подтверждена, работу начинать нельзя.</a:t>
            </a:r>
          </a:p>
        </p:txBody>
      </p:sp>
      <p:sp>
        <p:nvSpPr>
          <p:cNvPr id="23" name="Codex_S031P_RightTitle">
            <a:extLst>
              <a:ext uri="{FF2B5EF4-FFF2-40B4-BE49-F238E27FC236}">
                <a16:creationId xmlns:a16="http://schemas.microsoft.com/office/drawing/2014/main" id="{476C04BB-DC01-B041-F837-1EFE0AEDE744}"/>
              </a:ext>
            </a:extLst>
          </p:cNvPr>
          <p:cNvSpPr txBox="1"/>
          <p:nvPr/>
        </p:nvSpPr>
        <p:spPr>
          <a:xfrm>
            <a:off x="60706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Характер груза</a:t>
            </a:r>
          </a:p>
        </p:txBody>
      </p:sp>
      <p:sp>
        <p:nvSpPr>
          <p:cNvPr id="24" name="Codex_S031P_RightBody">
            <a:extLst>
              <a:ext uri="{FF2B5EF4-FFF2-40B4-BE49-F238E27FC236}">
                <a16:creationId xmlns:a16="http://schemas.microsoft.com/office/drawing/2014/main" id="{15946100-124A-6E4C-C59F-18558C7CFC58}"/>
              </a:ext>
            </a:extLst>
          </p:cNvPr>
          <p:cNvSpPr txBox="1"/>
          <p:nvPr/>
        </p:nvSpPr>
        <p:spPr>
          <a:xfrm>
            <a:off x="6070600" y="2806700"/>
            <a:ext cx="4483100" cy="806375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Габариты и форма груза.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Центр тяжести и устойчивость.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Выступающие части, тара, маркировка, особые условия перемещения.</a:t>
            </a:r>
          </a:p>
        </p:txBody>
      </p:sp>
    </p:spTree>
    <p:extLst>
      <p:ext uri="{BB962C8B-B14F-4D97-AF65-F5344CB8AC3E}">
        <p14:creationId xmlns:p14="http://schemas.microsoft.com/office/powerpoint/2010/main" val="3577529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100" b="1">
                <a:solidFill>
                  <a:srgbClr val="111111"/>
                </a:solidFill>
                <a:latin typeface="Arial" panose="020B0604020202020204" pitchFamily="34" charset="0"/>
              </a:rPr>
              <a:t>S031-P03</a:t>
            </a:r>
            <a:endParaRPr sz="11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492443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200" b="1">
                <a:solidFill>
                  <a:srgbClr val="111111"/>
                </a:solidFill>
                <a:latin typeface="Arial" panose="020B0604020202020204" pitchFamily="34" charset="0"/>
              </a:rPr>
              <a:t>Подвал. Проверь место работы</a:t>
            </a:r>
            <a:endParaRPr sz="22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hlinkClick r:id="rId3" action="ppaction://hlinksldjump"/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000" b="1">
                <a:solidFill>
                  <a:srgbClr val="111111"/>
                </a:solidFill>
                <a:latin typeface="Arial" panose="020B0604020202020204" pitchFamily="34" charset="0"/>
              </a:rPr>
              <a:t>S031-P03</a:t>
            </a:r>
            <a:endParaRPr sz="10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10" name="Codex_S031P_LeftPanel">
            <a:extLst>
              <a:ext uri="{FF2B5EF4-FFF2-40B4-BE49-F238E27FC236}">
                <a16:creationId xmlns:a16="http://schemas.microsoft.com/office/drawing/2014/main" id="{B38C0F5A-5765-8420-28CB-75D358518B45}"/>
              </a:ext>
            </a:extLst>
          </p:cNvPr>
          <p:cNvSpPr/>
          <p:nvPr/>
        </p:nvSpPr>
        <p:spPr>
          <a:xfrm>
            <a:off x="901700" y="2324100"/>
            <a:ext cx="4787900" cy="2997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Codex_S031P_LeftStrip">
            <a:extLst>
              <a:ext uri="{FF2B5EF4-FFF2-40B4-BE49-F238E27FC236}">
                <a16:creationId xmlns:a16="http://schemas.microsoft.com/office/drawing/2014/main" id="{4791007A-4957-B480-BF9B-2D061B6712CD}"/>
              </a:ext>
            </a:extLst>
          </p:cNvPr>
          <p:cNvSpPr/>
          <p:nvPr/>
        </p:nvSpPr>
        <p:spPr>
          <a:xfrm>
            <a:off x="9017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Codex_S031P_RightPanel">
            <a:extLst>
              <a:ext uri="{FF2B5EF4-FFF2-40B4-BE49-F238E27FC236}">
                <a16:creationId xmlns:a16="http://schemas.microsoft.com/office/drawing/2014/main" id="{18445301-0AB2-E22E-FB47-80A65E539A0D}"/>
              </a:ext>
            </a:extLst>
          </p:cNvPr>
          <p:cNvSpPr/>
          <p:nvPr/>
        </p:nvSpPr>
        <p:spPr>
          <a:xfrm>
            <a:off x="5918200" y="2324100"/>
            <a:ext cx="47879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Codex_S031P_RightStrip">
            <a:extLst>
              <a:ext uri="{FF2B5EF4-FFF2-40B4-BE49-F238E27FC236}">
                <a16:creationId xmlns:a16="http://schemas.microsoft.com/office/drawing/2014/main" id="{E556E3D7-1333-CF06-2876-F0E80282C6D9}"/>
              </a:ext>
            </a:extLst>
          </p:cNvPr>
          <p:cNvSpPr/>
          <p:nvPr/>
        </p:nvSpPr>
        <p:spPr>
          <a:xfrm>
            <a:off x="59182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Codex_S031P_LeftTitle">
            <a:extLst>
              <a:ext uri="{FF2B5EF4-FFF2-40B4-BE49-F238E27FC236}">
                <a16:creationId xmlns:a16="http://schemas.microsoft.com/office/drawing/2014/main" id="{E303B95A-2F4A-024B-69B8-1BABD88EAF10}"/>
              </a:ext>
            </a:extLst>
          </p:cNvPr>
          <p:cNvSpPr txBox="1"/>
          <p:nvPr/>
        </p:nvSpPr>
        <p:spPr>
          <a:xfrm>
            <a:off x="10541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Рабочая площадка</a:t>
            </a:r>
          </a:p>
        </p:txBody>
      </p:sp>
      <p:sp>
        <p:nvSpPr>
          <p:cNvPr id="29" name="Codex_S031P_LeftBody">
            <a:extLst>
              <a:ext uri="{FF2B5EF4-FFF2-40B4-BE49-F238E27FC236}">
                <a16:creationId xmlns:a16="http://schemas.microsoft.com/office/drawing/2014/main" id="{1FBD1623-35DC-5A22-0DE3-2FFFA816E8A5}"/>
              </a:ext>
            </a:extLst>
          </p:cNvPr>
          <p:cNvSpPr txBox="1"/>
          <p:nvPr/>
        </p:nvSpPr>
        <p:spPr>
          <a:xfrm>
            <a:off x="1054100" y="2806700"/>
            <a:ext cx="4483100" cy="64325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Освещенность и видимость.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Опасная зона и сигнальное ограждение.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Отсутствие посторонних людей в зоне работ.</a:t>
            </a:r>
          </a:p>
        </p:txBody>
      </p:sp>
      <p:sp>
        <p:nvSpPr>
          <p:cNvPr id="30" name="Codex_S031P_RightTitle">
            <a:extLst>
              <a:ext uri="{FF2B5EF4-FFF2-40B4-BE49-F238E27FC236}">
                <a16:creationId xmlns:a16="http://schemas.microsoft.com/office/drawing/2014/main" id="{152A1A24-BAE3-8B80-8BE8-84BC0D46EC18}"/>
              </a:ext>
            </a:extLst>
          </p:cNvPr>
          <p:cNvSpPr txBox="1"/>
          <p:nvPr/>
        </p:nvSpPr>
        <p:spPr>
          <a:xfrm>
            <a:off x="60706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Маршрут и укладка</a:t>
            </a:r>
          </a:p>
        </p:txBody>
      </p:sp>
      <p:sp>
        <p:nvSpPr>
          <p:cNvPr id="31" name="Codex_S031P_RightBody">
            <a:extLst>
              <a:ext uri="{FF2B5EF4-FFF2-40B4-BE49-F238E27FC236}">
                <a16:creationId xmlns:a16="http://schemas.microsoft.com/office/drawing/2014/main" id="{2830BC80-6758-4CF6-0052-B1CBC9B4F4F4}"/>
              </a:ext>
            </a:extLst>
          </p:cNvPr>
          <p:cNvSpPr txBox="1"/>
          <p:nvPr/>
        </p:nvSpPr>
        <p:spPr>
          <a:xfrm>
            <a:off x="6070600" y="2806700"/>
            <a:ext cx="4483100" cy="64325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Откуда и куда перемещают груз.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Свободный путь перемещения.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Подготовленное место укладки, подкладки и опоры.</a:t>
            </a:r>
          </a:p>
        </p:txBody>
      </p:sp>
    </p:spTree>
    <p:extLst>
      <p:ext uri="{BB962C8B-B14F-4D97-AF65-F5344CB8AC3E}">
        <p14:creationId xmlns:p14="http://schemas.microsoft.com/office/powerpoint/2010/main" val="2760270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100" b="1">
                <a:solidFill>
                  <a:srgbClr val="111111"/>
                </a:solidFill>
                <a:latin typeface="Arial" panose="020B0604020202020204" pitchFamily="34" charset="0"/>
              </a:rPr>
              <a:t>S031-P04</a:t>
            </a:r>
            <a:endParaRPr sz="11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492443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200" b="1">
                <a:solidFill>
                  <a:srgbClr val="111111"/>
                </a:solidFill>
                <a:latin typeface="Arial" panose="020B0604020202020204" pitchFamily="34" charset="0"/>
              </a:rPr>
              <a:t>Подвал. Проверь схемы и таблицы</a:t>
            </a:r>
            <a:endParaRPr sz="22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hlinkClick r:id="rId3" action="ppaction://hlinksldjump"/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000" b="1">
                <a:solidFill>
                  <a:srgbClr val="111111"/>
                </a:solidFill>
                <a:latin typeface="Arial" panose="020B0604020202020204" pitchFamily="34" charset="0"/>
              </a:rPr>
              <a:t>S031-P04</a:t>
            </a:r>
            <a:endParaRPr sz="10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7" name="Codex_S031P_LeftPanel">
            <a:extLst>
              <a:ext uri="{FF2B5EF4-FFF2-40B4-BE49-F238E27FC236}">
                <a16:creationId xmlns:a16="http://schemas.microsoft.com/office/drawing/2014/main" id="{D94C7B8A-AD08-4712-FC2A-C9ADCF60421C}"/>
              </a:ext>
            </a:extLst>
          </p:cNvPr>
          <p:cNvSpPr/>
          <p:nvPr/>
        </p:nvSpPr>
        <p:spPr>
          <a:xfrm>
            <a:off x="901700" y="2324100"/>
            <a:ext cx="4787900" cy="2997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Codex_S031P_LeftStrip">
            <a:extLst>
              <a:ext uri="{FF2B5EF4-FFF2-40B4-BE49-F238E27FC236}">
                <a16:creationId xmlns:a16="http://schemas.microsoft.com/office/drawing/2014/main" id="{1A18EBCC-BC35-70DE-69AD-8E206D3F0708}"/>
              </a:ext>
            </a:extLst>
          </p:cNvPr>
          <p:cNvSpPr/>
          <p:nvPr/>
        </p:nvSpPr>
        <p:spPr>
          <a:xfrm>
            <a:off x="9017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Codex_S031P_RightPanel">
            <a:extLst>
              <a:ext uri="{FF2B5EF4-FFF2-40B4-BE49-F238E27FC236}">
                <a16:creationId xmlns:a16="http://schemas.microsoft.com/office/drawing/2014/main" id="{0146E8B0-726C-88BA-E4DC-1DFD8CF0277C}"/>
              </a:ext>
            </a:extLst>
          </p:cNvPr>
          <p:cNvSpPr/>
          <p:nvPr/>
        </p:nvSpPr>
        <p:spPr>
          <a:xfrm>
            <a:off x="5918200" y="2324100"/>
            <a:ext cx="47879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Codex_S031P_RightStrip">
            <a:extLst>
              <a:ext uri="{FF2B5EF4-FFF2-40B4-BE49-F238E27FC236}">
                <a16:creationId xmlns:a16="http://schemas.microsoft.com/office/drawing/2014/main" id="{52064771-E89F-63DD-B7D2-17A00AAE8EA4}"/>
              </a:ext>
            </a:extLst>
          </p:cNvPr>
          <p:cNvSpPr/>
          <p:nvPr/>
        </p:nvSpPr>
        <p:spPr>
          <a:xfrm>
            <a:off x="59182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Codex_S031P_LeftTitle">
            <a:extLst>
              <a:ext uri="{FF2B5EF4-FFF2-40B4-BE49-F238E27FC236}">
                <a16:creationId xmlns:a16="http://schemas.microsoft.com/office/drawing/2014/main" id="{02C739FD-206D-F09D-F39E-4AD29C85E174}"/>
              </a:ext>
            </a:extLst>
          </p:cNvPr>
          <p:cNvSpPr txBox="1"/>
          <p:nvPr/>
        </p:nvSpPr>
        <p:spPr>
          <a:xfrm>
            <a:off x="10541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Схемы строповки</a:t>
            </a:r>
          </a:p>
        </p:txBody>
      </p:sp>
      <p:sp>
        <p:nvSpPr>
          <p:cNvPr id="22" name="Codex_S031P_LeftBody">
            <a:extLst>
              <a:ext uri="{FF2B5EF4-FFF2-40B4-BE49-F238E27FC236}">
                <a16:creationId xmlns:a16="http://schemas.microsoft.com/office/drawing/2014/main" id="{EBCC61BF-E556-F781-83B9-A449483B525A}"/>
              </a:ext>
            </a:extLst>
          </p:cNvPr>
          <p:cNvSpPr txBox="1"/>
          <p:nvPr/>
        </p:nvSpPr>
        <p:spPr>
          <a:xfrm>
            <a:off x="1054100" y="2806700"/>
            <a:ext cx="4483100" cy="64325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Используем схему под конкретный груз.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Проверяем точки зацепки и способ обвязки.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Самовольную замену схемы не допускаем.</a:t>
            </a:r>
          </a:p>
        </p:txBody>
      </p:sp>
      <p:sp>
        <p:nvSpPr>
          <p:cNvPr id="23" name="Codex_S031P_RightTitle">
            <a:extLst>
              <a:ext uri="{FF2B5EF4-FFF2-40B4-BE49-F238E27FC236}">
                <a16:creationId xmlns:a16="http://schemas.microsoft.com/office/drawing/2014/main" id="{DC49DCEB-F28E-E2B8-FBBA-2C1BAE1C7AB6}"/>
              </a:ext>
            </a:extLst>
          </p:cNvPr>
          <p:cNvSpPr txBox="1"/>
          <p:nvPr/>
        </p:nvSpPr>
        <p:spPr>
          <a:xfrm>
            <a:off x="60706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Таблицы и документы</a:t>
            </a:r>
          </a:p>
        </p:txBody>
      </p:sp>
      <p:sp>
        <p:nvSpPr>
          <p:cNvPr id="24" name="Codex_S031P_RightBody">
            <a:extLst>
              <a:ext uri="{FF2B5EF4-FFF2-40B4-BE49-F238E27FC236}">
                <a16:creationId xmlns:a16="http://schemas.microsoft.com/office/drawing/2014/main" id="{02276E98-8EE5-2DE2-55B3-B687C05AB834}"/>
              </a:ext>
            </a:extLst>
          </p:cNvPr>
          <p:cNvSpPr txBox="1"/>
          <p:nvPr/>
        </p:nvSpPr>
        <p:spPr>
          <a:xfrm>
            <a:off x="6070600" y="2806700"/>
            <a:ext cx="4483100" cy="64325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Грузоподъемность крана и стропов.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Технологическая карта или ППР.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Ограничения по условиям работ и расстояниям.</a:t>
            </a:r>
          </a:p>
        </p:txBody>
      </p:sp>
    </p:spTree>
    <p:extLst>
      <p:ext uri="{BB962C8B-B14F-4D97-AF65-F5344CB8AC3E}">
        <p14:creationId xmlns:p14="http://schemas.microsoft.com/office/powerpoint/2010/main" val="1701075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100" b="1">
                <a:solidFill>
                  <a:srgbClr val="111111"/>
                </a:solidFill>
                <a:latin typeface="Arial" panose="020B0604020202020204" pitchFamily="34" charset="0"/>
              </a:rPr>
              <a:t>S031-P05</a:t>
            </a:r>
            <a:endParaRPr sz="11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830997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200" b="1">
                <a:solidFill>
                  <a:srgbClr val="111111"/>
                </a:solidFill>
                <a:latin typeface="Arial" panose="020B0604020202020204" pitchFamily="34" charset="0"/>
              </a:rPr>
              <a:t>Подвал. Осмотри приспособления и тару</a:t>
            </a:r>
            <a:endParaRPr sz="22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hlinkClick r:id="rId3" action="ppaction://hlinksldjump"/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en-US" sz="1000" b="1">
                <a:solidFill>
                  <a:srgbClr val="111111"/>
                </a:solidFill>
                <a:latin typeface="Arial" panose="020B0604020202020204" pitchFamily="34" charset="0"/>
              </a:rPr>
              <a:t>S031-P05</a:t>
            </a:r>
            <a:endParaRPr sz="10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10" name="Codex_S031P_LeftPanel">
            <a:extLst>
              <a:ext uri="{FF2B5EF4-FFF2-40B4-BE49-F238E27FC236}">
                <a16:creationId xmlns:a16="http://schemas.microsoft.com/office/drawing/2014/main" id="{4950D37A-7AB2-B16B-1318-8EE6593ED053}"/>
              </a:ext>
            </a:extLst>
          </p:cNvPr>
          <p:cNvSpPr/>
          <p:nvPr/>
        </p:nvSpPr>
        <p:spPr>
          <a:xfrm>
            <a:off x="901700" y="2324100"/>
            <a:ext cx="4787900" cy="2997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Codex_S031P_LeftStrip">
            <a:extLst>
              <a:ext uri="{FF2B5EF4-FFF2-40B4-BE49-F238E27FC236}">
                <a16:creationId xmlns:a16="http://schemas.microsoft.com/office/drawing/2014/main" id="{1D5C6D82-16AA-DD01-EE7C-BA4C774E3556}"/>
              </a:ext>
            </a:extLst>
          </p:cNvPr>
          <p:cNvSpPr/>
          <p:nvPr/>
        </p:nvSpPr>
        <p:spPr>
          <a:xfrm>
            <a:off x="9017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Codex_S031P_RightPanel">
            <a:extLst>
              <a:ext uri="{FF2B5EF4-FFF2-40B4-BE49-F238E27FC236}">
                <a16:creationId xmlns:a16="http://schemas.microsoft.com/office/drawing/2014/main" id="{EE1539A7-9E38-0F13-5D27-61B323B91C47}"/>
              </a:ext>
            </a:extLst>
          </p:cNvPr>
          <p:cNvSpPr/>
          <p:nvPr/>
        </p:nvSpPr>
        <p:spPr>
          <a:xfrm>
            <a:off x="5918200" y="2324100"/>
            <a:ext cx="47879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Codex_S031P_RightStrip">
            <a:extLst>
              <a:ext uri="{FF2B5EF4-FFF2-40B4-BE49-F238E27FC236}">
                <a16:creationId xmlns:a16="http://schemas.microsoft.com/office/drawing/2014/main" id="{EABDD875-41B3-BD0D-5C58-0FDC69F2A4B7}"/>
              </a:ext>
            </a:extLst>
          </p:cNvPr>
          <p:cNvSpPr/>
          <p:nvPr/>
        </p:nvSpPr>
        <p:spPr>
          <a:xfrm>
            <a:off x="5918200" y="2324100"/>
            <a:ext cx="47879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Codex_S031P_LeftTitle">
            <a:extLst>
              <a:ext uri="{FF2B5EF4-FFF2-40B4-BE49-F238E27FC236}">
                <a16:creationId xmlns:a16="http://schemas.microsoft.com/office/drawing/2014/main" id="{58F52E62-4152-3C1E-3E14-D0A33DCBEE06}"/>
              </a:ext>
            </a:extLst>
          </p:cNvPr>
          <p:cNvSpPr txBox="1"/>
          <p:nvPr/>
        </p:nvSpPr>
        <p:spPr>
          <a:xfrm>
            <a:off x="10541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Что готовим</a:t>
            </a:r>
          </a:p>
        </p:txBody>
      </p:sp>
      <p:sp>
        <p:nvSpPr>
          <p:cNvPr id="29" name="Codex_S031P_LeftBody">
            <a:extLst>
              <a:ext uri="{FF2B5EF4-FFF2-40B4-BE49-F238E27FC236}">
                <a16:creationId xmlns:a16="http://schemas.microsoft.com/office/drawing/2014/main" id="{3D4A604C-6281-9015-379D-080FFEF2C9BF}"/>
              </a:ext>
            </a:extLst>
          </p:cNvPr>
          <p:cNvSpPr txBox="1"/>
          <p:nvPr/>
        </p:nvSpPr>
        <p:spPr>
          <a:xfrm>
            <a:off x="1054100" y="2806700"/>
            <a:ext cx="4483100" cy="4801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Стропы, траверсы, захваты, тару и вспомогательную оснастку.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СИЗ и инструмент, необходимые до начала работ.</a:t>
            </a:r>
          </a:p>
        </p:txBody>
      </p:sp>
      <p:sp>
        <p:nvSpPr>
          <p:cNvPr id="30" name="Codex_S031P_RightTitle">
            <a:extLst>
              <a:ext uri="{FF2B5EF4-FFF2-40B4-BE49-F238E27FC236}">
                <a16:creationId xmlns:a16="http://schemas.microsoft.com/office/drawing/2014/main" id="{5663AC16-30A5-DA12-E667-724997377842}"/>
              </a:ext>
            </a:extLst>
          </p:cNvPr>
          <p:cNvSpPr txBox="1"/>
          <p:nvPr/>
        </p:nvSpPr>
        <p:spPr>
          <a:xfrm>
            <a:off x="6070600" y="2476500"/>
            <a:ext cx="4483100" cy="3385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200" b="1">
                <a:solidFill>
                  <a:srgbClr val="111111"/>
                </a:solidFill>
                <a:latin typeface="Arial" panose="020B0604020202020204" pitchFamily="34" charset="0"/>
              </a:rPr>
              <a:t>Что проверяем</a:t>
            </a:r>
          </a:p>
        </p:txBody>
      </p:sp>
      <p:sp>
        <p:nvSpPr>
          <p:cNvPr id="31" name="Codex_S031P_RightBody">
            <a:extLst>
              <a:ext uri="{FF2B5EF4-FFF2-40B4-BE49-F238E27FC236}">
                <a16:creationId xmlns:a16="http://schemas.microsoft.com/office/drawing/2014/main" id="{ED008C89-D641-BD1E-1FC5-4BF41FBBBC98}"/>
              </a:ext>
            </a:extLst>
          </p:cNvPr>
          <p:cNvSpPr txBox="1"/>
          <p:nvPr/>
        </p:nvSpPr>
        <p:spPr>
          <a:xfrm>
            <a:off x="6070600" y="2806700"/>
            <a:ext cx="4483100" cy="64325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Бирки, клейма и грузоподъемность.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Износ, надрывы, деформации и трещины.</a:t>
            </a:r>
          </a:p>
          <a:p>
            <a:r>
              <a:rPr lang="ru-RU" sz="1060">
                <a:solidFill>
                  <a:srgbClr val="111111"/>
                </a:solidFill>
                <a:latin typeface="Arial" panose="020B0604020202020204" pitchFamily="34" charset="0"/>
              </a:rPr>
              <a:t>• Все дефектные приспособления сразу выводим из работы.</a:t>
            </a:r>
          </a:p>
        </p:txBody>
      </p:sp>
    </p:spTree>
    <p:extLst>
      <p:ext uri="{BB962C8B-B14F-4D97-AF65-F5344CB8AC3E}">
        <p14:creationId xmlns:p14="http://schemas.microsoft.com/office/powerpoint/2010/main" val="3646142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Когда работу нельзя начинать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Можно / нельзя начинать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Плохая видимость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Нет схемы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Неисправная оснастка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Небезопасное рабочее место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Неясны условия работы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Пример условия, при котором работу начинать нельзя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Разбор опасного условия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4928A-5EE9-AE6C-2562-116EFA4EAA46}"/>
              </a:ext>
            </a:extLst>
          </p:cNvPr>
          <p:cNvSpPr txBox="1"/>
          <p:nvPr/>
        </p:nvSpPr>
        <p:spPr>
          <a:xfrm>
            <a:off x="5629275" y="2952750"/>
            <a:ext cx="415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Вставляем слайд шоу или видео. Сценарий в подвалах.</a:t>
            </a:r>
          </a:p>
        </p:txBody>
      </p:sp>
    </p:spTree>
    <p:extLst>
      <p:ext uri="{BB962C8B-B14F-4D97-AF65-F5344CB8AC3E}">
        <p14:creationId xmlns:p14="http://schemas.microsoft.com/office/powerpoint/2010/main" val="3263508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Обязанности стропальщика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входит в роль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начала работ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При обвязке и зацепке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Перед подачей сигнала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После установки груза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Таблица обязанностей: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до начала работ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во время операции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после установки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2462491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Технологический цикл работы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Укрупненный цикл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Ограждение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Подготовка груза и схемы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Строповка и сигнал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Контроль на 20-30 см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Перемещение и складирование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Снятие и хранение оснастки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Схема процесса: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от установки ограждения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до уборки стропов и оснастки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Маршрут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Маршрут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1346259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S034-P01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Полный цикл работ стропальщика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Полный маршрут операции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1. Установить ограждение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2. Определить массу груза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3. Определить схему строповки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4. Проверить и выбрать стропы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5. Оговорить сигналы с машинистом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6. Проверить маршрут перемещения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7. Проверить место складирования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8. Выполнить строповку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Раскрытие маршрута операции по этапам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S034-P01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визуал</a:t>
            </a:r>
          </a:p>
        </p:txBody>
      </p:sp>
      <p:pic>
        <p:nvPicPr>
          <p:cNvPr id="22" name="Picture 21" descr="S031-P03_obviazka-pered-podem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953282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Сигнализация и взаимодействие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r>
              <a:rPr lang="ru-RU" sz="1520" b="1">
                <a:solidFill>
                  <a:srgbClr val="111111"/>
                </a:solidFill>
                <a:latin typeface="Arial" panose="020B0604020202020204" pitchFamily="34" charset="0"/>
              </a:rPr>
              <a:t>До начала работ оговорите сигналы</a:t>
            </a:r>
            <a:endParaRPr sz="152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159838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spcAft>
                <a:spcPts val="800"/>
              </a:spcAft>
            </a:pPr>
            <a:r>
              <a:rPr lang="ru-RU" sz="1120" b="1">
                <a:solidFill>
                  <a:srgbClr val="0038B8"/>
                </a:solidFill>
                <a:latin typeface="Arial" panose="020B0604020202020204" pitchFamily="34" charset="0"/>
              </a:rPr>
              <a:t>Общение между стропальщиком и машинистом крана:</a:t>
            </a:r>
          </a:p>
          <a:p>
            <a:pPr>
              <a:spcAft>
                <a:spcPts val="800"/>
              </a:spcAft>
            </a:pPr>
            <a:endParaRPr lang="ru-RU" sz="112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• до 10 метров — голосом</a:t>
            </a:r>
          </a:p>
          <a:p>
            <a:pPr>
              <a:spcAft>
                <a:spcPts val="800"/>
              </a:spcAft>
            </a:pPr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• до 22 метров — знаками</a:t>
            </a:r>
          </a:p>
          <a:p>
            <a:pPr>
              <a:spcAft>
                <a:spcPts val="800"/>
              </a:spcAft>
            </a:pPr>
            <a:r>
              <a:rPr lang="ru-RU" sz="1120">
                <a:solidFill>
                  <a:srgbClr val="111111"/>
                </a:solidFill>
                <a:latin typeface="Arial" panose="020B0604020202020204" pitchFamily="34" charset="0"/>
              </a:rPr>
              <a:t>• свыше 22 метров — по рации</a:t>
            </a:r>
            <a:endParaRPr sz="1120" dirty="0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301621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960">
                <a:solidFill>
                  <a:srgbClr val="4B5563"/>
                </a:solidFill>
                <a:latin typeface="Arial" panose="020B0604020202020204" pitchFamily="34" charset="0"/>
              </a:rPr>
              <a:t>Видео: вступительная фраза и последовательная демонстрация 7 знаковых команд с озвучкой.</a:t>
            </a:r>
            <a:endParaRPr sz="960">
              <a:solidFill>
                <a:srgbClr val="4B5563"/>
              </a:solidFill>
              <a:latin typeface="Arial" panose="020B0604020202020204" pitchFamily="3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353943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1220" b="1">
                <a:solidFill>
                  <a:srgbClr val="111111"/>
                </a:solidFill>
                <a:latin typeface="Arial" panose="020B0604020202020204" pitchFamily="34" charset="0"/>
              </a:rPr>
              <a:t>Видеофрагмент</a:t>
            </a:r>
            <a:endParaRPr sz="122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Codex_S035_VideoFrame">
            <a:extLst>
              <a:ext uri="{FF2B5EF4-FFF2-40B4-BE49-F238E27FC236}">
                <a16:creationId xmlns:a16="http://schemas.microsoft.com/office/drawing/2014/main" id="{D4C9462A-B535-3B73-8A11-AADB88A728B9}"/>
              </a:ext>
            </a:extLst>
          </p:cNvPr>
          <p:cNvSpPr/>
          <p:nvPr/>
        </p:nvSpPr>
        <p:spPr>
          <a:xfrm>
            <a:off x="5016500" y="2590800"/>
            <a:ext cx="5740400" cy="2387600"/>
          </a:xfrm>
          <a:prstGeom prst="rect">
            <a:avLst/>
          </a:prstGeom>
          <a:solidFill>
            <a:srgbClr val="F4F5F7"/>
          </a:solidFill>
          <a:ln w="1524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Codex_S035_VideoFrameTop">
            <a:extLst>
              <a:ext uri="{FF2B5EF4-FFF2-40B4-BE49-F238E27FC236}">
                <a16:creationId xmlns:a16="http://schemas.microsoft.com/office/drawing/2014/main" id="{32174691-6C4A-A493-AF1E-D4350CAFC227}"/>
              </a:ext>
            </a:extLst>
          </p:cNvPr>
          <p:cNvSpPr/>
          <p:nvPr/>
        </p:nvSpPr>
        <p:spPr>
          <a:xfrm>
            <a:off x="5016500" y="2590800"/>
            <a:ext cx="57404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Codex_S035_VideoText">
            <a:extLst>
              <a:ext uri="{FF2B5EF4-FFF2-40B4-BE49-F238E27FC236}">
                <a16:creationId xmlns:a16="http://schemas.microsoft.com/office/drawing/2014/main" id="{952E4F76-3785-8C8F-2F1B-CB26B9EF9626}"/>
              </a:ext>
            </a:extLst>
          </p:cNvPr>
          <p:cNvSpPr txBox="1"/>
          <p:nvPr/>
        </p:nvSpPr>
        <p:spPr>
          <a:xfrm>
            <a:off x="5334000" y="3022600"/>
            <a:ext cx="5105400" cy="800219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400" b="1">
                <a:solidFill>
                  <a:srgbClr val="111111"/>
                </a:solidFill>
                <a:latin typeface="Arial" panose="020B0604020202020204" pitchFamily="34" charset="0"/>
              </a:rPr>
              <a:t>МЕСТО ПОД ВИДЕО  Последовательно показываются 7 команд. Голос дублирует название каждого жеста. Вступление проговаривается перед первым сигналом.</a:t>
            </a:r>
          </a:p>
        </p:txBody>
      </p:sp>
      <p:sp>
        <p:nvSpPr>
          <p:cNvPr id="29" name="Codex_S035_VideoNote">
            <a:extLst>
              <a:ext uri="{FF2B5EF4-FFF2-40B4-BE49-F238E27FC236}">
                <a16:creationId xmlns:a16="http://schemas.microsoft.com/office/drawing/2014/main" id="{FB595A7E-7799-80EE-D558-80B19035E39C}"/>
              </a:ext>
            </a:extLst>
          </p:cNvPr>
          <p:cNvSpPr txBox="1"/>
          <p:nvPr/>
        </p:nvSpPr>
        <p:spPr>
          <a:xfrm>
            <a:off x="5207000" y="4483100"/>
            <a:ext cx="5359400" cy="418576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60">
                <a:solidFill>
                  <a:srgbClr val="4B5563"/>
                </a:solidFill>
                <a:latin typeface="Arial" panose="020B0604020202020204" pitchFamily="34" charset="0"/>
              </a:rPr>
              <a:t>Стартовая фраза: «До начала работ стропальщик и машинист крана должны обязательно оговорить знаковую сигнализацию».</a:t>
            </a:r>
          </a:p>
        </p:txBody>
      </p:sp>
    </p:spTree>
    <p:extLst>
      <p:ext uri="{BB962C8B-B14F-4D97-AF65-F5344CB8AC3E}">
        <p14:creationId xmlns:p14="http://schemas.microsoft.com/office/powerpoint/2010/main" val="3712713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S035-P01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300" b="1">
                <a:solidFill>
                  <a:srgbClr val="111111"/>
                </a:solidFill>
                <a:latin typeface="Arial" panose="020B0604020202020204" pitchFamily="34" charset="0"/>
              </a:rPr>
              <a:t>Подвал. Знаковые команды</a:t>
            </a:r>
            <a:endParaRPr sz="23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26" name="Codex_S035P01_Header">
            <a:extLst>
              <a:ext uri="{FF2B5EF4-FFF2-40B4-BE49-F238E27FC236}">
                <a16:creationId xmlns:a16="http://schemas.microsoft.com/office/drawing/2014/main" id="{BCC1287F-CA30-280B-7E42-7C00FE592CD9}"/>
              </a:ext>
            </a:extLst>
          </p:cNvPr>
          <p:cNvSpPr txBox="1"/>
          <p:nvPr/>
        </p:nvSpPr>
        <p:spPr>
          <a:xfrm>
            <a:off x="889000" y="2108200"/>
            <a:ext cx="9906000" cy="387798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520" b="1">
                <a:solidFill>
                  <a:srgbClr val="111111"/>
                </a:solidFill>
                <a:latin typeface="Arial" panose="020B0604020202020204" pitchFamily="34" charset="0"/>
              </a:rPr>
              <a:t>Каркас под изображения знаковых команд</a:t>
            </a:r>
          </a:p>
        </p:txBody>
      </p:sp>
      <p:sp>
        <p:nvSpPr>
          <p:cNvPr id="27" name="Codex_S035P01_Subtitle">
            <a:extLst>
              <a:ext uri="{FF2B5EF4-FFF2-40B4-BE49-F238E27FC236}">
                <a16:creationId xmlns:a16="http://schemas.microsoft.com/office/drawing/2014/main" id="{59F970DA-56B7-02C8-FD25-2A782790F545}"/>
              </a:ext>
            </a:extLst>
          </p:cNvPr>
          <p:cNvSpPr txBox="1"/>
          <p:nvPr/>
        </p:nvSpPr>
        <p:spPr>
          <a:xfrm>
            <a:off x="889000" y="2400300"/>
            <a:ext cx="9906000" cy="310854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До старта стропальщик и машинист крана должны оговорить знаковую сигнализацию, чтобы разговаривать «на одном языке».</a:t>
            </a:r>
          </a:p>
        </p:txBody>
      </p:sp>
      <p:sp>
        <p:nvSpPr>
          <p:cNvPr id="28" name="Codex_S035P01_Card01_panel">
            <a:extLst>
              <a:ext uri="{FF2B5EF4-FFF2-40B4-BE49-F238E27FC236}">
                <a16:creationId xmlns:a16="http://schemas.microsoft.com/office/drawing/2014/main" id="{4059441C-E286-2765-00A8-4015ACD27E43}"/>
              </a:ext>
            </a:extLst>
          </p:cNvPr>
          <p:cNvSpPr/>
          <p:nvPr/>
        </p:nvSpPr>
        <p:spPr>
          <a:xfrm>
            <a:off x="889000" y="2844800"/>
            <a:ext cx="23368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Codex_S035P01_Card01_strip">
            <a:extLst>
              <a:ext uri="{FF2B5EF4-FFF2-40B4-BE49-F238E27FC236}">
                <a16:creationId xmlns:a16="http://schemas.microsoft.com/office/drawing/2014/main" id="{0DC8B27F-ADC0-8AB9-0053-A71B0C4E1483}"/>
              </a:ext>
            </a:extLst>
          </p:cNvPr>
          <p:cNvSpPr/>
          <p:nvPr/>
        </p:nvSpPr>
        <p:spPr>
          <a:xfrm>
            <a:off x="889000" y="2844800"/>
            <a:ext cx="23368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Codex_S035P01_Card01_title">
            <a:extLst>
              <a:ext uri="{FF2B5EF4-FFF2-40B4-BE49-F238E27FC236}">
                <a16:creationId xmlns:a16="http://schemas.microsoft.com/office/drawing/2014/main" id="{70E288CC-531A-7291-8DAD-5BEEBDA87D74}"/>
              </a:ext>
            </a:extLst>
          </p:cNvPr>
          <p:cNvSpPr txBox="1"/>
          <p:nvPr/>
        </p:nvSpPr>
        <p:spPr>
          <a:xfrm>
            <a:off x="990600" y="2971800"/>
            <a:ext cx="21336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Внимание</a:t>
            </a:r>
          </a:p>
        </p:txBody>
      </p:sp>
      <p:sp>
        <p:nvSpPr>
          <p:cNvPr id="31" name="Codex_S035P01_Card01_symbol">
            <a:extLst>
              <a:ext uri="{FF2B5EF4-FFF2-40B4-BE49-F238E27FC236}">
                <a16:creationId xmlns:a16="http://schemas.microsoft.com/office/drawing/2014/main" id="{8D6BD6F3-DAC1-2874-CB37-100368A45755}"/>
              </a:ext>
            </a:extLst>
          </p:cNvPr>
          <p:cNvSpPr txBox="1"/>
          <p:nvPr/>
        </p:nvSpPr>
        <p:spPr>
          <a:xfrm>
            <a:off x="1016000" y="3289300"/>
            <a:ext cx="20828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ЖЕСТ</a:t>
            </a:r>
          </a:p>
        </p:txBody>
      </p:sp>
      <p:sp>
        <p:nvSpPr>
          <p:cNvPr id="32" name="Codex_S035P01_Card01_note">
            <a:extLst>
              <a:ext uri="{FF2B5EF4-FFF2-40B4-BE49-F238E27FC236}">
                <a16:creationId xmlns:a16="http://schemas.microsoft.com/office/drawing/2014/main" id="{7C7F476B-49FE-9892-6C6E-D0D45742CFBA}"/>
              </a:ext>
            </a:extLst>
          </p:cNvPr>
          <p:cNvSpPr txBox="1"/>
          <p:nvPr/>
        </p:nvSpPr>
        <p:spPr>
          <a:xfrm>
            <a:off x="1016000" y="3581400"/>
            <a:ext cx="20828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изображение будет добавлено</a:t>
            </a:r>
          </a:p>
        </p:txBody>
      </p:sp>
      <p:sp>
        <p:nvSpPr>
          <p:cNvPr id="33" name="Codex_S035P01_Card02_panel">
            <a:extLst>
              <a:ext uri="{FF2B5EF4-FFF2-40B4-BE49-F238E27FC236}">
                <a16:creationId xmlns:a16="http://schemas.microsoft.com/office/drawing/2014/main" id="{B35B34FF-1621-3065-FEBF-F069F12FF620}"/>
              </a:ext>
            </a:extLst>
          </p:cNvPr>
          <p:cNvSpPr/>
          <p:nvPr/>
        </p:nvSpPr>
        <p:spPr>
          <a:xfrm>
            <a:off x="3352800" y="2844800"/>
            <a:ext cx="23368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Codex_S035P01_Card02_strip">
            <a:extLst>
              <a:ext uri="{FF2B5EF4-FFF2-40B4-BE49-F238E27FC236}">
                <a16:creationId xmlns:a16="http://schemas.microsoft.com/office/drawing/2014/main" id="{C1008E59-51A6-C44B-A666-0E35EBE5A4E5}"/>
              </a:ext>
            </a:extLst>
          </p:cNvPr>
          <p:cNvSpPr/>
          <p:nvPr/>
        </p:nvSpPr>
        <p:spPr>
          <a:xfrm>
            <a:off x="3352800" y="2844800"/>
            <a:ext cx="23368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Codex_S035P01_Card02_title">
            <a:extLst>
              <a:ext uri="{FF2B5EF4-FFF2-40B4-BE49-F238E27FC236}">
                <a16:creationId xmlns:a16="http://schemas.microsoft.com/office/drawing/2014/main" id="{74F430BF-8386-A682-DD26-95A9E4D27AB5}"/>
              </a:ext>
            </a:extLst>
          </p:cNvPr>
          <p:cNvSpPr txBox="1"/>
          <p:nvPr/>
        </p:nvSpPr>
        <p:spPr>
          <a:xfrm>
            <a:off x="3454400" y="2971800"/>
            <a:ext cx="21336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Осторожно</a:t>
            </a:r>
          </a:p>
        </p:txBody>
      </p:sp>
      <p:sp>
        <p:nvSpPr>
          <p:cNvPr id="36" name="Codex_S035P01_Card02_symbol">
            <a:extLst>
              <a:ext uri="{FF2B5EF4-FFF2-40B4-BE49-F238E27FC236}">
                <a16:creationId xmlns:a16="http://schemas.microsoft.com/office/drawing/2014/main" id="{425EEEDC-9D33-6DE7-2CD2-EC0C19E6E517}"/>
              </a:ext>
            </a:extLst>
          </p:cNvPr>
          <p:cNvSpPr txBox="1"/>
          <p:nvPr/>
        </p:nvSpPr>
        <p:spPr>
          <a:xfrm>
            <a:off x="3479800" y="3289300"/>
            <a:ext cx="20828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ЖЕСТ</a:t>
            </a:r>
          </a:p>
        </p:txBody>
      </p:sp>
      <p:sp>
        <p:nvSpPr>
          <p:cNvPr id="37" name="Codex_S035P01_Card02_note">
            <a:extLst>
              <a:ext uri="{FF2B5EF4-FFF2-40B4-BE49-F238E27FC236}">
                <a16:creationId xmlns:a16="http://schemas.microsoft.com/office/drawing/2014/main" id="{72A3F538-3668-62C6-6B16-42AC12315DD0}"/>
              </a:ext>
            </a:extLst>
          </p:cNvPr>
          <p:cNvSpPr txBox="1"/>
          <p:nvPr/>
        </p:nvSpPr>
        <p:spPr>
          <a:xfrm>
            <a:off x="3479800" y="3581400"/>
            <a:ext cx="20828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изображение будет добавлено</a:t>
            </a:r>
          </a:p>
        </p:txBody>
      </p:sp>
      <p:sp>
        <p:nvSpPr>
          <p:cNvPr id="38" name="Codex_S035P01_Card03_panel">
            <a:extLst>
              <a:ext uri="{FF2B5EF4-FFF2-40B4-BE49-F238E27FC236}">
                <a16:creationId xmlns:a16="http://schemas.microsoft.com/office/drawing/2014/main" id="{55D8ECF7-0827-9FF5-7AAB-128B6A8EFFC2}"/>
              </a:ext>
            </a:extLst>
          </p:cNvPr>
          <p:cNvSpPr/>
          <p:nvPr/>
        </p:nvSpPr>
        <p:spPr>
          <a:xfrm>
            <a:off x="5816600" y="2844800"/>
            <a:ext cx="23368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Codex_S035P01_Card03_strip">
            <a:extLst>
              <a:ext uri="{FF2B5EF4-FFF2-40B4-BE49-F238E27FC236}">
                <a16:creationId xmlns:a16="http://schemas.microsoft.com/office/drawing/2014/main" id="{2051C7D2-2F38-0397-DB98-F8932E16B72E}"/>
              </a:ext>
            </a:extLst>
          </p:cNvPr>
          <p:cNvSpPr/>
          <p:nvPr/>
        </p:nvSpPr>
        <p:spPr>
          <a:xfrm>
            <a:off x="5816600" y="2844800"/>
            <a:ext cx="23368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Codex_S035P01_Card03_title">
            <a:extLst>
              <a:ext uri="{FF2B5EF4-FFF2-40B4-BE49-F238E27FC236}">
                <a16:creationId xmlns:a16="http://schemas.microsoft.com/office/drawing/2014/main" id="{1EB7CBDC-18EF-F1DD-70E1-633761A4818C}"/>
              </a:ext>
            </a:extLst>
          </p:cNvPr>
          <p:cNvSpPr txBox="1"/>
          <p:nvPr/>
        </p:nvSpPr>
        <p:spPr>
          <a:xfrm>
            <a:off x="5918200" y="2971800"/>
            <a:ext cx="21336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Поднять груз</a:t>
            </a:r>
          </a:p>
        </p:txBody>
      </p:sp>
      <p:sp>
        <p:nvSpPr>
          <p:cNvPr id="41" name="Codex_S035P01_Card03_symbol">
            <a:extLst>
              <a:ext uri="{FF2B5EF4-FFF2-40B4-BE49-F238E27FC236}">
                <a16:creationId xmlns:a16="http://schemas.microsoft.com/office/drawing/2014/main" id="{402618E8-5996-268E-3C07-3E19FD4955C9}"/>
              </a:ext>
            </a:extLst>
          </p:cNvPr>
          <p:cNvSpPr txBox="1"/>
          <p:nvPr/>
        </p:nvSpPr>
        <p:spPr>
          <a:xfrm>
            <a:off x="5943600" y="3289300"/>
            <a:ext cx="20828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↑</a:t>
            </a:r>
          </a:p>
        </p:txBody>
      </p:sp>
      <p:sp>
        <p:nvSpPr>
          <p:cNvPr id="42" name="Codex_S035P01_Card03_note">
            <a:extLst>
              <a:ext uri="{FF2B5EF4-FFF2-40B4-BE49-F238E27FC236}">
                <a16:creationId xmlns:a16="http://schemas.microsoft.com/office/drawing/2014/main" id="{FADF86EA-443F-4618-93AC-A05738387E80}"/>
              </a:ext>
            </a:extLst>
          </p:cNvPr>
          <p:cNvSpPr txBox="1"/>
          <p:nvPr/>
        </p:nvSpPr>
        <p:spPr>
          <a:xfrm>
            <a:off x="5943600" y="3581400"/>
            <a:ext cx="20828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направление вверх</a:t>
            </a:r>
          </a:p>
        </p:txBody>
      </p:sp>
      <p:sp>
        <p:nvSpPr>
          <p:cNvPr id="43" name="Codex_S035P01_Card04_panel">
            <a:extLst>
              <a:ext uri="{FF2B5EF4-FFF2-40B4-BE49-F238E27FC236}">
                <a16:creationId xmlns:a16="http://schemas.microsoft.com/office/drawing/2014/main" id="{E23C06E0-E568-521A-CFB8-5669039BD025}"/>
              </a:ext>
            </a:extLst>
          </p:cNvPr>
          <p:cNvSpPr/>
          <p:nvPr/>
        </p:nvSpPr>
        <p:spPr>
          <a:xfrm>
            <a:off x="8280400" y="2844800"/>
            <a:ext cx="23368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Codex_S035P01_Card04_strip">
            <a:extLst>
              <a:ext uri="{FF2B5EF4-FFF2-40B4-BE49-F238E27FC236}">
                <a16:creationId xmlns:a16="http://schemas.microsoft.com/office/drawing/2014/main" id="{EB15ACEC-AADD-1DBF-2DE3-3C7880391766}"/>
              </a:ext>
            </a:extLst>
          </p:cNvPr>
          <p:cNvSpPr/>
          <p:nvPr/>
        </p:nvSpPr>
        <p:spPr>
          <a:xfrm>
            <a:off x="8280400" y="2844800"/>
            <a:ext cx="23368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Codex_S035P01_Card04_title">
            <a:extLst>
              <a:ext uri="{FF2B5EF4-FFF2-40B4-BE49-F238E27FC236}">
                <a16:creationId xmlns:a16="http://schemas.microsoft.com/office/drawing/2014/main" id="{077B8FF4-5862-0E30-3FB6-164C9EBDB0E8}"/>
              </a:ext>
            </a:extLst>
          </p:cNvPr>
          <p:cNvSpPr txBox="1"/>
          <p:nvPr/>
        </p:nvSpPr>
        <p:spPr>
          <a:xfrm>
            <a:off x="8382000" y="2971800"/>
            <a:ext cx="21336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Опустить груз</a:t>
            </a:r>
          </a:p>
        </p:txBody>
      </p:sp>
      <p:sp>
        <p:nvSpPr>
          <p:cNvPr id="46" name="Codex_S035P01_Card04_symbol">
            <a:extLst>
              <a:ext uri="{FF2B5EF4-FFF2-40B4-BE49-F238E27FC236}">
                <a16:creationId xmlns:a16="http://schemas.microsoft.com/office/drawing/2014/main" id="{C5AE2B89-72E0-EF64-6899-4721F1453F18}"/>
              </a:ext>
            </a:extLst>
          </p:cNvPr>
          <p:cNvSpPr txBox="1"/>
          <p:nvPr/>
        </p:nvSpPr>
        <p:spPr>
          <a:xfrm>
            <a:off x="8407400" y="3289300"/>
            <a:ext cx="20828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↓</a:t>
            </a:r>
          </a:p>
        </p:txBody>
      </p:sp>
      <p:sp>
        <p:nvSpPr>
          <p:cNvPr id="47" name="Codex_S035P01_Card04_note">
            <a:extLst>
              <a:ext uri="{FF2B5EF4-FFF2-40B4-BE49-F238E27FC236}">
                <a16:creationId xmlns:a16="http://schemas.microsoft.com/office/drawing/2014/main" id="{8F34AEEA-1931-20DA-1FD3-6E4F5EA94E4D}"/>
              </a:ext>
            </a:extLst>
          </p:cNvPr>
          <p:cNvSpPr txBox="1"/>
          <p:nvPr/>
        </p:nvSpPr>
        <p:spPr>
          <a:xfrm>
            <a:off x="8407400" y="3581400"/>
            <a:ext cx="20828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направление вниз</a:t>
            </a:r>
          </a:p>
        </p:txBody>
      </p:sp>
      <p:sp>
        <p:nvSpPr>
          <p:cNvPr id="48" name="Codex_S035P01_Card05_panel">
            <a:extLst>
              <a:ext uri="{FF2B5EF4-FFF2-40B4-BE49-F238E27FC236}">
                <a16:creationId xmlns:a16="http://schemas.microsoft.com/office/drawing/2014/main" id="{E1F4354D-D02D-89AC-4E94-6204336FCD89}"/>
              </a:ext>
            </a:extLst>
          </p:cNvPr>
          <p:cNvSpPr/>
          <p:nvPr/>
        </p:nvSpPr>
        <p:spPr>
          <a:xfrm>
            <a:off x="889000" y="4089400"/>
            <a:ext cx="31242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Codex_S035P01_Card05_strip">
            <a:extLst>
              <a:ext uri="{FF2B5EF4-FFF2-40B4-BE49-F238E27FC236}">
                <a16:creationId xmlns:a16="http://schemas.microsoft.com/office/drawing/2014/main" id="{EB93B12A-7FAB-85BE-D0B7-FC17FF035966}"/>
              </a:ext>
            </a:extLst>
          </p:cNvPr>
          <p:cNvSpPr/>
          <p:nvPr/>
        </p:nvSpPr>
        <p:spPr>
          <a:xfrm>
            <a:off x="889000" y="4089400"/>
            <a:ext cx="31242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Codex_S035P01_Card05_title">
            <a:extLst>
              <a:ext uri="{FF2B5EF4-FFF2-40B4-BE49-F238E27FC236}">
                <a16:creationId xmlns:a16="http://schemas.microsoft.com/office/drawing/2014/main" id="{2CD9C630-BBC1-8F95-B30F-FD8781EF7CC4}"/>
              </a:ext>
            </a:extLst>
          </p:cNvPr>
          <p:cNvSpPr txBox="1"/>
          <p:nvPr/>
        </p:nvSpPr>
        <p:spPr>
          <a:xfrm>
            <a:off x="990600" y="4216400"/>
            <a:ext cx="29210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Поднять / опустить стрелу</a:t>
            </a:r>
          </a:p>
        </p:txBody>
      </p:sp>
      <p:sp>
        <p:nvSpPr>
          <p:cNvPr id="51" name="Codex_S035P01_Card05_symbol">
            <a:extLst>
              <a:ext uri="{FF2B5EF4-FFF2-40B4-BE49-F238E27FC236}">
                <a16:creationId xmlns:a16="http://schemas.microsoft.com/office/drawing/2014/main" id="{34D547AF-714F-CAD4-9D65-4228E876AA13}"/>
              </a:ext>
            </a:extLst>
          </p:cNvPr>
          <p:cNvSpPr txBox="1"/>
          <p:nvPr/>
        </p:nvSpPr>
        <p:spPr>
          <a:xfrm>
            <a:off x="1016000" y="4533900"/>
            <a:ext cx="28702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↕</a:t>
            </a:r>
          </a:p>
        </p:txBody>
      </p:sp>
      <p:sp>
        <p:nvSpPr>
          <p:cNvPr id="52" name="Codex_S035P01_Card05_note">
            <a:extLst>
              <a:ext uri="{FF2B5EF4-FFF2-40B4-BE49-F238E27FC236}">
                <a16:creationId xmlns:a16="http://schemas.microsoft.com/office/drawing/2014/main" id="{0DA62BBB-7BDB-C45A-B2A0-A4EF1711D0E1}"/>
              </a:ext>
            </a:extLst>
          </p:cNvPr>
          <p:cNvSpPr txBox="1"/>
          <p:nvPr/>
        </p:nvSpPr>
        <p:spPr>
          <a:xfrm>
            <a:off x="1016000" y="4826000"/>
            <a:ext cx="28702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вертикальное движение</a:t>
            </a:r>
          </a:p>
        </p:txBody>
      </p:sp>
      <p:sp>
        <p:nvSpPr>
          <p:cNvPr id="53" name="Codex_S035P01_Card06_panel">
            <a:extLst>
              <a:ext uri="{FF2B5EF4-FFF2-40B4-BE49-F238E27FC236}">
                <a16:creationId xmlns:a16="http://schemas.microsoft.com/office/drawing/2014/main" id="{A526B030-104F-7E56-771B-5FBBEB9659C7}"/>
              </a:ext>
            </a:extLst>
          </p:cNvPr>
          <p:cNvSpPr/>
          <p:nvPr/>
        </p:nvSpPr>
        <p:spPr>
          <a:xfrm>
            <a:off x="4203700" y="4089400"/>
            <a:ext cx="31242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Codex_S035P01_Card06_strip">
            <a:extLst>
              <a:ext uri="{FF2B5EF4-FFF2-40B4-BE49-F238E27FC236}">
                <a16:creationId xmlns:a16="http://schemas.microsoft.com/office/drawing/2014/main" id="{B8E1FC85-9B3D-433F-F71A-C3F4F222B8B9}"/>
              </a:ext>
            </a:extLst>
          </p:cNvPr>
          <p:cNvSpPr/>
          <p:nvPr/>
        </p:nvSpPr>
        <p:spPr>
          <a:xfrm>
            <a:off x="4203700" y="4089400"/>
            <a:ext cx="31242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Codex_S035P01_Card06_title">
            <a:extLst>
              <a:ext uri="{FF2B5EF4-FFF2-40B4-BE49-F238E27FC236}">
                <a16:creationId xmlns:a16="http://schemas.microsoft.com/office/drawing/2014/main" id="{932F788E-80B2-001D-58F0-DBD4D40C768F}"/>
              </a:ext>
            </a:extLst>
          </p:cNvPr>
          <p:cNvSpPr txBox="1"/>
          <p:nvPr/>
        </p:nvSpPr>
        <p:spPr>
          <a:xfrm>
            <a:off x="4305300" y="4216400"/>
            <a:ext cx="29210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Переместить стрелу</a:t>
            </a:r>
          </a:p>
        </p:txBody>
      </p:sp>
      <p:sp>
        <p:nvSpPr>
          <p:cNvPr id="56" name="Codex_S035P01_Card06_symbol">
            <a:extLst>
              <a:ext uri="{FF2B5EF4-FFF2-40B4-BE49-F238E27FC236}">
                <a16:creationId xmlns:a16="http://schemas.microsoft.com/office/drawing/2014/main" id="{1936C258-EFB9-A430-B0B0-D1D92F4AB188}"/>
              </a:ext>
            </a:extLst>
          </p:cNvPr>
          <p:cNvSpPr txBox="1"/>
          <p:nvPr/>
        </p:nvSpPr>
        <p:spPr>
          <a:xfrm>
            <a:off x="4330700" y="4533900"/>
            <a:ext cx="28702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↔</a:t>
            </a:r>
          </a:p>
        </p:txBody>
      </p:sp>
      <p:sp>
        <p:nvSpPr>
          <p:cNvPr id="57" name="Codex_S035P01_Card06_note">
            <a:extLst>
              <a:ext uri="{FF2B5EF4-FFF2-40B4-BE49-F238E27FC236}">
                <a16:creationId xmlns:a16="http://schemas.microsoft.com/office/drawing/2014/main" id="{B9E6F2CC-C000-9C82-7AC7-4BD173922B20}"/>
              </a:ext>
            </a:extLst>
          </p:cNvPr>
          <p:cNvSpPr txBox="1"/>
          <p:nvPr/>
        </p:nvSpPr>
        <p:spPr>
          <a:xfrm>
            <a:off x="4330700" y="4826000"/>
            <a:ext cx="28702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влево / вправо</a:t>
            </a:r>
          </a:p>
        </p:txBody>
      </p:sp>
      <p:sp>
        <p:nvSpPr>
          <p:cNvPr id="58" name="Codex_S035P01_Card07_panel">
            <a:extLst>
              <a:ext uri="{FF2B5EF4-FFF2-40B4-BE49-F238E27FC236}">
                <a16:creationId xmlns:a16="http://schemas.microsoft.com/office/drawing/2014/main" id="{482028AE-CA5D-E1FB-CA5C-A2718773929B}"/>
              </a:ext>
            </a:extLst>
          </p:cNvPr>
          <p:cNvSpPr/>
          <p:nvPr/>
        </p:nvSpPr>
        <p:spPr>
          <a:xfrm>
            <a:off x="7518400" y="4089400"/>
            <a:ext cx="31242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Codex_S035P01_Card07_strip">
            <a:extLst>
              <a:ext uri="{FF2B5EF4-FFF2-40B4-BE49-F238E27FC236}">
                <a16:creationId xmlns:a16="http://schemas.microsoft.com/office/drawing/2014/main" id="{2717EAD6-0161-C4DC-BF1F-02936AFF848F}"/>
              </a:ext>
            </a:extLst>
          </p:cNvPr>
          <p:cNvSpPr/>
          <p:nvPr/>
        </p:nvSpPr>
        <p:spPr>
          <a:xfrm>
            <a:off x="7518400" y="4089400"/>
            <a:ext cx="3124200" cy="38100"/>
          </a:xfrm>
          <a:prstGeom prst="rect">
            <a:avLst/>
          </a:prstGeom>
          <a:solidFill>
            <a:srgbClr val="0038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Codex_S035P01_Card07_title">
            <a:extLst>
              <a:ext uri="{FF2B5EF4-FFF2-40B4-BE49-F238E27FC236}">
                <a16:creationId xmlns:a16="http://schemas.microsoft.com/office/drawing/2014/main" id="{2FA2ADC2-2C73-CD12-9F4E-3B7D898FA5FF}"/>
              </a:ext>
            </a:extLst>
          </p:cNvPr>
          <p:cNvSpPr txBox="1"/>
          <p:nvPr/>
        </p:nvSpPr>
        <p:spPr>
          <a:xfrm>
            <a:off x="7620000" y="4216400"/>
            <a:ext cx="2921000" cy="32624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1120" b="1">
                <a:solidFill>
                  <a:srgbClr val="111111"/>
                </a:solidFill>
                <a:latin typeface="Arial" panose="020B0604020202020204" pitchFamily="34" charset="0"/>
              </a:rPr>
              <a:t>Переместить тележку / кран</a:t>
            </a:r>
          </a:p>
        </p:txBody>
      </p:sp>
      <p:sp>
        <p:nvSpPr>
          <p:cNvPr id="61" name="Codex_S035P01_Card07_symbol">
            <a:extLst>
              <a:ext uri="{FF2B5EF4-FFF2-40B4-BE49-F238E27FC236}">
                <a16:creationId xmlns:a16="http://schemas.microsoft.com/office/drawing/2014/main" id="{78885DC2-F5FC-5FF2-D6C6-36D1BBD8D9EF}"/>
              </a:ext>
            </a:extLst>
          </p:cNvPr>
          <p:cNvSpPr txBox="1"/>
          <p:nvPr/>
        </p:nvSpPr>
        <p:spPr>
          <a:xfrm>
            <a:off x="7645400" y="4533900"/>
            <a:ext cx="2870200" cy="507831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2300" b="1">
                <a:solidFill>
                  <a:srgbClr val="0038B8"/>
                </a:solidFill>
                <a:latin typeface="Arial" panose="020B0604020202020204" pitchFamily="34" charset="0"/>
              </a:rPr>
              <a:t>↔</a:t>
            </a:r>
          </a:p>
        </p:txBody>
      </p:sp>
      <p:sp>
        <p:nvSpPr>
          <p:cNvPr id="62" name="Codex_S035P01_Card07_note">
            <a:extLst>
              <a:ext uri="{FF2B5EF4-FFF2-40B4-BE49-F238E27FC236}">
                <a16:creationId xmlns:a16="http://schemas.microsoft.com/office/drawing/2014/main" id="{9F917EA5-2910-2A99-8331-77CF9EA77E93}"/>
              </a:ext>
            </a:extLst>
          </p:cNvPr>
          <p:cNvSpPr txBox="1"/>
          <p:nvPr/>
        </p:nvSpPr>
        <p:spPr>
          <a:xfrm>
            <a:off x="7645400" y="4826000"/>
            <a:ext cx="2870200" cy="284693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pPr algn="ctr"/>
            <a:r>
              <a:rPr lang="ru-RU" sz="850">
                <a:solidFill>
                  <a:srgbClr val="4B5563"/>
                </a:solidFill>
                <a:latin typeface="Arial" panose="020B0604020202020204" pitchFamily="34" charset="0"/>
              </a:rPr>
              <a:t>влево / вправо</a:t>
            </a:r>
          </a:p>
        </p:txBody>
      </p:sp>
      <p:sp>
        <p:nvSpPr>
          <p:cNvPr id="63" name="Codex_S035P01_Note">
            <a:extLst>
              <a:ext uri="{FF2B5EF4-FFF2-40B4-BE49-F238E27FC236}">
                <a16:creationId xmlns:a16="http://schemas.microsoft.com/office/drawing/2014/main" id="{D11789FD-337C-2C6D-D831-A81941713B3D}"/>
              </a:ext>
            </a:extLst>
          </p:cNvPr>
          <p:cNvSpPr txBox="1"/>
          <p:nvPr/>
        </p:nvSpPr>
        <p:spPr>
          <a:xfrm>
            <a:off x="889000" y="5308600"/>
            <a:ext cx="10033000" cy="289310"/>
          </a:xfrm>
          <a:prstGeom prst="rect">
            <a:avLst/>
          </a:prstGeom>
          <a:noFill/>
        </p:spPr>
        <p:txBody>
          <a:bodyPr vert="horz" wrap="square" lIns="101600" tIns="76200" rIns="101600" bIns="76200" rtlCol="0">
            <a:spAutoFit/>
          </a:bodyPr>
          <a:lstStyle/>
          <a:p>
            <a:r>
              <a:rPr lang="ru-RU" sz="880">
                <a:solidFill>
                  <a:srgbClr val="4B5563"/>
                </a:solidFill>
                <a:latin typeface="Arial" panose="020B0604020202020204" pitchFamily="34" charset="0"/>
              </a:rPr>
              <a:t>Карточки готовы под будущие изображения жестов и стрелки направления.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4171946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Команда Стоп и неясные сигналы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Когда работу останавливают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Стоп обязателен к исполнению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Неясный сигнал — остановка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Плохая видимость — остановка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Нет уверенного взаимодействия — остановка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Команда «Стоп» имеет безусловный приоритет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Приоритет остановки</a:t>
            </a:r>
          </a:p>
        </p:txBody>
      </p:sp>
      <p:pic>
        <p:nvPicPr>
          <p:cNvPr id="24" name="Picture 23" descr="S031-P05_stop-priorite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131832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89255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Перемещение и сопровождение груза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Безопасная траектория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Контролируй траекторию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заходи в опасную зону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Работай с оттяжкой при необходимости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находись под грузом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Удерживай груз безопасно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Опасная зона и безопасная позиция при перемещении груза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Опасная зона</a:t>
            </a:r>
          </a:p>
        </p:txBody>
      </p:sp>
      <p:pic>
        <p:nvPicPr>
          <p:cNvPr id="24" name="Picture 23" descr="S031-P08_opasnaia-zona_movement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268397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S037-P01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Опасная зона при перемещении груза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нужно показать отдельно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Опасная зона: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траектория груза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возможное раскачивание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зона падения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запрещенные позиции людей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Схема опасной зоны для отдельного разбора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Контур опасной зоны</a:t>
            </a:r>
          </a:p>
        </p:txBody>
      </p:sp>
      <p:pic>
        <p:nvPicPr>
          <p:cNvPr id="24" name="Picture 23" descr="S031-P08_opasnaia-zona_movement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26924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S037-PP01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Подподвал. Работа с оттяжкой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использовать оттяжку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Оттяжка нужна: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удерживать груз от разворота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уменьшать раскачивание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сопровождать груз на дистанции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Работа с оттяжкой только на безопасной дистанции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Сопровождение груза</a:t>
            </a:r>
          </a:p>
        </p:txBody>
      </p:sp>
      <p:pic>
        <p:nvPicPr>
          <p:cNvPr id="24" name="Picture 23" descr="S031-P07_ottiagka_safe-guidin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269673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89255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Когда груз нужно немедленно опустить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Нужно остановить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Груз раскачивается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Есть риск перекоса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Люди в опасной зоне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Ситуация стала неуправляемой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Нештатная ситуация: перемещение нужно остановить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Нештатная ситуация</a:t>
            </a:r>
          </a:p>
        </p:txBody>
      </p:sp>
      <p:pic>
        <p:nvPicPr>
          <p:cNvPr id="24" name="Picture 23" descr="S031-P11_raskachivanie-liudi_cas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77601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S039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5232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rPr lang="ru-RU" sz="2400" b="1">
                <a:solidFill>
                  <a:srgbClr val="111111"/>
                </a:solidFill>
                <a:latin typeface="Arial" panose="020B0604020202020204" pitchFamily="34" charset="0"/>
              </a:rPr>
              <a:t>Складирование и расстроповка</a:t>
            </a:r>
            <a:endParaRPr sz="2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завершить операцию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Подготовь место укладки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Проверь устойчивость груза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Используй подкладки и прокладки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загромождай проходы и проезды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Снимай стропы только после устойчивой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Подкладки и устойчивое положение перед расстроповкой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Устойчивое основание</a:t>
            </a:r>
          </a:p>
        </p:txBody>
      </p:sp>
      <p:pic>
        <p:nvPicPr>
          <p:cNvPr id="24" name="Picture 23" descr="S031-P09_skladovanie_podkladki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290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S039-P01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Подготовка места и момент расстроповки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безопасно завершить работу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Подготовка места: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ровное основание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подкладки и прокладки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свободные проходы и проезды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понятная точка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Расстроповка допустима только после устойчивой установки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Финальная проверка</a:t>
            </a:r>
          </a:p>
        </p:txBody>
      </p:sp>
      <p:pic>
        <p:nvPicPr>
          <p:cNvPr id="24" name="Picture 23" descr="S031-P10_rasstropovka_rano-pravil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029824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S039-PP01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Подподвал. Схемы безопасного складирования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раскрываем дополнительно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Варианты для показа: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длинномер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пакет листов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цилиндрический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груз на подкладках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Варианты безопасного складирования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Безопасное складирование</a:t>
            </a:r>
          </a:p>
        </p:txBody>
      </p:sp>
      <p:pic>
        <p:nvPicPr>
          <p:cNvPr id="24" name="Picture 23" descr="S031-P09_skladovanie_podkladki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89824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S040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Промежуточный тест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Проверка по теме 2.2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Что делать до начала работ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Кто подает сигнал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Когда остановить перемещение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Как складировать безопасно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Тестовый экран: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вопросы по подготовке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сигналам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сопровождению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складированию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Проверка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Проверка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4005327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S041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Финальный вывод по подтеме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должен уметь слушатель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Работай по порядку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пропускай проверку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Держи связь с крановщиком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сопровождай груз с риском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Завершай работу только после устойчивой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Итоговый экран-памятка: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подготовка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сигналы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сопровождение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завершение работы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Итог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Итог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7803105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1599</Words>
  <Application>Microsoft Office PowerPoint</Application>
  <PresentationFormat>Широкоэкранный</PresentationFormat>
  <Paragraphs>500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Дмитрий</dc:creator>
  <cp:lastModifiedBy>Дмитрий</cp:lastModifiedBy>
  <cp:revision>25</cp:revision>
  <dcterms:created xsi:type="dcterms:W3CDTF">2026-06-29T18:19:40Z</dcterms:created>
  <dcterms:modified xsi:type="dcterms:W3CDTF">2026-06-30T15:18:22Z</dcterms:modified>
</cp:coreProperties>
</file>