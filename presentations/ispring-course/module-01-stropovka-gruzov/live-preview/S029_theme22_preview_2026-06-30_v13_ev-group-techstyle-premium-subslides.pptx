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4" r:id="rId3"/>
    <p:sldId id="285" r:id="rId4"/>
    <p:sldId id="286" r:id="rId5"/>
    <p:sldId id="284" r:id="rId6"/>
    <p:sldId id="283" r:id="rId7"/>
    <p:sldId id="282" r:id="rId8"/>
    <p:sldId id="287" r:id="rId9"/>
    <p:sldId id="281" r:id="rId10"/>
    <p:sldId id="288" r:id="rId11"/>
    <p:sldId id="289" r:id="rId12"/>
    <p:sldId id="280" r:id="rId13"/>
    <p:sldId id="279" r:id="rId14"/>
    <p:sldId id="290" r:id="rId15"/>
    <p:sldId id="291" r:id="rId16"/>
    <p:sldId id="278" r:id="rId17"/>
    <p:sldId id="277" r:id="rId18"/>
    <p:sldId id="292" r:id="rId19"/>
    <p:sldId id="293" r:id="rId20"/>
    <p:sldId id="276" r:id="rId21"/>
    <p:sldId id="275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AEA7F0-4FA8-5257-ABA5-2BAC22F02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1C8DCD-B4CB-AF01-82F9-EF882C0DD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E8200B3-B5DA-07A1-3F60-E5F92A96D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14A172-6EEF-F02E-B3CD-97C04E01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352960-B483-EB22-68FE-2EFF8C30A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459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AD50A6-E350-47D7-9685-DBA274D9B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F6EEC6-A374-76D1-B67E-32B6A9D8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0AAB5D-7A1C-33AB-25C8-8131E4BB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667815-8AC7-50D5-85BA-FBD04494B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5F76F8-57A2-B39A-76AB-B833AB4FD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85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1D2D6F-043E-AA99-4A07-C39346EA1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5D1875F-FDB0-8AE8-809D-6D2BCEF4EF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2B0508-6093-C553-52AE-D4EBB59AD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BB3BCCD-10A6-E3B7-3767-F241FDA41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BBE0DD-3168-EDCD-AC79-FAB7DD27E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5298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561D7A-F6ED-A7A1-0C97-547C0BD11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BED177-997B-C115-6B9F-502729AD02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EB93AC8-DF4D-B95D-A28D-3FB2B14F4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FA165D2-9930-13F6-8164-001D4A7DB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117345A-98B5-D544-0625-99189F99B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DAD09D-970A-A3C1-5F5F-8237C98F0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109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345DF8-16A9-238B-BB10-E988C2630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4C33D5E-2698-8CC1-D8EC-5BA02E770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83692CD-7098-2D93-FA9C-B539AE4FB8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A3795D0-AD58-FE7C-5847-F9A9F367F8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64EEF46-8372-6B84-8CD2-F2C46AD58D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B986FB7-385F-6A90-809F-876DD9D8A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005880B-0D4B-E2AC-215A-CC4C39715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B3E1401-526C-4939-7EBF-CC5E17ECA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5790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C704BE-994E-F2FF-EF14-78A149C2D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1CCE502-4B3C-5E13-0AD5-C9A26DC3E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542C3E2-7DB9-7D8C-BDB9-80D5EC2C6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8649FB0-A46E-013C-B571-9F1E7983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60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83ACB15-3D94-6CC7-616D-735086F7F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79F3D74-4193-EC57-E976-4D32E83C4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F5AC7B-694D-239A-A08F-21AA5C9FB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411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5DDDC6-C8ED-AC89-6AF0-AA766D91E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1E8B2F-FC08-A286-9BD1-367C96107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27D7123-2771-C5CC-DA7C-85DF690B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285D4B-ECB3-DDD5-345C-D98FE2C9E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00DE1F1-A39B-6971-3535-49474C144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367D8C6-938A-2502-890B-042EC458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1609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D4CEF3-020C-374D-60C9-54CC611B5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31A0C3-932D-0A47-B16B-89BE10C830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E850040-4726-EE11-A87B-D6FDB2825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EC8BF62-6EB9-BC27-4FD2-9A2641062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04FAC3-AD4C-DFBF-13CA-72061D189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0C6169D-660E-9073-56A3-8CF3C2902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208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C177BA-4F53-3F61-F843-E631D99FD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290D29E-46D9-6175-F129-70460A973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BB463A-2641-FD51-AD06-0C625F6F4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D30334-AF73-0EDE-CCB1-FC0C1030B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D5A316C-7E81-F643-4B0B-C80A10D89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8977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BA01DB1-CEAA-2F7F-065A-DD09DDF716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264F5E6-A0BC-BC4E-A6BD-7A55A1ABA3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C8501A-127F-6D7A-37C9-D23AA82E1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0BE5BB-0D44-A6EF-026E-B0BF1E7B8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FBB1683-E85B-BAD4-FDF9-D72222A44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2512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7F8439-B886-5D48-2F29-E9F050112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631E2D-BA80-D8BE-7B20-09962D7E12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230332-F6EA-1B66-F48D-E7513AD32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3ECE5-5C77-4820-9FDC-B8AEB273E572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BA78F7-69F3-C311-75E2-0C32215F1B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A6DE64-E201-4707-7376-1B179333A5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220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S029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Работа стропальщика как последовательность действий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Что дальше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 dirty="0">
                <a:solidFill>
                  <a:srgbClr val="111111"/>
                </a:solidFill>
                <a:latin typeface="Arial"/>
              </a:rPr>
              <a:t>В этом блоке разбираем, как именно работает стропальщик: подготовка к работе, обязанности, сигналы, сопровождение груза, складирование и </a:t>
            </a:r>
            <a:r>
              <a:rPr lang="ru-RU" sz="1600" b="0" dirty="0" err="1">
                <a:solidFill>
                  <a:srgbClr val="111111"/>
                </a:solidFill>
                <a:latin typeface="Arial"/>
              </a:rPr>
              <a:t>расстроповка</a:t>
            </a:r>
            <a:r>
              <a:rPr lang="ru-RU" sz="1600" b="0" dirty="0">
                <a:solidFill>
                  <a:srgbClr val="111111"/>
                </a:solidFill>
                <a:latin typeface="Arial"/>
              </a:rPr>
              <a:t>. Это переход от правил строповки к самой рабочей технологии.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Стропальщик подает команду перед началом грузоподъемной операции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S029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Ключевой визуальный вход</a:t>
            </a:r>
          </a:p>
        </p:txBody>
      </p:sp>
      <p:pic>
        <p:nvPicPr>
          <p:cNvPr id="22" name="Picture 21" descr="S004_avatar-1_signal-podnyat-gruz_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1616" y="2633472"/>
            <a:ext cx="4005072" cy="267004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S030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Что будет в подтеме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Маршрут подтемы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Подготовка к работе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Обязанности стропальщика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Сигнализация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Сопровождение груза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Складирование и расстроповка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Маршрут из 5 шагов: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1. Подготовка к работе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2. Обязанности стропальщика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3. Сигнализация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4. Сопровождение груза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5. Складирование и расстроповка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2119909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Урок 1. Подготовка к работе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>
            <a:hlinkClick r:id="" action="ppaction://noaction"/>
          </p:cNvPr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hlinkClick r:id="" action="ppaction://noaction"/>
          </p:cNvPr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Стартовый чек-лист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>
            <a:hlinkClick r:id="" action="ppaction://noaction"/>
          </p:cNvPr>
          <p:cNvSpPr txBox="1"/>
          <p:nvPr/>
        </p:nvSpPr>
        <p:spPr>
          <a:xfrm>
            <a:off x="896112" y="2596896"/>
            <a:ext cx="3685032" cy="1795363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 dirty="0">
                <a:solidFill>
                  <a:srgbClr val="111111"/>
                </a:solidFill>
                <a:latin typeface="Arial"/>
              </a:rPr>
              <a:t>Уточни задание</a:t>
            </a:r>
          </a:p>
          <a:p>
            <a:pPr algn="l">
              <a:spcAft>
                <a:spcPts val="800"/>
              </a:spcAft>
            </a:pPr>
            <a:r>
              <a:rPr lang="ru-RU" sz="1600" b="0" dirty="0">
                <a:solidFill>
                  <a:srgbClr val="111111"/>
                </a:solidFill>
                <a:latin typeface="Arial"/>
              </a:rPr>
              <a:t>Проверь массу и характер груза</a:t>
            </a:r>
          </a:p>
          <a:p>
            <a:pPr algn="l">
              <a:spcAft>
                <a:spcPts val="800"/>
              </a:spcAft>
            </a:pPr>
            <a:r>
              <a:rPr lang="ru-RU" sz="1600" b="0" dirty="0">
                <a:solidFill>
                  <a:srgbClr val="111111"/>
                </a:solidFill>
                <a:latin typeface="Arial"/>
              </a:rPr>
              <a:t>Проверь место работы</a:t>
            </a:r>
          </a:p>
          <a:p>
            <a:pPr algn="l">
              <a:spcAft>
                <a:spcPts val="800"/>
              </a:spcAft>
            </a:pPr>
            <a:r>
              <a:rPr lang="ru-RU" sz="1600" b="0" dirty="0">
                <a:solidFill>
                  <a:srgbClr val="111111"/>
                </a:solidFill>
                <a:latin typeface="Arial"/>
              </a:rPr>
              <a:t>Проверь схемы и таблицы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Осмотри </a:t>
            </a:r>
            <a:r>
              <a:rPr lang="ru-RU" sz="1600">
                <a:solidFill>
                  <a:srgbClr val="111111"/>
                </a:solidFill>
                <a:latin typeface="Arial"/>
              </a:rPr>
              <a:t>приспособления и тару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01768" y="1865376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Контроль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Контроль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 err="1">
                <a:solidFill>
                  <a:srgbClr val="111111"/>
                </a:solidFill>
                <a:latin typeface="Arial"/>
              </a:rPr>
              <a:t>Памятка</a:t>
            </a:r>
            <a:r>
              <a:rPr sz="1300" b="1" dirty="0">
                <a:solidFill>
                  <a:srgbClr val="111111"/>
                </a:solidFill>
                <a:latin typeface="Arial"/>
              </a:rPr>
              <a:t> и </a:t>
            </a:r>
            <a:r>
              <a:rPr sz="1300" b="1" dirty="0" err="1">
                <a:solidFill>
                  <a:srgbClr val="111111"/>
                </a:solidFill>
                <a:latin typeface="Arial"/>
              </a:rPr>
              <a:t>схема</a:t>
            </a:r>
            <a:endParaRPr sz="1300" b="1" dirty="0">
              <a:solidFill>
                <a:srgbClr val="111111"/>
              </a:solidFill>
              <a:latin typeface="Arial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1A88E7-B59F-1E2B-3492-3A579B025CBC}"/>
              </a:ext>
            </a:extLst>
          </p:cNvPr>
          <p:cNvSpPr txBox="1"/>
          <p:nvPr/>
        </p:nvSpPr>
        <p:spPr>
          <a:xfrm>
            <a:off x="6095847" y="3314700"/>
            <a:ext cx="4069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Вставляем </a:t>
            </a:r>
            <a:r>
              <a:rPr lang="ru-RU" dirty="0" err="1"/>
              <a:t>слайдшоу</a:t>
            </a:r>
            <a:r>
              <a:rPr lang="ru-RU" dirty="0"/>
              <a:t> с озвучкой. Последовательность так как указано по пунктам в подвале </a:t>
            </a:r>
            <a:r>
              <a:rPr lang="en-US" dirty="0"/>
              <a:t>S031-P01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11148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S031-P01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Что должно быть до начала работ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910" y="1828800"/>
            <a:ext cx="10487660" cy="3914140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460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910" y="1828800"/>
            <a:ext cx="10487660" cy="36830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S031-P01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6B51D7-9970-D187-0403-565B4CF7DF5F}"/>
              </a:ext>
            </a:extLst>
          </p:cNvPr>
          <p:cNvSpPr txBox="1"/>
          <p:nvPr/>
        </p:nvSpPr>
        <p:spPr>
          <a:xfrm>
            <a:off x="901700" y="2324100"/>
            <a:ext cx="10033000" cy="3764107"/>
          </a:xfrm>
          <a:prstGeom prst="rect">
            <a:avLst/>
          </a:prstGeom>
          <a:noFill/>
        </p:spPr>
        <p:txBody>
          <a:bodyPr vert="horz" wrap="square" lIns="101600" tIns="76200" rIns="101600" bIns="76200" numCol="2" spcCol="228600" rtlCol="0">
            <a:spAutoFit/>
          </a:bodyPr>
          <a:lstStyle/>
          <a:p>
            <a: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  <a:t>Инструкция "Уточни задание перед началом работ"</a:t>
            </a:r>
          </a:p>
          <a:p>
            <a:endParaRPr lang="ru-RU" sz="1020" dirty="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Инструкция требует от работника получить четкие указания от лица, ответственного за безопасное производство работ (обычно это мастер или прораб).</a:t>
            </a:r>
          </a:p>
          <a:p>
            <a:endParaRPr lang="ru-RU" sz="1020" dirty="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  <a:t>Что входит в уточнение задания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Место проведения работ: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точная зона, где будут перемещать грузы.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Тип и масса груза: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стропальщик должен знать точный вес и характер груза.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Схема строповки: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способ обвязки или зацепки конкретного груза.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Выбор приспособлений: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типы и грузоподъемность необходимых строп, траверс или захватов.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Маршрут перемещения: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траектория движения груза и место его конечной укладки.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Опасные зоны: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наличие вблизи ЛЭП, котлованов, заборов или других препятствий.</a:t>
            </a:r>
          </a:p>
          <a:p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• </a:t>
            </a:r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Знаки сигнализации: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согласование порядка обмена сигналами с машинистом крана.</a:t>
            </a:r>
          </a:p>
          <a:p>
            <a:endParaRPr lang="ru-RU" sz="1020" dirty="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b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</a:br>
            <a:b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</a:br>
            <a:b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</a:br>
            <a:b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</a:br>
            <a: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  <a:t>Порядок действий стропальщика перед стартом</a:t>
            </a:r>
          </a:p>
          <a:p>
            <a:endParaRPr lang="ru-RU" sz="1020" dirty="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1. Получить инструктаж: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выслушать задание от ответственного лица.</a:t>
            </a:r>
          </a:p>
          <a:p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2. Проверить документацию: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ознакомиться с технологической картой или </a:t>
            </a:r>
            <a:b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</a:b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схемой строповки.</a:t>
            </a:r>
          </a:p>
          <a:p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3. Подобрать СИЗ: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надеть каску, жилет, защитные перчатки и спецобувь.</a:t>
            </a:r>
          </a:p>
          <a:p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4. Осмотреть инструмент: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проверить бирки и клейма на стропах, убедиться в отсутствии дефектов.</a:t>
            </a:r>
          </a:p>
          <a:p>
            <a:r>
              <a:rPr lang="ru-RU" sz="1020" b="1" dirty="0">
                <a:solidFill>
                  <a:srgbClr val="111111"/>
                </a:solidFill>
                <a:latin typeface="Arial" panose="020B0604020202020204" pitchFamily="34" charset="0"/>
              </a:rPr>
              <a:t>5. Оценить площадку:</a:t>
            </a:r>
            <a:r>
              <a:rPr lang="ru-RU" sz="1020" dirty="0">
                <a:solidFill>
                  <a:srgbClr val="111111"/>
                </a:solidFill>
                <a:latin typeface="Arial" panose="020B0604020202020204" pitchFamily="34" charset="0"/>
              </a:rPr>
              <a:t> проверить освещенность и отсутствие посторонних людей в зоне работы.</a:t>
            </a:r>
          </a:p>
          <a:p>
            <a:endParaRPr lang="ru-RU" sz="1020" dirty="0">
              <a:solidFill>
                <a:srgbClr val="111111"/>
              </a:solidFill>
              <a:latin typeface="Arial" panose="020B0604020202020204" pitchFamily="34" charset="0"/>
            </a:endParaRPr>
          </a:p>
          <a:p>
            <a:r>
              <a:rPr lang="ru-RU" sz="1020" b="1" dirty="0">
                <a:solidFill>
                  <a:srgbClr val="0038B8"/>
                </a:solidFill>
                <a:latin typeface="Arial" panose="020B0604020202020204" pitchFamily="34" charset="0"/>
              </a:rPr>
              <a:t>Если схема строповки неизвестна или масса груза превышает грузоподъемность крана, стропальщик обязан отказаться от выполнения работ до устранения этих проблем.</a:t>
            </a:r>
          </a:p>
        </p:txBody>
      </p:sp>
    </p:spTree>
    <p:extLst>
      <p:ext uri="{BB962C8B-B14F-4D97-AF65-F5344CB8AC3E}">
        <p14:creationId xmlns:p14="http://schemas.microsoft.com/office/powerpoint/2010/main" val="3144882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S032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1. Когда работу нельзя начинать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Можно / нельзя начинать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Плохая видимость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Нет схемы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Неисправная оснастка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Небезопасное рабочее место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Неясны условия работы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Пример условия, при котором работу начинать нельзя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Разбор опасного условия</a:t>
            </a:r>
          </a:p>
        </p:txBody>
      </p:sp>
      <p:pic>
        <p:nvPicPr>
          <p:cNvPr id="22" name="Picture 21" descr="S031-P02_plohaia-osveshchennost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776" y="2633472"/>
            <a:ext cx="4746752" cy="267004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263508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S033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Урок 2. Обязанности стропальщика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Что входит в роль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До начала работ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При обвязке и зацепке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Перед подачей сигнала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После установки груза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Таблица обязанностей: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до начала работ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во время операции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после установки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Роль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24624913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S034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2. Технологический цикл работы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Укрупненный цикл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Ограждение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Подготовка груза и схемы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Строповка и сигнал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Контроль на 20-30 см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Перемещение и складирование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Снятие и хранение оснастки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Схема процесса: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от установки ограждения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до уборки стропов и оснастки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Маршрут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Маршрут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1346259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S034-P01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Полный цикл работ стропальщика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Полный маршрут операции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1. Установить ограждение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2. Определить массу груза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3. Определить схему строповки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4. Проверить и выбрать стропы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5. Оговорить сигналы с машинистом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6. Проверить маршрут перемещения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7. Проверить место складирования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8. Выполнить строповку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Раскрытие маршрута операции по этапам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S034-P01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визуал</a:t>
            </a:r>
          </a:p>
        </p:txBody>
      </p:sp>
      <p:pic>
        <p:nvPicPr>
          <p:cNvPr id="22" name="Picture 21" descr="S031-P03_obviazka-pered-podem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776" y="2633472"/>
            <a:ext cx="4746752" cy="267004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953282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S035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3. Сигнализация и взаимодействие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Как подаются команды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До 10 м — голосом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До 22 м — знаковая сигнализация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Свыше 22 м — рация или телефон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Команды должны быть понятными и однозначными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Ключевой ручной сигнал для взаимодействия с крановщиком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Сигнал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Сигнал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Базовый жест</a:t>
            </a:r>
          </a:p>
        </p:txBody>
      </p:sp>
      <p:pic>
        <p:nvPicPr>
          <p:cNvPr id="24" name="Picture 23" descr="S004_avatar-1_signal-podnyat-gruz_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2633472"/>
            <a:ext cx="408736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7127138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S035-P01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Способы подачи команд и сигналы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Как подаются команды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По дистанции: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до 10 м — голосом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до 22 м — знаковой сигнализацией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свыше 22 м — по рации или телефону</a:t>
            </a:r>
          </a:p>
          <a:p>
            <a:pPr algn="l">
              <a:spcAft>
                <a:spcPts val="800"/>
              </a:spcAft>
            </a:pPr>
            <a:endParaRPr lang="ru-RU">
              <a:solidFill>
                <a:srgbClr val="212B36"/>
              </a:solidFill>
            </a:endParaRP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Команды на груз: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Внимание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Поднять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Опустить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Осторожно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Способы подачи сигналов и пример ручной команды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Сигнал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S035-P01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Сигнал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Сигнал рукой</a:t>
            </a:r>
          </a:p>
        </p:txBody>
      </p:sp>
      <p:pic>
        <p:nvPicPr>
          <p:cNvPr id="24" name="Picture 23" descr="S004_avatar-1_signal-palm-down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2633472"/>
            <a:ext cx="408736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171946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02368" y="310896"/>
            <a:ext cx="1353312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S035-PP01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Подподвал. Подробная галерея жестов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Расшифровка знаковых команд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Группа 1: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Внимание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Поднять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Опустить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Осторожно</a:t>
            </a:r>
          </a:p>
          <a:p>
            <a:pPr algn="l">
              <a:spcAft>
                <a:spcPts val="800"/>
              </a:spcAft>
            </a:pPr>
            <a:endParaRPr lang="ru-RU">
              <a:solidFill>
                <a:srgbClr val="212B36"/>
              </a:solidFill>
            </a:endParaRP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Для каждой команды: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слева жест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справа короткая подпись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Галерея жестов должна читаться как единая система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Сигнал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S035-PP01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Сигнал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Система жестов</a:t>
            </a:r>
          </a:p>
        </p:txBody>
      </p:sp>
      <p:pic>
        <p:nvPicPr>
          <p:cNvPr id="24" name="Picture 23" descr="S004_avatar-1_signal-podnyat-gruz_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2633472"/>
            <a:ext cx="408736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7271537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S036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3. Команда Стоп и неясные сигналы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Когда работу останавливают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Стоп обязателен к исполнению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Неясный сигнал — остановка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Плохая видимость — остановка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Нет уверенного взаимодействия — остановка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Команда «Стоп» имеет безусловный приоритет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Приоритет остановки</a:t>
            </a:r>
          </a:p>
        </p:txBody>
      </p:sp>
      <p:pic>
        <p:nvPicPr>
          <p:cNvPr id="24" name="Picture 23" descr="S031-P05_stop-prioritet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1318326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S037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4. Перемещение и сопровождение груза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Безопасная траектория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Контролируй траекторию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заходи в опасную зону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Работай с оттяжкой при необходимости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находись под грузом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Удерживай груз безопасно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Опасная зона и безопасная позиция при перемещении груза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Контроль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Контроль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Опасная зона</a:t>
            </a:r>
          </a:p>
        </p:txBody>
      </p:sp>
      <p:pic>
        <p:nvPicPr>
          <p:cNvPr id="24" name="Picture 23" descr="S031-P08_opasnaia-zona_movement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268397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S037-P01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Опасная зона при перемещении груза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Что нужно показать отдельно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Опасная зона: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траектория груза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возможное раскачивание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зона падения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запрещенные позиции людей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Схема опасной зоны для отдельного разбора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S037-P01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Контур опасной зоны</a:t>
            </a:r>
          </a:p>
        </p:txBody>
      </p:sp>
      <p:pic>
        <p:nvPicPr>
          <p:cNvPr id="24" name="Picture 23" descr="S031-P08_opasnaia-zona_movement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326924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02368" y="310896"/>
            <a:ext cx="1353312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S037-PP01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Подподвал. Работа с оттяжкой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Как использовать оттяжку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Оттяжка нужна: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чтобы удерживать груз от разворота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чтобы уменьшать раскачивание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чтобы сопровождать груз на дистанции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Работа с оттяжкой только на безопасной дистанции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S037-PP01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Сопровождение груза</a:t>
            </a:r>
          </a:p>
        </p:txBody>
      </p:sp>
      <p:pic>
        <p:nvPicPr>
          <p:cNvPr id="24" name="Picture 23" descr="S031-P07_ottiagka_safe-guidin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269673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S038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4. Когда груз нужно немедленно опустить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Нужно остановить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Груз раскачивается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Есть риск перекоса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Люди в опасной зоне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Ситуация стала неуправляемой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Нештатная ситуация: перемещение нужно остановить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Нештатная ситуация</a:t>
            </a:r>
          </a:p>
        </p:txBody>
      </p:sp>
      <p:pic>
        <p:nvPicPr>
          <p:cNvPr id="24" name="Picture 23" descr="S031-P11_raskachivanie-liudi_cas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977601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S039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5. Складирование и расстроповка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Как завершить операцию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Подготовь место укладки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Проверь устойчивость груза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Используй подкладки и прокладки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загромождай проходы и проезды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Снимай стропы только после устойчивой установки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Подкладки и устойчивое положение перед расстроповкой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Контроль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Контроль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Устойчивое основание</a:t>
            </a:r>
          </a:p>
        </p:txBody>
      </p:sp>
      <p:pic>
        <p:nvPicPr>
          <p:cNvPr id="24" name="Picture 23" descr="S031-P09_skladovanie_podkladki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2907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S039-P01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Подготовка места и момент расстроповки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Как безопасно завершить работу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Подготовка места: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ровное основание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подкладки и прокладки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свободные проходы и проезды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понятная точка установки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Расстроповка допустима только после устойчивой установки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S039-P01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Финальная проверка</a:t>
            </a:r>
          </a:p>
        </p:txBody>
      </p:sp>
      <p:pic>
        <p:nvPicPr>
          <p:cNvPr id="24" name="Picture 23" descr="S031-P10_rasstropovka_rano-pravil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0298244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02368" y="310896"/>
            <a:ext cx="1353312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S039-PP01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Подподвал. Схемы безопасного складирования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Что раскрываем дополнительно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Варианты для показа: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длинномер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пакет листов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цилиндрический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груз на подкладках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r>
              <a:t>Варианты безопасного складирования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S039-PP01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Безопасное складирование</a:t>
            </a:r>
          </a:p>
        </p:txBody>
      </p:sp>
      <p:pic>
        <p:nvPicPr>
          <p:cNvPr id="24" name="Picture 23" descr="S031-P09_skladovanie_podkladki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89824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S040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Промежуточный тест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Проверка по теме 2.2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Что делать до начала работ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Кто подает сигнал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Когда остановить перемещение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Как складировать безопасно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Тестовый экран: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вопросы по подготовке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сигналам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сопровождению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складированию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Проверка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S040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Проверка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40053276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tIns="76200" rIns="1016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1600" tIns="76200" rIns="101600" bIns="762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S041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Финальный вывод по подтеме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/>
            <a:r>
              <a:rPr lang="ru-RU" sz="1300" b="1">
                <a:solidFill>
                  <a:srgbClr val="111111"/>
                </a:solidFill>
                <a:latin typeface="Arial"/>
              </a:rPr>
              <a:t>Что должен уметь слушатель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Работай по порядку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пропускай проверку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Держи связь с крановщиком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сопровождай груз с риском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Завершай работу только после устойчивой установки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Итоговый экран-памятка: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подготовка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сигналы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сопровождение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завершение работы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Итог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S041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Итог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7803105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1329</Words>
  <Application>Microsoft Office PowerPoint</Application>
  <PresentationFormat>Широкоэкранный</PresentationFormat>
  <Paragraphs>434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Дмитрий</dc:creator>
  <cp:lastModifiedBy>Дмитрий</cp:lastModifiedBy>
  <cp:revision>17</cp:revision>
  <dcterms:created xsi:type="dcterms:W3CDTF">2026-06-29T18:19:40Z</dcterms:created>
  <dcterms:modified xsi:type="dcterms:W3CDTF">2026-06-30T13:37:08Z</dcterms:modified>
</cp:coreProperties>
</file>