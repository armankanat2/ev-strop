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3" r:id="rId2"/>
    <p:sldId id="274" r:id="rId3"/>
    <p:sldId id="285" r:id="rId4"/>
    <p:sldId id="286" r:id="rId5"/>
    <p:sldId id="303" r:id="rId6"/>
    <p:sldId id="304" r:id="rId7"/>
    <p:sldId id="305" r:id="rId8"/>
    <p:sldId id="306" r:id="rId9"/>
    <p:sldId id="284" r:id="rId10"/>
    <p:sldId id="298" r:id="rId11"/>
    <p:sldId id="299" r:id="rId12"/>
    <p:sldId id="300" r:id="rId13"/>
    <p:sldId id="301" r:id="rId14"/>
    <p:sldId id="302" r:id="rId15"/>
    <p:sldId id="283" r:id="rId16"/>
    <p:sldId id="307" r:id="rId17"/>
    <p:sldId id="308" r:id="rId18"/>
    <p:sldId id="309" r:id="rId19"/>
    <p:sldId id="310" r:id="rId20"/>
    <p:sldId id="282" r:id="rId21"/>
    <p:sldId id="281" r:id="rId22"/>
    <p:sldId id="288" r:id="rId23"/>
    <p:sldId id="280" r:id="rId24"/>
    <p:sldId id="279" r:id="rId25"/>
    <p:sldId id="290" r:id="rId26"/>
    <p:sldId id="291" r:id="rId27"/>
    <p:sldId id="278" r:id="rId28"/>
    <p:sldId id="277" r:id="rId29"/>
    <p:sldId id="292" r:id="rId30"/>
    <p:sldId id="293" r:id="rId31"/>
    <p:sldId id="276" r:id="rId32"/>
    <p:sldId id="275" r:id="rId3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AEA7F0-4FA8-5257-ABA5-2BAC22F02C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31C8DCD-B4CB-AF01-82F9-EF882C0DDB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E8200B3-B5DA-07A1-3F60-E5F92A96D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3ECE5-5C77-4820-9FDC-B8AEB273E572}" type="datetimeFigureOut">
              <a:rPr lang="ru-RU" smtClean="0"/>
              <a:t>30.06.2026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C14A172-6EEF-F02E-B3CD-97C04E013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8352960-B483-EB22-68FE-2EFF8C30A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B30BC-AF03-4BF6-8562-80CF34B4FE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8459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AD50A6-E350-47D7-9685-DBA274D9B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FF6EEC6-A374-76D1-B67E-32B6A9D8B2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90AAB5D-7A1C-33AB-25C8-8131E4BBC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3ECE5-5C77-4820-9FDC-B8AEB273E572}" type="datetimeFigureOut">
              <a:rPr lang="ru-RU" smtClean="0"/>
              <a:t>30.06.2026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3667815-8AC7-50D5-85BA-FBD04494B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F5F76F8-57A2-B39A-76AB-B833AB4FD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B30BC-AF03-4BF6-8562-80CF34B4FE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6285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1D2D6F-043E-AA99-4A07-C39346EA1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5D1875F-FDB0-8AE8-809D-6D2BCEF4EF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52B0508-6093-C553-52AE-D4EBB59AD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3ECE5-5C77-4820-9FDC-B8AEB273E572}" type="datetimeFigureOut">
              <a:rPr lang="ru-RU" smtClean="0"/>
              <a:t>30.06.2026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BB3BCCD-10A6-E3B7-3767-F241FDA41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9BBE0DD-3168-EDCD-AC79-FAB7DD27E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B30BC-AF03-4BF6-8562-80CF34B4FE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5298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561D7A-F6ED-A7A1-0C97-547C0BD11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7BED177-997B-C115-6B9F-502729AD02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EB93AC8-DF4D-B95D-A28D-3FB2B14F45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FA165D2-9930-13F6-8164-001D4A7DB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3ECE5-5C77-4820-9FDC-B8AEB273E572}" type="datetimeFigureOut">
              <a:rPr lang="ru-RU" smtClean="0"/>
              <a:t>30.06.2026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117345A-98B5-D544-0625-99189F99B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3DAD09D-970A-A3C1-5F5F-8237C98F0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B30BC-AF03-4BF6-8562-80CF34B4FE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7109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345DF8-16A9-238B-BB10-E988C2630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4C33D5E-2698-8CC1-D8EC-5BA02E7704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83692CD-7098-2D93-FA9C-B539AE4FB8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A3795D0-AD58-FE7C-5847-F9A9F367F8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64EEF46-8372-6B84-8CD2-F2C46AD58D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B986FB7-385F-6A90-809F-876DD9D8A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3ECE5-5C77-4820-9FDC-B8AEB273E572}" type="datetimeFigureOut">
              <a:rPr lang="ru-RU" smtClean="0"/>
              <a:t>30.06.2026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005880B-0D4B-E2AC-215A-CC4C39715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B3E1401-526C-4939-7EBF-CC5E17ECA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B30BC-AF03-4BF6-8562-80CF34B4FE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5790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C704BE-994E-F2FF-EF14-78A149C2D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1CCE502-4B3C-5E13-0AD5-C9A26DC3E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3ECE5-5C77-4820-9FDC-B8AEB273E572}" type="datetimeFigureOut">
              <a:rPr lang="ru-RU" smtClean="0"/>
              <a:t>30.06.2026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542C3E2-7DB9-7D8C-BDB9-80D5EC2C6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8649FB0-A46E-013C-B571-9F1E79836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B30BC-AF03-4BF6-8562-80CF34B4FE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360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83ACB15-3D94-6CC7-616D-735086F7F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3ECE5-5C77-4820-9FDC-B8AEB273E572}" type="datetimeFigureOut">
              <a:rPr lang="ru-RU" smtClean="0"/>
              <a:t>30.06.2026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79F3D74-4193-EC57-E976-4D32E83C4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2F5AC7B-694D-239A-A08F-21AA5C9FB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B30BC-AF03-4BF6-8562-80CF34B4FE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34116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5DDDC6-C8ED-AC89-6AF0-AA766D91E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31E8B2F-FC08-A286-9BD1-367C96107B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27D7123-2771-C5CC-DA7C-85DF690B69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A285D4B-ECB3-DDD5-345C-D98FE2C9E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3ECE5-5C77-4820-9FDC-B8AEB273E572}" type="datetimeFigureOut">
              <a:rPr lang="ru-RU" smtClean="0"/>
              <a:t>30.06.2026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00DE1F1-A39B-6971-3535-49474C144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367D8C6-938A-2502-890B-042EC4587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B30BC-AF03-4BF6-8562-80CF34B4FE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1609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D4CEF3-020C-374D-60C9-54CC611B5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B31A0C3-932D-0A47-B16B-89BE10C830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E850040-4726-EE11-A87B-D6FDB2825C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EC8BF62-6EB9-BC27-4FD2-9A2641062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3ECE5-5C77-4820-9FDC-B8AEB273E572}" type="datetimeFigureOut">
              <a:rPr lang="ru-RU" smtClean="0"/>
              <a:t>30.06.2026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F04FAC3-AD4C-DFBF-13CA-72061D189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0C6169D-660E-9073-56A3-8CF3C2902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B30BC-AF03-4BF6-8562-80CF34B4FE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208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C177BA-4F53-3F61-F843-E631D99FD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290D29E-46D9-6175-F129-70460A973B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DBB463A-2641-FD51-AD06-0C625F6F4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3ECE5-5C77-4820-9FDC-B8AEB273E572}" type="datetimeFigureOut">
              <a:rPr lang="ru-RU" smtClean="0"/>
              <a:t>30.06.2026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BD30334-AF73-0EDE-CCB1-FC0C1030B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D5A316C-7E81-F643-4B0B-C80A10D89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B30BC-AF03-4BF6-8562-80CF34B4FE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89770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EBA01DB1-CEAA-2F7F-065A-DD09DDF716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264F5E6-A0BC-BC4E-A6BD-7A55A1ABA3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7C8501A-127F-6D7A-37C9-D23AA82E1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3ECE5-5C77-4820-9FDC-B8AEB273E572}" type="datetimeFigureOut">
              <a:rPr lang="ru-RU" smtClean="0"/>
              <a:t>30.06.2026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C0BE5BB-0D44-A6EF-026E-B0BF1E7B8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FBB1683-E85B-BAD4-FDF9-D72222A44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B30BC-AF03-4BF6-8562-80CF34B4FE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25121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7F8439-B886-5D48-2F29-E9F050112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A631E2D-BA80-D8BE-7B20-09962D7E12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3230332-F6EA-1B66-F48D-E7513AD32E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33ECE5-5C77-4820-9FDC-B8AEB273E572}" type="datetimeFigureOut">
              <a:rPr lang="ru-RU" smtClean="0"/>
              <a:t>30.06.2026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DBA78F7-69F3-C311-75E2-0C32215F1B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2A6DE64-E201-4707-7376-1B179333A5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0B30BC-AF03-4BF6-8562-80CF34B4FE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4220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slide" Target="slide4.xml"/><Relationship Id="rId1" Type="http://schemas.openxmlformats.org/officeDocument/2006/relationships/slideLayout" Target="../slideLayouts/slideLayout7.xml"/><Relationship Id="rId6" Type="http://schemas.openxmlformats.org/officeDocument/2006/relationships/slide" Target="slide8.xml"/><Relationship Id="rId5" Type="http://schemas.openxmlformats.org/officeDocument/2006/relationships/slide" Target="slide7.xml"/><Relationship Id="rId4" Type="http://schemas.openxmlformats.org/officeDocument/2006/relationships/slide" Target="slide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slide" Target="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slide" Target="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slide" Target="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slide" Target="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slide" Target="slide3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slide" Target="slide10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4.xml"/><Relationship Id="rId5" Type="http://schemas.openxmlformats.org/officeDocument/2006/relationships/slide" Target="slide13.xml"/><Relationship Id="rId4" Type="http://schemas.openxmlformats.org/officeDocument/2006/relationships/slide" Target="slide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slide" Target="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slide" Target="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slide" Target="slide9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slide" Target="slide9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2" Type="http://schemas.openxmlformats.org/officeDocument/2006/relationships/slide" Target="slide9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2" Type="http://schemas.openxmlformats.org/officeDocument/2006/relationships/slide" Target="slide16.xml"/><Relationship Id="rId1" Type="http://schemas.openxmlformats.org/officeDocument/2006/relationships/slideLayout" Target="../slideLayouts/slideLayout7.xml"/><Relationship Id="rId5" Type="http://schemas.openxmlformats.org/officeDocument/2006/relationships/slide" Target="slide19.xml"/><Relationship Id="rId4" Type="http://schemas.openxmlformats.org/officeDocument/2006/relationships/slide" Target="slide1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2" Type="http://schemas.openxmlformats.org/officeDocument/2006/relationships/slide" Target="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18.xml"/><Relationship Id="rId2" Type="http://schemas.openxmlformats.org/officeDocument/2006/relationships/slide" Target="slide15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19.xml"/><Relationship Id="rId2" Type="http://schemas.openxmlformats.org/officeDocument/2006/relationships/slide" Target="slide15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20.xml"/><Relationship Id="rId2" Type="http://schemas.openxmlformats.org/officeDocument/2006/relationships/slide" Target="slide15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74320"/>
            <a:ext cx="1325880" cy="384048"/>
          </a:xfrm>
          <a:prstGeom prst="rect">
            <a:avLst/>
          </a:prstGeom>
          <a:noFill/>
        </p:spPr>
        <p:txBody>
          <a:bodyPr wrap="none" lIns="101600" tIns="76200" rIns="101600" bIns="76200">
            <a:spAutoFit/>
          </a:bodyPr>
          <a:lstStyle/>
          <a:p>
            <a:pPr algn="l"/>
            <a:r>
              <a:rPr sz="1000" b="1">
                <a:solidFill>
                  <a:srgbClr val="111111"/>
                </a:solidFill>
                <a:latin typeface="Arial"/>
              </a:rPr>
              <a:t>Тема 2.2</a:t>
            </a:r>
          </a:p>
          <a:p>
            <a:pPr algn="l"/>
            <a:r>
              <a:rPr sz="1000" b="1">
                <a:solidFill>
                  <a:srgbClr val="111111"/>
                </a:solidFill>
                <a:latin typeface="Arial"/>
              </a:rPr>
              <a:t>Технология работы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04120" y="310896"/>
            <a:ext cx="1051560" cy="310896"/>
          </a:xfrm>
          <a:prstGeom prst="round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1600" tIns="76200" rIns="101600" bIns="7620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rial"/>
              </a:rPr>
              <a:t>S029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5216" y="850392"/>
            <a:ext cx="5669280" cy="731520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 algn="l"/>
            <a:r>
              <a:rPr lang="ru-RU" sz="2400" b="1">
                <a:solidFill>
                  <a:srgbClr val="111111"/>
                </a:solidFill>
                <a:latin typeface="Arial"/>
              </a:rPr>
              <a:t>Работа стропальщика как последовательность действий</a:t>
            </a:r>
            <a:endParaRPr>
              <a:solidFill>
                <a:srgbClr val="6E7A86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76656" y="1828800"/>
            <a:ext cx="4069080" cy="3913632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76656" y="2066543"/>
            <a:ext cx="4069080" cy="365760"/>
          </a:xfrm>
          <a:prstGeom prst="roundRect">
            <a:avLst>
              <a:gd name="adj" fmla="val 193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l"/>
            <a:r>
              <a:rPr lang="ru-RU" sz="1300" b="1">
                <a:solidFill>
                  <a:srgbClr val="111111"/>
                </a:solidFill>
                <a:latin typeface="Arial"/>
              </a:rPr>
              <a:t>Что дальше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6112" y="2596896"/>
            <a:ext cx="3685032" cy="2761488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 algn="l">
              <a:spcAft>
                <a:spcPts val="800"/>
              </a:spcAft>
            </a:pPr>
            <a:r>
              <a:rPr lang="ru-RU" sz="1600" b="0" dirty="0">
                <a:solidFill>
                  <a:srgbClr val="111111"/>
                </a:solidFill>
                <a:latin typeface="Arial"/>
              </a:rPr>
              <a:t>В этом блоке разбираем, как именно работает стропальщик: подготовка к работе, обязанности, сигналы, сопровождение груза, складирование и </a:t>
            </a:r>
            <a:r>
              <a:rPr lang="ru-RU" sz="1600" b="0" dirty="0" err="1">
                <a:solidFill>
                  <a:srgbClr val="111111"/>
                </a:solidFill>
                <a:latin typeface="Arial"/>
              </a:rPr>
              <a:t>расстроповка</a:t>
            </a:r>
            <a:r>
              <a:rPr lang="ru-RU" sz="1600" b="0" dirty="0">
                <a:solidFill>
                  <a:srgbClr val="111111"/>
                </a:solidFill>
                <a:latin typeface="Arial"/>
              </a:rPr>
              <a:t>. Это переход от правил строповки к самой рабочей технологии.</a:t>
            </a:r>
            <a:endParaRPr dirty="0">
              <a:solidFill>
                <a:srgbClr val="212B36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983480" y="1828800"/>
            <a:ext cx="6181344" cy="3913632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66360" y="5376672"/>
            <a:ext cx="5815584" cy="219456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r>
              <a:t>Стропальщик подает команду перед началом грузоподъемной операции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5989320"/>
            <a:ext cx="16916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/>
            <a:r>
              <a:rPr lang="ru-RU" sz="1200" b="1">
                <a:solidFill>
                  <a:srgbClr val="4B5563"/>
                </a:solidFill>
                <a:latin typeface="Arial"/>
              </a:rPr>
              <a:t>Назад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47B5600D-ABEB-7396-BEFC-CB9060117184}"/>
              </a:ext>
            </a:extLst>
          </p:cNvPr>
          <p:cNvSpPr/>
          <p:nvPr/>
        </p:nvSpPr>
        <p:spPr>
          <a:xfrm>
            <a:off x="9281160" y="5989320"/>
            <a:ext cx="1901952" cy="347472"/>
          </a:xfrm>
          <a:prstGeom prst="round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/>
            <a:r>
              <a:rPr lang="ru-RU" sz="1200" b="1">
                <a:solidFill>
                  <a:srgbClr val="FFFFFF"/>
                </a:solidFill>
                <a:latin typeface="Arial"/>
              </a:rPr>
              <a:t>Далее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" y="676656"/>
            <a:ext cx="1024128" cy="45720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76656" y="1828800"/>
            <a:ext cx="406908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86384" y="1920240"/>
            <a:ext cx="777240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850" b="1">
                <a:solidFill>
                  <a:srgbClr val="0038B8"/>
                </a:solidFill>
                <a:latin typeface="Arial"/>
              </a:rPr>
              <a:t>Шаг 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21608" y="1920240"/>
            <a:ext cx="91440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850" b="1">
                <a:solidFill>
                  <a:srgbClr val="4B5563"/>
                </a:solidFill>
                <a:latin typeface="Arial"/>
              </a:rPr>
              <a:t>Опора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83480" y="1828800"/>
            <a:ext cx="6181344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93208" y="1920240"/>
            <a:ext cx="868680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850" b="1">
                <a:solidFill>
                  <a:srgbClr val="0038B8"/>
                </a:solidFill>
                <a:latin typeface="Arial"/>
              </a:rPr>
              <a:t>S029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62472" y="1920240"/>
            <a:ext cx="77724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850" b="1">
                <a:solidFill>
                  <a:srgbClr val="4B5563"/>
                </a:solidFill>
                <a:latin typeface="Arial"/>
              </a:rPr>
              <a:t>Шаг 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140696" y="1920240"/>
            <a:ext cx="914400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850" b="1">
                <a:solidFill>
                  <a:srgbClr val="0038B8"/>
                </a:solidFill>
                <a:latin typeface="Arial"/>
              </a:rPr>
              <a:t>Опора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93208" y="2176272"/>
            <a:ext cx="5961888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11111"/>
                </a:solidFill>
                <a:latin typeface="Arial"/>
              </a:rPr>
              <a:t>Ключевой визуальный вход</a:t>
            </a:r>
          </a:p>
        </p:txBody>
      </p:sp>
      <p:pic>
        <p:nvPicPr>
          <p:cNvPr id="22" name="Picture 21" descr="S004_avatar-1_signal-podnyat-gruz_white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1616" y="2633472"/>
            <a:ext cx="4005072" cy="2670048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5148072" y="5303520"/>
            <a:ext cx="5852160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74320"/>
            <a:ext cx="1325880" cy="384048"/>
          </a:xfrm>
          <a:prstGeom prst="rect">
            <a:avLst/>
          </a:prstGeom>
          <a:noFill/>
        </p:spPr>
        <p:txBody>
          <a:bodyPr wrap="none" lIns="101600" tIns="76200" rIns="101600" bIns="76200">
            <a:spAutoFit/>
          </a:bodyPr>
          <a:lstStyle/>
          <a:p>
            <a:pPr algn="l"/>
            <a:r>
              <a:rPr sz="1000" b="1">
                <a:solidFill>
                  <a:srgbClr val="111111"/>
                </a:solidFill>
                <a:latin typeface="Arial"/>
              </a:rPr>
              <a:t>Тема 2.2</a:t>
            </a:r>
          </a:p>
          <a:p>
            <a:pPr algn="l"/>
            <a:r>
              <a:rPr sz="1000" b="1">
                <a:solidFill>
                  <a:srgbClr val="111111"/>
                </a:solidFill>
                <a:latin typeface="Arial"/>
              </a:rPr>
              <a:t>Технология работы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04120" y="310896"/>
            <a:ext cx="1051560" cy="310896"/>
          </a:xfrm>
          <a:prstGeom prst="round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1600" tIns="76200" rIns="101600" bIns="7620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rial"/>
              </a:rPr>
              <a:t>S030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5216" y="850392"/>
            <a:ext cx="5669280" cy="523220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r>
              <a:rPr lang="ru-RU" sz="2400" b="1">
                <a:solidFill>
                  <a:srgbClr val="111111"/>
                </a:solidFill>
                <a:latin typeface="Arial" panose="020B0604020202020204" pitchFamily="34" charset="0"/>
              </a:rPr>
              <a:t>Что будет в теме</a:t>
            </a:r>
            <a:endParaRPr sz="24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76656" y="1828800"/>
            <a:ext cx="4663440" cy="3913632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76656" y="2066543"/>
            <a:ext cx="4663440" cy="365760"/>
          </a:xfrm>
          <a:prstGeom prst="roundRect">
            <a:avLst>
              <a:gd name="adj" fmla="val 193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l"/>
            <a:r>
              <a:rPr lang="ru-RU" sz="1300" b="1">
                <a:solidFill>
                  <a:srgbClr val="111111"/>
                </a:solidFill>
                <a:latin typeface="Arial"/>
              </a:rPr>
              <a:t>Маршрут подтемы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6112" y="2596896"/>
            <a:ext cx="4279392" cy="1718419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>
              <a:spcAft>
                <a:spcPts val="800"/>
              </a:spcAft>
            </a:pPr>
            <a:r>
              <a:rPr lang="ru-RU" sz="1500" b="1">
                <a:solidFill>
                  <a:srgbClr val="0038B8"/>
                </a:solidFill>
                <a:latin typeface="Arial" panose="020B0604020202020204" pitchFamily="34" charset="0"/>
              </a:rPr>
              <a:t>Подготовка к работе</a:t>
            </a:r>
          </a:p>
          <a:p>
            <a:pPr>
              <a:spcAft>
                <a:spcPts val="800"/>
              </a:spcAft>
            </a:pPr>
            <a:r>
              <a:rPr lang="ru-RU" sz="1500" b="1">
                <a:solidFill>
                  <a:srgbClr val="0038B8"/>
                </a:solidFill>
                <a:latin typeface="Arial" panose="020B0604020202020204" pitchFamily="34" charset="0"/>
              </a:rPr>
              <a:t>Обязанности стропальщика</a:t>
            </a:r>
          </a:p>
          <a:p>
            <a:pPr>
              <a:spcAft>
                <a:spcPts val="800"/>
              </a:spcAft>
            </a:pPr>
            <a:r>
              <a:rPr lang="ru-RU" sz="1500" b="1">
                <a:solidFill>
                  <a:srgbClr val="0038B8"/>
                </a:solidFill>
                <a:latin typeface="Arial" panose="020B0604020202020204" pitchFamily="34" charset="0"/>
              </a:rPr>
              <a:t>Сигнализация</a:t>
            </a:r>
          </a:p>
          <a:p>
            <a:pPr>
              <a:spcAft>
                <a:spcPts val="800"/>
              </a:spcAft>
            </a:pPr>
            <a:r>
              <a:rPr lang="ru-RU" sz="1500" b="1">
                <a:solidFill>
                  <a:srgbClr val="0038B8"/>
                </a:solidFill>
                <a:latin typeface="Arial" panose="020B0604020202020204" pitchFamily="34" charset="0"/>
              </a:rPr>
              <a:t>Сопровождение груза</a:t>
            </a:r>
          </a:p>
          <a:p>
            <a:pPr>
              <a:spcAft>
                <a:spcPts val="800"/>
              </a:spcAft>
            </a:pPr>
            <a:r>
              <a:rPr lang="ru-RU" sz="1500" b="1">
                <a:solidFill>
                  <a:srgbClr val="0038B8"/>
                </a:solidFill>
                <a:latin typeface="Arial" panose="020B0604020202020204" pitchFamily="34" charset="0"/>
              </a:rPr>
              <a:t>Складирование и расстроповка</a:t>
            </a:r>
            <a:endParaRPr sz="1500" b="1" dirty="0">
              <a:solidFill>
                <a:srgbClr val="0038B8"/>
              </a:solidFill>
              <a:latin typeface="Arial" panose="020B0604020202020204" pitchFamily="34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559552" y="1828800"/>
            <a:ext cx="5449824" cy="3913632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742432" y="2688336"/>
            <a:ext cx="5084064" cy="1705082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r>
              <a:rPr lang="ru-RU" sz="1120">
                <a:solidFill>
                  <a:srgbClr val="111111"/>
                </a:solidFill>
                <a:latin typeface="Arial" panose="020B0604020202020204" pitchFamily="34" charset="0"/>
              </a:rPr>
              <a:t>Подготовка к работе: слайды S031-S032</a:t>
            </a:r>
          </a:p>
          <a:p>
            <a:endParaRPr lang="ru-RU" sz="1120">
              <a:solidFill>
                <a:srgbClr val="111111"/>
              </a:solidFill>
              <a:latin typeface="Arial" panose="020B0604020202020204" pitchFamily="34" charset="0"/>
            </a:endParaRPr>
          </a:p>
          <a:p>
            <a:r>
              <a:rPr lang="ru-RU" sz="1120">
                <a:solidFill>
                  <a:srgbClr val="111111"/>
                </a:solidFill>
                <a:latin typeface="Arial" panose="020B0604020202020204" pitchFamily="34" charset="0"/>
              </a:rPr>
              <a:t>Обязанности стропальщика: слайды S033-S034</a:t>
            </a:r>
          </a:p>
          <a:p>
            <a:endParaRPr lang="ru-RU" sz="1120">
              <a:solidFill>
                <a:srgbClr val="111111"/>
              </a:solidFill>
              <a:latin typeface="Arial" panose="020B0604020202020204" pitchFamily="34" charset="0"/>
            </a:endParaRPr>
          </a:p>
          <a:p>
            <a:r>
              <a:rPr lang="ru-RU" sz="1120">
                <a:solidFill>
                  <a:srgbClr val="111111"/>
                </a:solidFill>
                <a:latin typeface="Arial" panose="020B0604020202020204" pitchFamily="34" charset="0"/>
              </a:rPr>
              <a:t>Сигнализация: слайды S035-S036</a:t>
            </a:r>
          </a:p>
          <a:p>
            <a:endParaRPr lang="ru-RU" sz="1120">
              <a:solidFill>
                <a:srgbClr val="111111"/>
              </a:solidFill>
              <a:latin typeface="Arial" panose="020B0604020202020204" pitchFamily="34" charset="0"/>
            </a:endParaRPr>
          </a:p>
          <a:p>
            <a:r>
              <a:rPr lang="ru-RU" sz="1120">
                <a:solidFill>
                  <a:srgbClr val="111111"/>
                </a:solidFill>
                <a:latin typeface="Arial" panose="020B0604020202020204" pitchFamily="34" charset="0"/>
              </a:rPr>
              <a:t>Сопровождение груза: слайды S037-S038</a:t>
            </a:r>
          </a:p>
          <a:p>
            <a:endParaRPr lang="ru-RU" sz="1120">
              <a:solidFill>
                <a:srgbClr val="111111"/>
              </a:solidFill>
              <a:latin typeface="Arial" panose="020B0604020202020204" pitchFamily="34" charset="0"/>
            </a:endParaRPr>
          </a:p>
          <a:p>
            <a:r>
              <a:rPr lang="ru-RU" sz="1120">
                <a:solidFill>
                  <a:srgbClr val="111111"/>
                </a:solidFill>
                <a:latin typeface="Arial" panose="020B0604020202020204" pitchFamily="34" charset="0"/>
              </a:rPr>
              <a:t>Складирование и расстроповка: слайды S039-S040</a:t>
            </a:r>
            <a:endParaRPr sz="1120" dirty="0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76656" y="5989320"/>
            <a:ext cx="16916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/>
            <a:r>
              <a:rPr lang="ru-RU" sz="1200" b="1">
                <a:solidFill>
                  <a:srgbClr val="4B5563"/>
                </a:solidFill>
                <a:latin typeface="Arial"/>
              </a:rPr>
              <a:t>Назад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47B5600D-ABEB-7396-BEFC-CB9060117184}"/>
              </a:ext>
            </a:extLst>
          </p:cNvPr>
          <p:cNvSpPr/>
          <p:nvPr/>
        </p:nvSpPr>
        <p:spPr>
          <a:xfrm>
            <a:off x="9281160" y="5989320"/>
            <a:ext cx="1901952" cy="347472"/>
          </a:xfrm>
          <a:prstGeom prst="round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/>
            <a:r>
              <a:rPr lang="ru-RU" sz="1200" b="1">
                <a:solidFill>
                  <a:srgbClr val="FFFFFF"/>
                </a:solidFill>
                <a:latin typeface="Arial"/>
              </a:rPr>
              <a:t>Далее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" y="676656"/>
            <a:ext cx="1024128" cy="45720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76656" y="1828800"/>
            <a:ext cx="466344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86384" y="1920240"/>
            <a:ext cx="777240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850" b="1">
                <a:solidFill>
                  <a:srgbClr val="0038B8"/>
                </a:solidFill>
                <a:latin typeface="Arial"/>
              </a:rPr>
              <a:t>Шаг 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15968" y="1920240"/>
            <a:ext cx="91440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850" b="1">
                <a:solidFill>
                  <a:srgbClr val="4B5563"/>
                </a:solidFill>
                <a:latin typeface="Arial"/>
              </a:rPr>
              <a:t>Опора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59552" y="1828800"/>
            <a:ext cx="5449824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669280" y="1920240"/>
            <a:ext cx="868680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850" b="1">
                <a:solidFill>
                  <a:srgbClr val="0038B8"/>
                </a:solidFill>
                <a:latin typeface="Arial"/>
              </a:rPr>
              <a:t>S030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38544" y="1920240"/>
            <a:ext cx="77724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850" b="1">
                <a:solidFill>
                  <a:srgbClr val="4B5563"/>
                </a:solidFill>
                <a:latin typeface="Arial"/>
              </a:rPr>
              <a:t>Шаг 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85248" y="1920240"/>
            <a:ext cx="914400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850" b="1">
                <a:solidFill>
                  <a:srgbClr val="0038B8"/>
                </a:solidFill>
                <a:latin typeface="Arial"/>
              </a:rPr>
              <a:t>Опора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2176272"/>
            <a:ext cx="5230368" cy="338554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r>
              <a:rPr lang="ru-RU" sz="1200" b="1">
                <a:solidFill>
                  <a:srgbClr val="111111"/>
                </a:solidFill>
                <a:latin typeface="Arial" panose="020B0604020202020204" pitchFamily="34" charset="0"/>
              </a:rPr>
              <a:t>Структура темы</a:t>
            </a:r>
            <a:endParaRPr sz="12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99097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74320"/>
            <a:ext cx="1325880" cy="384048"/>
          </a:xfrm>
          <a:prstGeom prst="rect">
            <a:avLst/>
          </a:prstGeom>
          <a:noFill/>
        </p:spPr>
        <p:txBody>
          <a:bodyPr wrap="none" lIns="101600" tIns="76200" rIns="101600" bIns="76200">
            <a:spAutoFit/>
          </a:bodyPr>
          <a:lstStyle/>
          <a:p>
            <a:pPr algn="l"/>
            <a:r>
              <a:rPr sz="1000" b="1">
                <a:solidFill>
                  <a:srgbClr val="111111"/>
                </a:solidFill>
                <a:latin typeface="Arial"/>
              </a:rPr>
              <a:t>Тема 2.2</a:t>
            </a:r>
          </a:p>
          <a:p>
            <a:pPr algn="l"/>
            <a:r>
              <a:rPr sz="1000" b="1">
                <a:solidFill>
                  <a:srgbClr val="111111"/>
                </a:solidFill>
                <a:latin typeface="Arial"/>
              </a:rPr>
              <a:t>Технология работы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04120" y="310896"/>
            <a:ext cx="1051560" cy="310896"/>
          </a:xfrm>
          <a:prstGeom prst="round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1600" tIns="76200" rIns="101600" bIns="7620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rial"/>
              </a:rPr>
              <a:t>S031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5216" y="850392"/>
            <a:ext cx="5669280" cy="523220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r>
              <a:rPr lang="ru-RU" sz="2400" b="1">
                <a:solidFill>
                  <a:srgbClr val="111111"/>
                </a:solidFill>
                <a:latin typeface="Arial" panose="020B0604020202020204" pitchFamily="34" charset="0"/>
              </a:rPr>
              <a:t>Подготовка к работе</a:t>
            </a:r>
            <a:endParaRPr sz="24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001768" y="1865376"/>
            <a:ext cx="6181344" cy="3913632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Rounded Rectangle 10"/>
          <p:cNvSpPr/>
          <p:nvPr/>
        </p:nvSpPr>
        <p:spPr>
          <a:xfrm>
            <a:off x="676656" y="5989320"/>
            <a:ext cx="16916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/>
            <a:r>
              <a:rPr lang="ru-RU" sz="1200" b="1">
                <a:solidFill>
                  <a:srgbClr val="4B5563"/>
                </a:solidFill>
                <a:latin typeface="Arial"/>
              </a:rPr>
              <a:t>Назад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47B5600D-ABEB-7396-BEFC-CB9060117184}"/>
              </a:ext>
            </a:extLst>
          </p:cNvPr>
          <p:cNvSpPr/>
          <p:nvPr/>
        </p:nvSpPr>
        <p:spPr>
          <a:xfrm>
            <a:off x="9281160" y="5989320"/>
            <a:ext cx="1901952" cy="347472"/>
          </a:xfrm>
          <a:prstGeom prst="round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/>
            <a:r>
              <a:rPr lang="ru-RU" sz="1200" b="1">
                <a:solidFill>
                  <a:srgbClr val="FFFFFF"/>
                </a:solidFill>
                <a:latin typeface="Arial"/>
              </a:rPr>
              <a:t>Далее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" y="676656"/>
            <a:ext cx="1024128" cy="45720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86384" y="1920240"/>
            <a:ext cx="777240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850" b="1">
                <a:solidFill>
                  <a:srgbClr val="0038B8"/>
                </a:solidFill>
                <a:latin typeface="Arial"/>
              </a:rPr>
              <a:t>Шаг 01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21608" y="1920240"/>
            <a:ext cx="91440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850" b="1">
                <a:solidFill>
                  <a:srgbClr val="4B5563"/>
                </a:solidFill>
                <a:latin typeface="Arial"/>
              </a:rPr>
              <a:t>Контроль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93208" y="1920240"/>
            <a:ext cx="868680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850" b="1">
                <a:solidFill>
                  <a:srgbClr val="0038B8"/>
                </a:solidFill>
                <a:latin typeface="Arial"/>
              </a:rPr>
              <a:t>S031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62472" y="1920240"/>
            <a:ext cx="77724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850" b="1">
                <a:solidFill>
                  <a:srgbClr val="4B5563"/>
                </a:solidFill>
                <a:latin typeface="Arial"/>
              </a:rPr>
              <a:t>Шаг 01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140696" y="1920240"/>
            <a:ext cx="914400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850" b="1">
                <a:solidFill>
                  <a:srgbClr val="0038B8"/>
                </a:solidFill>
                <a:latin typeface="Arial"/>
              </a:rPr>
              <a:t>Контроль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93208" y="2176272"/>
            <a:ext cx="5961888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 dirty="0" err="1">
                <a:solidFill>
                  <a:srgbClr val="111111"/>
                </a:solidFill>
                <a:latin typeface="Arial"/>
              </a:rPr>
              <a:t>Памятка</a:t>
            </a:r>
            <a:r>
              <a:rPr sz="1300" b="1" dirty="0">
                <a:solidFill>
                  <a:srgbClr val="111111"/>
                </a:solidFill>
                <a:latin typeface="Arial"/>
              </a:rPr>
              <a:t> и </a:t>
            </a:r>
            <a:r>
              <a:rPr sz="1300" b="1" dirty="0" err="1">
                <a:solidFill>
                  <a:srgbClr val="111111"/>
                </a:solidFill>
                <a:latin typeface="Arial"/>
              </a:rPr>
              <a:t>схема</a:t>
            </a:r>
            <a:endParaRPr sz="1300" b="1" dirty="0">
              <a:solidFill>
                <a:srgbClr val="111111"/>
              </a:solidFill>
              <a:latin typeface="Arial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148072" y="5303520"/>
            <a:ext cx="5852160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1A88E7-B59F-1E2B-3492-3A579B025CBC}"/>
              </a:ext>
            </a:extLst>
          </p:cNvPr>
          <p:cNvSpPr txBox="1"/>
          <p:nvPr/>
        </p:nvSpPr>
        <p:spPr>
          <a:xfrm>
            <a:off x="6095847" y="3314700"/>
            <a:ext cx="40690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Вставляем </a:t>
            </a:r>
            <a:r>
              <a:rPr lang="ru-RU" dirty="0" err="1"/>
              <a:t>слайдшоу</a:t>
            </a:r>
            <a:r>
              <a:rPr lang="ru-RU" dirty="0"/>
              <a:t> с озвучкой. Последовательность так как указано по пунктам в подвале </a:t>
            </a:r>
            <a:r>
              <a:rPr lang="en-US" dirty="0"/>
              <a:t>S031-P01</a:t>
            </a:r>
            <a:endParaRPr lang="ru-RU" dirty="0"/>
          </a:p>
        </p:txBody>
      </p:sp>
      <p:sp>
        <p:nvSpPr>
          <p:cNvPr id="10" name="Codex_S031_Card1_panel">
            <a:hlinkClick r:id="rId2" action="ppaction://hlinksldjump"/>
            <a:extLst>
              <a:ext uri="{FF2B5EF4-FFF2-40B4-BE49-F238E27FC236}">
                <a16:creationId xmlns:a16="http://schemas.microsoft.com/office/drawing/2014/main" id="{23E1CB7D-F2C4-D3E9-49D6-3B165F9A59BE}"/>
              </a:ext>
            </a:extLst>
          </p:cNvPr>
          <p:cNvSpPr/>
          <p:nvPr/>
        </p:nvSpPr>
        <p:spPr>
          <a:xfrm>
            <a:off x="676910" y="2006600"/>
            <a:ext cx="4069080" cy="584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Codex_S031_Card1_strip">
            <a:hlinkClick r:id="rId2" action="ppaction://hlinksldjump"/>
            <a:extLst>
              <a:ext uri="{FF2B5EF4-FFF2-40B4-BE49-F238E27FC236}">
                <a16:creationId xmlns:a16="http://schemas.microsoft.com/office/drawing/2014/main" id="{B1DA29FD-0153-C7DE-44F3-E8F18A2180D5}"/>
              </a:ext>
            </a:extLst>
          </p:cNvPr>
          <p:cNvSpPr/>
          <p:nvPr/>
        </p:nvSpPr>
        <p:spPr>
          <a:xfrm>
            <a:off x="778510" y="2082800"/>
            <a:ext cx="3865880" cy="38100"/>
          </a:xfrm>
          <a:prstGeom prst="rect">
            <a:avLst/>
          </a:prstGeom>
          <a:solidFill>
            <a:srgbClr val="0038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Codex_S031_Card1_text">
            <a:hlinkClick r:id="rId2" action="ppaction://hlinksldjump"/>
            <a:extLst>
              <a:ext uri="{FF2B5EF4-FFF2-40B4-BE49-F238E27FC236}">
                <a16:creationId xmlns:a16="http://schemas.microsoft.com/office/drawing/2014/main" id="{F4C1FF9B-1701-C03A-9781-F97AFB574837}"/>
              </a:ext>
            </a:extLst>
          </p:cNvPr>
          <p:cNvSpPr txBox="1"/>
          <p:nvPr/>
        </p:nvSpPr>
        <p:spPr>
          <a:xfrm>
            <a:off x="829310" y="2146300"/>
            <a:ext cx="3764280" cy="341632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ru-RU" sz="1220" b="1">
                <a:solidFill>
                  <a:srgbClr val="111111"/>
                </a:solidFill>
                <a:latin typeface="Arial" panose="020B0604020202020204" pitchFamily="34" charset="0"/>
              </a:rPr>
              <a:t>Уточни задание</a:t>
            </a:r>
          </a:p>
        </p:txBody>
      </p:sp>
      <p:sp>
        <p:nvSpPr>
          <p:cNvPr id="26" name="Codex_S031_Card2_panel">
            <a:hlinkClick r:id="rId3" action="ppaction://hlinksldjump"/>
            <a:extLst>
              <a:ext uri="{FF2B5EF4-FFF2-40B4-BE49-F238E27FC236}">
                <a16:creationId xmlns:a16="http://schemas.microsoft.com/office/drawing/2014/main" id="{7B8500BC-049C-793A-8D43-F343BD85F1E2}"/>
              </a:ext>
            </a:extLst>
          </p:cNvPr>
          <p:cNvSpPr/>
          <p:nvPr/>
        </p:nvSpPr>
        <p:spPr>
          <a:xfrm>
            <a:off x="676910" y="2730500"/>
            <a:ext cx="4069080" cy="584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Codex_S031_Card2_strip">
            <a:hlinkClick r:id="rId3" action="ppaction://hlinksldjump"/>
            <a:extLst>
              <a:ext uri="{FF2B5EF4-FFF2-40B4-BE49-F238E27FC236}">
                <a16:creationId xmlns:a16="http://schemas.microsoft.com/office/drawing/2014/main" id="{601EC75B-9232-3186-90D2-850970B4E5F5}"/>
              </a:ext>
            </a:extLst>
          </p:cNvPr>
          <p:cNvSpPr/>
          <p:nvPr/>
        </p:nvSpPr>
        <p:spPr>
          <a:xfrm>
            <a:off x="778510" y="2806700"/>
            <a:ext cx="3865880" cy="38100"/>
          </a:xfrm>
          <a:prstGeom prst="rect">
            <a:avLst/>
          </a:prstGeom>
          <a:solidFill>
            <a:srgbClr val="0038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Codex_S031_Card2_text">
            <a:hlinkClick r:id="rId3" action="ppaction://hlinksldjump"/>
            <a:extLst>
              <a:ext uri="{FF2B5EF4-FFF2-40B4-BE49-F238E27FC236}">
                <a16:creationId xmlns:a16="http://schemas.microsoft.com/office/drawing/2014/main" id="{95339B28-F689-69D3-95C8-4275751BE470}"/>
              </a:ext>
            </a:extLst>
          </p:cNvPr>
          <p:cNvSpPr txBox="1"/>
          <p:nvPr/>
        </p:nvSpPr>
        <p:spPr>
          <a:xfrm>
            <a:off x="829310" y="2870200"/>
            <a:ext cx="3764280" cy="341632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ru-RU" sz="1220" b="1">
                <a:solidFill>
                  <a:srgbClr val="111111"/>
                </a:solidFill>
                <a:latin typeface="Arial" panose="020B0604020202020204" pitchFamily="34" charset="0"/>
              </a:rPr>
              <a:t>Проверь массу и характер груза</a:t>
            </a:r>
          </a:p>
        </p:txBody>
      </p:sp>
      <p:sp>
        <p:nvSpPr>
          <p:cNvPr id="29" name="Codex_S031_Card3_panel">
            <a:hlinkClick r:id="rId4" action="ppaction://hlinksldjump"/>
            <a:extLst>
              <a:ext uri="{FF2B5EF4-FFF2-40B4-BE49-F238E27FC236}">
                <a16:creationId xmlns:a16="http://schemas.microsoft.com/office/drawing/2014/main" id="{2ACBC2A8-0910-3578-DC76-90E61B6BDE3E}"/>
              </a:ext>
            </a:extLst>
          </p:cNvPr>
          <p:cNvSpPr/>
          <p:nvPr/>
        </p:nvSpPr>
        <p:spPr>
          <a:xfrm>
            <a:off x="676910" y="3454400"/>
            <a:ext cx="4069080" cy="584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Codex_S031_Card3_strip">
            <a:hlinkClick r:id="rId4" action="ppaction://hlinksldjump"/>
            <a:extLst>
              <a:ext uri="{FF2B5EF4-FFF2-40B4-BE49-F238E27FC236}">
                <a16:creationId xmlns:a16="http://schemas.microsoft.com/office/drawing/2014/main" id="{7E295E11-C4C7-0494-5695-A1E77EBE39BA}"/>
              </a:ext>
            </a:extLst>
          </p:cNvPr>
          <p:cNvSpPr/>
          <p:nvPr/>
        </p:nvSpPr>
        <p:spPr>
          <a:xfrm>
            <a:off x="778510" y="3530600"/>
            <a:ext cx="3865880" cy="38100"/>
          </a:xfrm>
          <a:prstGeom prst="rect">
            <a:avLst/>
          </a:prstGeom>
          <a:solidFill>
            <a:srgbClr val="0038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Codex_S031_Card3_text">
            <a:hlinkClick r:id="rId4" action="ppaction://hlinksldjump"/>
            <a:extLst>
              <a:ext uri="{FF2B5EF4-FFF2-40B4-BE49-F238E27FC236}">
                <a16:creationId xmlns:a16="http://schemas.microsoft.com/office/drawing/2014/main" id="{431FF1DD-2582-6EA6-0FC7-BF695F54C9AF}"/>
              </a:ext>
            </a:extLst>
          </p:cNvPr>
          <p:cNvSpPr txBox="1"/>
          <p:nvPr/>
        </p:nvSpPr>
        <p:spPr>
          <a:xfrm>
            <a:off x="829310" y="3594100"/>
            <a:ext cx="3764280" cy="341632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ru-RU" sz="1220" b="1">
                <a:solidFill>
                  <a:srgbClr val="111111"/>
                </a:solidFill>
                <a:latin typeface="Arial" panose="020B0604020202020204" pitchFamily="34" charset="0"/>
              </a:rPr>
              <a:t>Проверь место работы</a:t>
            </a:r>
          </a:p>
        </p:txBody>
      </p:sp>
      <p:sp>
        <p:nvSpPr>
          <p:cNvPr id="32" name="Codex_S031_Card4_panel">
            <a:hlinkClick r:id="rId5" action="ppaction://hlinksldjump"/>
            <a:extLst>
              <a:ext uri="{FF2B5EF4-FFF2-40B4-BE49-F238E27FC236}">
                <a16:creationId xmlns:a16="http://schemas.microsoft.com/office/drawing/2014/main" id="{C55B7949-2AE6-F73B-7640-F2F2760C5706}"/>
              </a:ext>
            </a:extLst>
          </p:cNvPr>
          <p:cNvSpPr/>
          <p:nvPr/>
        </p:nvSpPr>
        <p:spPr>
          <a:xfrm>
            <a:off x="676910" y="4178300"/>
            <a:ext cx="4069080" cy="584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Codex_S031_Card4_strip">
            <a:hlinkClick r:id="rId5" action="ppaction://hlinksldjump"/>
            <a:extLst>
              <a:ext uri="{FF2B5EF4-FFF2-40B4-BE49-F238E27FC236}">
                <a16:creationId xmlns:a16="http://schemas.microsoft.com/office/drawing/2014/main" id="{C6E9A7E1-7AAA-949D-113E-F1D5FD1B975E}"/>
              </a:ext>
            </a:extLst>
          </p:cNvPr>
          <p:cNvSpPr/>
          <p:nvPr/>
        </p:nvSpPr>
        <p:spPr>
          <a:xfrm>
            <a:off x="778510" y="4254500"/>
            <a:ext cx="3865880" cy="38100"/>
          </a:xfrm>
          <a:prstGeom prst="rect">
            <a:avLst/>
          </a:prstGeom>
          <a:solidFill>
            <a:srgbClr val="0038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Codex_S031_Card4_text">
            <a:hlinkClick r:id="rId5" action="ppaction://hlinksldjump"/>
            <a:extLst>
              <a:ext uri="{FF2B5EF4-FFF2-40B4-BE49-F238E27FC236}">
                <a16:creationId xmlns:a16="http://schemas.microsoft.com/office/drawing/2014/main" id="{5FA154BB-09C8-4F9B-DBD6-30C23514440E}"/>
              </a:ext>
            </a:extLst>
          </p:cNvPr>
          <p:cNvSpPr txBox="1"/>
          <p:nvPr/>
        </p:nvSpPr>
        <p:spPr>
          <a:xfrm>
            <a:off x="829310" y="4318000"/>
            <a:ext cx="3764280" cy="341632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ru-RU" sz="1220" b="1">
                <a:solidFill>
                  <a:srgbClr val="111111"/>
                </a:solidFill>
                <a:latin typeface="Arial" panose="020B0604020202020204" pitchFamily="34" charset="0"/>
              </a:rPr>
              <a:t>Проверь схемы и таблицы</a:t>
            </a:r>
          </a:p>
        </p:txBody>
      </p:sp>
      <p:sp>
        <p:nvSpPr>
          <p:cNvPr id="35" name="Codex_S031_Card5_panel">
            <a:hlinkClick r:id="rId6" action="ppaction://hlinksldjump"/>
            <a:extLst>
              <a:ext uri="{FF2B5EF4-FFF2-40B4-BE49-F238E27FC236}">
                <a16:creationId xmlns:a16="http://schemas.microsoft.com/office/drawing/2014/main" id="{4135CA38-BBB8-8013-A458-58DE0E0E698F}"/>
              </a:ext>
            </a:extLst>
          </p:cNvPr>
          <p:cNvSpPr/>
          <p:nvPr/>
        </p:nvSpPr>
        <p:spPr>
          <a:xfrm>
            <a:off x="676910" y="4902200"/>
            <a:ext cx="4069080" cy="584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Codex_S031_Card5_strip">
            <a:hlinkClick r:id="rId6" action="ppaction://hlinksldjump"/>
            <a:extLst>
              <a:ext uri="{FF2B5EF4-FFF2-40B4-BE49-F238E27FC236}">
                <a16:creationId xmlns:a16="http://schemas.microsoft.com/office/drawing/2014/main" id="{E9BF7C5B-319F-9094-9DE0-1F4510226F04}"/>
              </a:ext>
            </a:extLst>
          </p:cNvPr>
          <p:cNvSpPr/>
          <p:nvPr/>
        </p:nvSpPr>
        <p:spPr>
          <a:xfrm>
            <a:off x="778510" y="4978400"/>
            <a:ext cx="3865880" cy="38100"/>
          </a:xfrm>
          <a:prstGeom prst="rect">
            <a:avLst/>
          </a:prstGeom>
          <a:solidFill>
            <a:srgbClr val="0038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Codex_S031_Card5_text">
            <a:hlinkClick r:id="rId6" action="ppaction://hlinksldjump"/>
            <a:extLst>
              <a:ext uri="{FF2B5EF4-FFF2-40B4-BE49-F238E27FC236}">
                <a16:creationId xmlns:a16="http://schemas.microsoft.com/office/drawing/2014/main" id="{04B759A9-5DCA-AD63-D530-590E8650E859}"/>
              </a:ext>
            </a:extLst>
          </p:cNvPr>
          <p:cNvSpPr txBox="1"/>
          <p:nvPr/>
        </p:nvSpPr>
        <p:spPr>
          <a:xfrm>
            <a:off x="829310" y="5041900"/>
            <a:ext cx="3764280" cy="341632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ru-RU" sz="1220" b="1">
                <a:solidFill>
                  <a:srgbClr val="111111"/>
                </a:solidFill>
                <a:latin typeface="Arial" panose="020B0604020202020204" pitchFamily="34" charset="0"/>
              </a:rPr>
              <a:t>Осмотри приспособления и тару</a:t>
            </a:r>
          </a:p>
        </p:txBody>
      </p:sp>
    </p:spTree>
    <p:extLst>
      <p:ext uri="{BB962C8B-B14F-4D97-AF65-F5344CB8AC3E}">
        <p14:creationId xmlns:p14="http://schemas.microsoft.com/office/powerpoint/2010/main" val="7111486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74320"/>
            <a:ext cx="1325880" cy="384048"/>
          </a:xfrm>
          <a:prstGeom prst="rect">
            <a:avLst/>
          </a:prstGeom>
          <a:noFill/>
        </p:spPr>
        <p:txBody>
          <a:bodyPr wrap="none" lIns="101600" tIns="76200" rIns="101600" bIns="76200">
            <a:spAutoFit/>
          </a:bodyPr>
          <a:lstStyle/>
          <a:p>
            <a:pPr algn="l"/>
            <a:r>
              <a:rPr sz="1000" b="1">
                <a:solidFill>
                  <a:srgbClr val="111111"/>
                </a:solidFill>
                <a:latin typeface="Arial"/>
              </a:rPr>
              <a:t>Тема 2.2</a:t>
            </a:r>
          </a:p>
          <a:p>
            <a:pPr algn="l"/>
            <a:r>
              <a:rPr sz="1000" b="1">
                <a:solidFill>
                  <a:srgbClr val="111111"/>
                </a:solidFill>
                <a:latin typeface="Arial"/>
              </a:rPr>
              <a:t>Технология работы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48672" y="310896"/>
            <a:ext cx="1207008" cy="310896"/>
          </a:xfrm>
          <a:prstGeom prst="round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1600" tIns="76200" rIns="101600" bIns="76200"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rial"/>
              </a:rPr>
              <a:t>S031-P01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5216" y="850392"/>
            <a:ext cx="5669280" cy="731520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 algn="l"/>
            <a:r>
              <a:rPr lang="ru-RU" sz="2400" b="1">
                <a:solidFill>
                  <a:srgbClr val="111111"/>
                </a:solidFill>
                <a:latin typeface="Arial"/>
              </a:rPr>
              <a:t>Подвал. Что должно быть до начала работ</a:t>
            </a:r>
            <a:endParaRPr>
              <a:solidFill>
                <a:srgbClr val="6E7A86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76910" y="1828800"/>
            <a:ext cx="10487660" cy="3914140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460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>
            <a:hlinkClick r:id="rId2" action="ppaction://hlinksldjump"/>
          </p:cNvPr>
          <p:cNvSpPr/>
          <p:nvPr/>
        </p:nvSpPr>
        <p:spPr>
          <a:xfrm>
            <a:off x="676656" y="5989320"/>
            <a:ext cx="16916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/>
            <a:r>
              <a:rPr lang="ru-RU" sz="1200" b="1">
                <a:solidFill>
                  <a:srgbClr val="4B5563"/>
                </a:solidFill>
                <a:latin typeface="Arial"/>
              </a:rPr>
              <a:t>Назад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12" name="Прямоугольник: скругленные углы 11">
            <a:hlinkClick r:id="rId3" action="ppaction://hlinksldjump"/>
            <a:extLst>
              <a:ext uri="{FF2B5EF4-FFF2-40B4-BE49-F238E27FC236}">
                <a16:creationId xmlns:a16="http://schemas.microsoft.com/office/drawing/2014/main" id="{47B5600D-ABEB-7396-BEFC-CB9060117184}"/>
              </a:ext>
            </a:extLst>
          </p:cNvPr>
          <p:cNvSpPr/>
          <p:nvPr/>
        </p:nvSpPr>
        <p:spPr>
          <a:xfrm>
            <a:off x="9281160" y="5989320"/>
            <a:ext cx="1901952" cy="347472"/>
          </a:xfrm>
          <a:prstGeom prst="round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/>
            <a:r>
              <a:rPr lang="ru-RU" sz="1200" b="1">
                <a:solidFill>
                  <a:srgbClr val="FFFFFF"/>
                </a:solidFill>
                <a:latin typeface="Arial"/>
              </a:rPr>
              <a:t>Далее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" y="676656"/>
            <a:ext cx="1024128" cy="45720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76910" y="1828800"/>
            <a:ext cx="10487660" cy="36830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86384" y="1920240"/>
            <a:ext cx="777240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850" b="1">
                <a:solidFill>
                  <a:srgbClr val="0038B8"/>
                </a:solidFill>
                <a:latin typeface="Arial"/>
              </a:rPr>
              <a:t>Шаг 01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21608" y="1920240"/>
            <a:ext cx="91440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850" b="1">
                <a:solidFill>
                  <a:srgbClr val="4B5563"/>
                </a:solidFill>
                <a:latin typeface="Arial"/>
              </a:rPr>
              <a:t>Опора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93208" y="1920240"/>
            <a:ext cx="1024128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850" b="1">
                <a:solidFill>
                  <a:srgbClr val="0038B8"/>
                </a:solidFill>
                <a:latin typeface="Arial"/>
              </a:rPr>
              <a:t>S031-P01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920240"/>
            <a:ext cx="77724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850" b="1">
                <a:solidFill>
                  <a:srgbClr val="4B5563"/>
                </a:solidFill>
                <a:latin typeface="Arial"/>
              </a:rPr>
              <a:t>Шаг 01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140696" y="1920240"/>
            <a:ext cx="914400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850" b="1">
                <a:solidFill>
                  <a:srgbClr val="0038B8"/>
                </a:solidFill>
                <a:latin typeface="Arial"/>
              </a:rPr>
              <a:t>Опора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6B51D7-9970-D187-0403-565B4CF7DF5F}"/>
              </a:ext>
            </a:extLst>
          </p:cNvPr>
          <p:cNvSpPr txBox="1"/>
          <p:nvPr/>
        </p:nvSpPr>
        <p:spPr>
          <a:xfrm>
            <a:off x="901700" y="2324100"/>
            <a:ext cx="10033000" cy="3764107"/>
          </a:xfrm>
          <a:prstGeom prst="rect">
            <a:avLst/>
          </a:prstGeom>
          <a:noFill/>
        </p:spPr>
        <p:txBody>
          <a:bodyPr vert="horz" wrap="square" lIns="101600" tIns="76200" rIns="101600" bIns="76200" numCol="2" spcCol="228600" rtlCol="0">
            <a:spAutoFit/>
          </a:bodyPr>
          <a:lstStyle/>
          <a:p>
            <a:r>
              <a:rPr lang="ru-RU" sz="1020" b="1" dirty="0">
                <a:solidFill>
                  <a:srgbClr val="0038B8"/>
                </a:solidFill>
                <a:latin typeface="Arial" panose="020B0604020202020204" pitchFamily="34" charset="0"/>
              </a:rPr>
              <a:t>Инструкция "Уточни задание перед началом работ"</a:t>
            </a:r>
          </a:p>
          <a:p>
            <a:endParaRPr lang="ru-RU" sz="1020" dirty="0">
              <a:solidFill>
                <a:srgbClr val="111111"/>
              </a:solidFill>
              <a:latin typeface="Arial" panose="020B0604020202020204" pitchFamily="34" charset="0"/>
            </a:endParaRPr>
          </a:p>
          <a:p>
            <a:r>
              <a:rPr lang="ru-RU" sz="1020" dirty="0">
                <a:solidFill>
                  <a:srgbClr val="111111"/>
                </a:solidFill>
                <a:latin typeface="Arial" panose="020B0604020202020204" pitchFamily="34" charset="0"/>
              </a:rPr>
              <a:t>Инструкция требует от работника получить четкие указания от лица, ответственного за безопасное производство работ (обычно это мастер или прораб).</a:t>
            </a:r>
          </a:p>
          <a:p>
            <a:endParaRPr lang="ru-RU" sz="1020" dirty="0">
              <a:solidFill>
                <a:srgbClr val="111111"/>
              </a:solidFill>
              <a:latin typeface="Arial" panose="020B0604020202020204" pitchFamily="34" charset="0"/>
            </a:endParaRPr>
          </a:p>
          <a:p>
            <a:r>
              <a:rPr lang="ru-RU" sz="1020" b="1" dirty="0">
                <a:solidFill>
                  <a:srgbClr val="0038B8"/>
                </a:solidFill>
                <a:latin typeface="Arial" panose="020B0604020202020204" pitchFamily="34" charset="0"/>
              </a:rPr>
              <a:t>Что входит в уточнение задания</a:t>
            </a:r>
          </a:p>
          <a:p>
            <a:r>
              <a:rPr lang="ru-RU" sz="1020" dirty="0">
                <a:solidFill>
                  <a:srgbClr val="111111"/>
                </a:solidFill>
                <a:latin typeface="Arial" panose="020B0604020202020204" pitchFamily="34" charset="0"/>
              </a:rPr>
              <a:t>• </a:t>
            </a:r>
            <a:r>
              <a:rPr lang="ru-RU" sz="1020" b="1" dirty="0">
                <a:solidFill>
                  <a:srgbClr val="111111"/>
                </a:solidFill>
                <a:latin typeface="Arial" panose="020B0604020202020204" pitchFamily="34" charset="0"/>
              </a:rPr>
              <a:t>Место проведения работ:</a:t>
            </a:r>
            <a:r>
              <a:rPr lang="ru-RU" sz="1020" dirty="0">
                <a:solidFill>
                  <a:srgbClr val="111111"/>
                </a:solidFill>
                <a:latin typeface="Arial" panose="020B0604020202020204" pitchFamily="34" charset="0"/>
              </a:rPr>
              <a:t> точная зона, где будут перемещать грузы.</a:t>
            </a:r>
          </a:p>
          <a:p>
            <a:r>
              <a:rPr lang="ru-RU" sz="1020" dirty="0">
                <a:solidFill>
                  <a:srgbClr val="111111"/>
                </a:solidFill>
                <a:latin typeface="Arial" panose="020B0604020202020204" pitchFamily="34" charset="0"/>
              </a:rPr>
              <a:t>• </a:t>
            </a:r>
            <a:r>
              <a:rPr lang="ru-RU" sz="1020" b="1" dirty="0">
                <a:solidFill>
                  <a:srgbClr val="111111"/>
                </a:solidFill>
                <a:latin typeface="Arial" panose="020B0604020202020204" pitchFamily="34" charset="0"/>
              </a:rPr>
              <a:t>Тип и масса груза:</a:t>
            </a:r>
            <a:r>
              <a:rPr lang="ru-RU" sz="1020" dirty="0">
                <a:solidFill>
                  <a:srgbClr val="111111"/>
                </a:solidFill>
                <a:latin typeface="Arial" panose="020B0604020202020204" pitchFamily="34" charset="0"/>
              </a:rPr>
              <a:t> стропальщик должен знать точный вес и характер груза.</a:t>
            </a:r>
          </a:p>
          <a:p>
            <a:r>
              <a:rPr lang="ru-RU" sz="1020" dirty="0">
                <a:solidFill>
                  <a:srgbClr val="111111"/>
                </a:solidFill>
                <a:latin typeface="Arial" panose="020B0604020202020204" pitchFamily="34" charset="0"/>
              </a:rPr>
              <a:t>• </a:t>
            </a:r>
            <a:r>
              <a:rPr lang="ru-RU" sz="1020" b="1" dirty="0">
                <a:solidFill>
                  <a:srgbClr val="111111"/>
                </a:solidFill>
                <a:latin typeface="Arial" panose="020B0604020202020204" pitchFamily="34" charset="0"/>
              </a:rPr>
              <a:t>Схема строповки:</a:t>
            </a:r>
            <a:r>
              <a:rPr lang="ru-RU" sz="1020" dirty="0">
                <a:solidFill>
                  <a:srgbClr val="111111"/>
                </a:solidFill>
                <a:latin typeface="Arial" panose="020B0604020202020204" pitchFamily="34" charset="0"/>
              </a:rPr>
              <a:t> способ обвязки или зацепки конкретного груза.</a:t>
            </a:r>
          </a:p>
          <a:p>
            <a:r>
              <a:rPr lang="ru-RU" sz="1020" dirty="0">
                <a:solidFill>
                  <a:srgbClr val="111111"/>
                </a:solidFill>
                <a:latin typeface="Arial" panose="020B0604020202020204" pitchFamily="34" charset="0"/>
              </a:rPr>
              <a:t>• </a:t>
            </a:r>
            <a:r>
              <a:rPr lang="ru-RU" sz="1020" b="1" dirty="0">
                <a:solidFill>
                  <a:srgbClr val="111111"/>
                </a:solidFill>
                <a:latin typeface="Arial" panose="020B0604020202020204" pitchFamily="34" charset="0"/>
              </a:rPr>
              <a:t>Выбор приспособлений:</a:t>
            </a:r>
            <a:r>
              <a:rPr lang="ru-RU" sz="1020" dirty="0">
                <a:solidFill>
                  <a:srgbClr val="111111"/>
                </a:solidFill>
                <a:latin typeface="Arial" panose="020B0604020202020204" pitchFamily="34" charset="0"/>
              </a:rPr>
              <a:t> типы и грузоподъемность необходимых строп, траверс или захватов.</a:t>
            </a:r>
          </a:p>
          <a:p>
            <a:r>
              <a:rPr lang="ru-RU" sz="1020" dirty="0">
                <a:solidFill>
                  <a:srgbClr val="111111"/>
                </a:solidFill>
                <a:latin typeface="Arial" panose="020B0604020202020204" pitchFamily="34" charset="0"/>
              </a:rPr>
              <a:t>• </a:t>
            </a:r>
            <a:r>
              <a:rPr lang="ru-RU" sz="1020" b="1" dirty="0">
                <a:solidFill>
                  <a:srgbClr val="111111"/>
                </a:solidFill>
                <a:latin typeface="Arial" panose="020B0604020202020204" pitchFamily="34" charset="0"/>
              </a:rPr>
              <a:t>Маршрут перемещения:</a:t>
            </a:r>
            <a:r>
              <a:rPr lang="ru-RU" sz="1020" dirty="0">
                <a:solidFill>
                  <a:srgbClr val="111111"/>
                </a:solidFill>
                <a:latin typeface="Arial" panose="020B0604020202020204" pitchFamily="34" charset="0"/>
              </a:rPr>
              <a:t> траектория движения груза и место его конечной укладки.</a:t>
            </a:r>
          </a:p>
          <a:p>
            <a:r>
              <a:rPr lang="ru-RU" sz="1020" dirty="0">
                <a:solidFill>
                  <a:srgbClr val="111111"/>
                </a:solidFill>
                <a:latin typeface="Arial" panose="020B0604020202020204" pitchFamily="34" charset="0"/>
              </a:rPr>
              <a:t>• </a:t>
            </a:r>
            <a:r>
              <a:rPr lang="ru-RU" sz="1020" b="1" dirty="0">
                <a:solidFill>
                  <a:srgbClr val="111111"/>
                </a:solidFill>
                <a:latin typeface="Arial" panose="020B0604020202020204" pitchFamily="34" charset="0"/>
              </a:rPr>
              <a:t>Опасные зоны:</a:t>
            </a:r>
            <a:r>
              <a:rPr lang="ru-RU" sz="1020" dirty="0">
                <a:solidFill>
                  <a:srgbClr val="111111"/>
                </a:solidFill>
                <a:latin typeface="Arial" panose="020B0604020202020204" pitchFamily="34" charset="0"/>
              </a:rPr>
              <a:t> наличие вблизи ЛЭП, котлованов, заборов или других препятствий.</a:t>
            </a:r>
          </a:p>
          <a:p>
            <a:r>
              <a:rPr lang="ru-RU" sz="1020" dirty="0">
                <a:solidFill>
                  <a:srgbClr val="111111"/>
                </a:solidFill>
                <a:latin typeface="Arial" panose="020B0604020202020204" pitchFamily="34" charset="0"/>
              </a:rPr>
              <a:t>• </a:t>
            </a:r>
            <a:r>
              <a:rPr lang="ru-RU" sz="1020" b="1" dirty="0">
                <a:solidFill>
                  <a:srgbClr val="111111"/>
                </a:solidFill>
                <a:latin typeface="Arial" panose="020B0604020202020204" pitchFamily="34" charset="0"/>
              </a:rPr>
              <a:t>Знаки сигнализации:</a:t>
            </a:r>
            <a:r>
              <a:rPr lang="ru-RU" sz="1020" dirty="0">
                <a:solidFill>
                  <a:srgbClr val="111111"/>
                </a:solidFill>
                <a:latin typeface="Arial" panose="020B0604020202020204" pitchFamily="34" charset="0"/>
              </a:rPr>
              <a:t> согласование порядка обмена сигналами с машинистом крана.</a:t>
            </a:r>
          </a:p>
          <a:p>
            <a:endParaRPr lang="ru-RU" sz="1020" dirty="0">
              <a:solidFill>
                <a:srgbClr val="111111"/>
              </a:solidFill>
              <a:latin typeface="Arial" panose="020B0604020202020204" pitchFamily="34" charset="0"/>
            </a:endParaRPr>
          </a:p>
          <a:p>
            <a:br>
              <a:rPr lang="ru-RU" sz="1020" b="1" dirty="0">
                <a:solidFill>
                  <a:srgbClr val="0038B8"/>
                </a:solidFill>
                <a:latin typeface="Arial" panose="020B0604020202020204" pitchFamily="34" charset="0"/>
              </a:rPr>
            </a:br>
            <a:br>
              <a:rPr lang="ru-RU" sz="1020" b="1" dirty="0">
                <a:solidFill>
                  <a:srgbClr val="0038B8"/>
                </a:solidFill>
                <a:latin typeface="Arial" panose="020B0604020202020204" pitchFamily="34" charset="0"/>
              </a:rPr>
            </a:br>
            <a:br>
              <a:rPr lang="ru-RU" sz="1020" b="1" dirty="0">
                <a:solidFill>
                  <a:srgbClr val="0038B8"/>
                </a:solidFill>
                <a:latin typeface="Arial" panose="020B0604020202020204" pitchFamily="34" charset="0"/>
              </a:rPr>
            </a:br>
            <a:br>
              <a:rPr lang="ru-RU" sz="1020" b="1" dirty="0">
                <a:solidFill>
                  <a:srgbClr val="0038B8"/>
                </a:solidFill>
                <a:latin typeface="Arial" panose="020B0604020202020204" pitchFamily="34" charset="0"/>
              </a:rPr>
            </a:br>
            <a:r>
              <a:rPr lang="ru-RU" sz="1020" b="1" dirty="0">
                <a:solidFill>
                  <a:srgbClr val="0038B8"/>
                </a:solidFill>
                <a:latin typeface="Arial" panose="020B0604020202020204" pitchFamily="34" charset="0"/>
              </a:rPr>
              <a:t>Порядок действий стропальщика перед стартом</a:t>
            </a:r>
          </a:p>
          <a:p>
            <a:endParaRPr lang="ru-RU" sz="1020" dirty="0">
              <a:solidFill>
                <a:srgbClr val="111111"/>
              </a:solidFill>
              <a:latin typeface="Arial" panose="020B0604020202020204" pitchFamily="34" charset="0"/>
            </a:endParaRPr>
          </a:p>
          <a:p>
            <a:r>
              <a:rPr lang="ru-RU" sz="1020" b="1" dirty="0">
                <a:solidFill>
                  <a:srgbClr val="111111"/>
                </a:solidFill>
                <a:latin typeface="Arial" panose="020B0604020202020204" pitchFamily="34" charset="0"/>
              </a:rPr>
              <a:t>1. Получить инструктаж:</a:t>
            </a:r>
            <a:r>
              <a:rPr lang="ru-RU" sz="1020" dirty="0">
                <a:solidFill>
                  <a:srgbClr val="111111"/>
                </a:solidFill>
                <a:latin typeface="Arial" panose="020B0604020202020204" pitchFamily="34" charset="0"/>
              </a:rPr>
              <a:t> выслушать задание от ответственного лица.</a:t>
            </a:r>
          </a:p>
          <a:p>
            <a:r>
              <a:rPr lang="ru-RU" sz="1020" b="1" dirty="0">
                <a:solidFill>
                  <a:srgbClr val="111111"/>
                </a:solidFill>
                <a:latin typeface="Arial" panose="020B0604020202020204" pitchFamily="34" charset="0"/>
              </a:rPr>
              <a:t>2. Проверить документацию:</a:t>
            </a:r>
            <a:r>
              <a:rPr lang="ru-RU" sz="1020" dirty="0">
                <a:solidFill>
                  <a:srgbClr val="111111"/>
                </a:solidFill>
                <a:latin typeface="Arial" panose="020B0604020202020204" pitchFamily="34" charset="0"/>
              </a:rPr>
              <a:t> ознакомиться с технологической картой или </a:t>
            </a:r>
            <a:br>
              <a:rPr lang="ru-RU" sz="1020" dirty="0">
                <a:solidFill>
                  <a:srgbClr val="111111"/>
                </a:solidFill>
                <a:latin typeface="Arial" panose="020B0604020202020204" pitchFamily="34" charset="0"/>
              </a:rPr>
            </a:br>
            <a:r>
              <a:rPr lang="ru-RU" sz="1020" dirty="0">
                <a:solidFill>
                  <a:srgbClr val="111111"/>
                </a:solidFill>
                <a:latin typeface="Arial" panose="020B0604020202020204" pitchFamily="34" charset="0"/>
              </a:rPr>
              <a:t>схемой строповки.</a:t>
            </a:r>
          </a:p>
          <a:p>
            <a:r>
              <a:rPr lang="ru-RU" sz="1020" b="1" dirty="0">
                <a:solidFill>
                  <a:srgbClr val="111111"/>
                </a:solidFill>
                <a:latin typeface="Arial" panose="020B0604020202020204" pitchFamily="34" charset="0"/>
              </a:rPr>
              <a:t>3. Подобрать СИЗ:</a:t>
            </a:r>
            <a:r>
              <a:rPr lang="ru-RU" sz="1020" dirty="0">
                <a:solidFill>
                  <a:srgbClr val="111111"/>
                </a:solidFill>
                <a:latin typeface="Arial" panose="020B0604020202020204" pitchFamily="34" charset="0"/>
              </a:rPr>
              <a:t> надеть каску, жилет, защитные перчатки и спецобувь.</a:t>
            </a:r>
          </a:p>
          <a:p>
            <a:r>
              <a:rPr lang="ru-RU" sz="1020" b="1" dirty="0">
                <a:solidFill>
                  <a:srgbClr val="111111"/>
                </a:solidFill>
                <a:latin typeface="Arial" panose="020B0604020202020204" pitchFamily="34" charset="0"/>
              </a:rPr>
              <a:t>4. Осмотреть инструмент:</a:t>
            </a:r>
            <a:r>
              <a:rPr lang="ru-RU" sz="1020" dirty="0">
                <a:solidFill>
                  <a:srgbClr val="111111"/>
                </a:solidFill>
                <a:latin typeface="Arial" panose="020B0604020202020204" pitchFamily="34" charset="0"/>
              </a:rPr>
              <a:t> проверить бирки и клейма на стропах, убедиться в отсутствии дефектов.</a:t>
            </a:r>
          </a:p>
          <a:p>
            <a:r>
              <a:rPr lang="ru-RU" sz="1020" b="1" dirty="0">
                <a:solidFill>
                  <a:srgbClr val="111111"/>
                </a:solidFill>
                <a:latin typeface="Arial" panose="020B0604020202020204" pitchFamily="34" charset="0"/>
              </a:rPr>
              <a:t>5. Оценить площадку:</a:t>
            </a:r>
            <a:r>
              <a:rPr lang="ru-RU" sz="1020" dirty="0">
                <a:solidFill>
                  <a:srgbClr val="111111"/>
                </a:solidFill>
                <a:latin typeface="Arial" panose="020B0604020202020204" pitchFamily="34" charset="0"/>
              </a:rPr>
              <a:t> проверить освещенность и отсутствие посторонних людей в зоне работы.</a:t>
            </a:r>
          </a:p>
          <a:p>
            <a:endParaRPr lang="ru-RU" sz="1020" dirty="0">
              <a:solidFill>
                <a:srgbClr val="111111"/>
              </a:solidFill>
              <a:latin typeface="Arial" panose="020B0604020202020204" pitchFamily="34" charset="0"/>
            </a:endParaRPr>
          </a:p>
          <a:p>
            <a:r>
              <a:rPr lang="ru-RU" sz="1020" b="1" dirty="0">
                <a:solidFill>
                  <a:srgbClr val="0038B8"/>
                </a:solidFill>
                <a:latin typeface="Arial" panose="020B0604020202020204" pitchFamily="34" charset="0"/>
              </a:rPr>
              <a:t>Если схема строповки неизвестна или масса груза превышает грузоподъемность крана, стропальщик обязан отказаться от выполнения работ до устранения этих проблем.</a:t>
            </a:r>
          </a:p>
        </p:txBody>
      </p:sp>
    </p:spTree>
    <p:extLst>
      <p:ext uri="{BB962C8B-B14F-4D97-AF65-F5344CB8AC3E}">
        <p14:creationId xmlns:p14="http://schemas.microsoft.com/office/powerpoint/2010/main" val="31448823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74320"/>
            <a:ext cx="1325880" cy="384048"/>
          </a:xfrm>
          <a:prstGeom prst="rect">
            <a:avLst/>
          </a:prstGeom>
          <a:noFill/>
        </p:spPr>
        <p:txBody>
          <a:bodyPr wrap="none" lIns="101600" tIns="76200" rIns="101600" bIns="76200">
            <a:spAutoFit/>
          </a:bodyPr>
          <a:lstStyle/>
          <a:p>
            <a:pPr algn="l"/>
            <a:r>
              <a:rPr sz="1000" b="1">
                <a:solidFill>
                  <a:srgbClr val="111111"/>
                </a:solidFill>
                <a:latin typeface="Arial"/>
              </a:rPr>
              <a:t>Тема 2.2</a:t>
            </a:r>
          </a:p>
          <a:p>
            <a:pPr algn="l"/>
            <a:r>
              <a:rPr sz="1000" b="1">
                <a:solidFill>
                  <a:srgbClr val="111111"/>
                </a:solidFill>
                <a:latin typeface="Arial"/>
              </a:rPr>
              <a:t>Технология работы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48672" y="310896"/>
            <a:ext cx="1207008" cy="310896"/>
          </a:xfrm>
          <a:prstGeom prst="round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r>
              <a:rPr lang="en-US" sz="1100" b="1">
                <a:solidFill>
                  <a:srgbClr val="111111"/>
                </a:solidFill>
                <a:latin typeface="Arial" panose="020B0604020202020204" pitchFamily="34" charset="0"/>
              </a:rPr>
              <a:t>S031-P02</a:t>
            </a:r>
            <a:endParaRPr sz="11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5216" y="850392"/>
            <a:ext cx="5669280" cy="830997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r>
              <a:rPr lang="ru-RU" sz="2200" b="1">
                <a:solidFill>
                  <a:srgbClr val="111111"/>
                </a:solidFill>
                <a:latin typeface="Arial" panose="020B0604020202020204" pitchFamily="34" charset="0"/>
              </a:rPr>
              <a:t>Подвал. Проверь массу и характер груза</a:t>
            </a:r>
            <a:endParaRPr sz="22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76910" y="1828800"/>
            <a:ext cx="10487660" cy="3914140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460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>
            <a:hlinkClick r:id="rId2" action="ppaction://hlinksldjump"/>
          </p:cNvPr>
          <p:cNvSpPr/>
          <p:nvPr/>
        </p:nvSpPr>
        <p:spPr>
          <a:xfrm>
            <a:off x="676656" y="5989320"/>
            <a:ext cx="16916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/>
            <a:r>
              <a:rPr lang="ru-RU" sz="1200" b="1">
                <a:solidFill>
                  <a:srgbClr val="4B5563"/>
                </a:solidFill>
                <a:latin typeface="Arial"/>
              </a:rPr>
              <a:t>Назад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12" name="Прямоугольник: скругленные углы 11">
            <a:hlinkClick r:id="rId3" action="ppaction://hlinksldjump"/>
            <a:extLst>
              <a:ext uri="{FF2B5EF4-FFF2-40B4-BE49-F238E27FC236}">
                <a16:creationId xmlns:a16="http://schemas.microsoft.com/office/drawing/2014/main" id="{47B5600D-ABEB-7396-BEFC-CB9060117184}"/>
              </a:ext>
            </a:extLst>
          </p:cNvPr>
          <p:cNvSpPr/>
          <p:nvPr/>
        </p:nvSpPr>
        <p:spPr>
          <a:xfrm>
            <a:off x="9281160" y="5989320"/>
            <a:ext cx="1901952" cy="347472"/>
          </a:xfrm>
          <a:prstGeom prst="round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/>
            <a:r>
              <a:rPr lang="ru-RU" sz="1200" b="1">
                <a:solidFill>
                  <a:srgbClr val="FFFFFF"/>
                </a:solidFill>
                <a:latin typeface="Arial"/>
              </a:rPr>
              <a:t>Далее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" y="676656"/>
            <a:ext cx="1024128" cy="45720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76910" y="1828800"/>
            <a:ext cx="10487660" cy="36830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86384" y="1920240"/>
            <a:ext cx="777240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850" b="1">
                <a:solidFill>
                  <a:srgbClr val="0038B8"/>
                </a:solidFill>
                <a:latin typeface="Arial"/>
              </a:rPr>
              <a:t>Шаг 01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21608" y="1920240"/>
            <a:ext cx="91440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850" b="1">
                <a:solidFill>
                  <a:srgbClr val="4B5563"/>
                </a:solidFill>
                <a:latin typeface="Arial"/>
              </a:rPr>
              <a:t>Опора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93208" y="1920240"/>
            <a:ext cx="1024128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r>
              <a:rPr lang="en-US" sz="1000" b="1">
                <a:solidFill>
                  <a:srgbClr val="111111"/>
                </a:solidFill>
                <a:latin typeface="Arial" panose="020B0604020202020204" pitchFamily="34" charset="0"/>
              </a:rPr>
              <a:t>S031-P02</a:t>
            </a:r>
            <a:endParaRPr sz="10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217920" y="1920240"/>
            <a:ext cx="77724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850" b="1">
                <a:solidFill>
                  <a:srgbClr val="4B5563"/>
                </a:solidFill>
                <a:latin typeface="Arial"/>
              </a:rPr>
              <a:t>Шаг 01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140696" y="1920240"/>
            <a:ext cx="914400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850" b="1">
                <a:solidFill>
                  <a:srgbClr val="0038B8"/>
                </a:solidFill>
                <a:latin typeface="Arial"/>
              </a:rPr>
              <a:t>Опора</a:t>
            </a:r>
          </a:p>
        </p:txBody>
      </p:sp>
      <p:sp>
        <p:nvSpPr>
          <p:cNvPr id="7" name="Codex_S031P_LeftPanel">
            <a:extLst>
              <a:ext uri="{FF2B5EF4-FFF2-40B4-BE49-F238E27FC236}">
                <a16:creationId xmlns:a16="http://schemas.microsoft.com/office/drawing/2014/main" id="{567B26E5-8F07-E9D6-6C6A-FF2DF7C580E2}"/>
              </a:ext>
            </a:extLst>
          </p:cNvPr>
          <p:cNvSpPr/>
          <p:nvPr/>
        </p:nvSpPr>
        <p:spPr>
          <a:xfrm>
            <a:off x="901700" y="2324100"/>
            <a:ext cx="4787900" cy="2997200"/>
          </a:xfrm>
          <a:prstGeom prst="rect">
            <a:avLst/>
          </a:prstGeom>
          <a:solidFill>
            <a:srgbClr val="F4F5F7"/>
          </a:solidFill>
          <a:ln w="12700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Codex_S031P_LeftStrip">
            <a:extLst>
              <a:ext uri="{FF2B5EF4-FFF2-40B4-BE49-F238E27FC236}">
                <a16:creationId xmlns:a16="http://schemas.microsoft.com/office/drawing/2014/main" id="{6BA2894B-9B4A-FBA4-597B-7248A43A5178}"/>
              </a:ext>
            </a:extLst>
          </p:cNvPr>
          <p:cNvSpPr/>
          <p:nvPr/>
        </p:nvSpPr>
        <p:spPr>
          <a:xfrm>
            <a:off x="901700" y="2324100"/>
            <a:ext cx="4787900" cy="38100"/>
          </a:xfrm>
          <a:prstGeom prst="rect">
            <a:avLst/>
          </a:prstGeom>
          <a:solidFill>
            <a:srgbClr val="0038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Codex_S031P_RightPanel">
            <a:extLst>
              <a:ext uri="{FF2B5EF4-FFF2-40B4-BE49-F238E27FC236}">
                <a16:creationId xmlns:a16="http://schemas.microsoft.com/office/drawing/2014/main" id="{D6D807D8-7BCC-7566-55BB-D5B2AB250F9E}"/>
              </a:ext>
            </a:extLst>
          </p:cNvPr>
          <p:cNvSpPr/>
          <p:nvPr/>
        </p:nvSpPr>
        <p:spPr>
          <a:xfrm>
            <a:off x="5918200" y="2324100"/>
            <a:ext cx="4787900" cy="299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Codex_S031P_RightStrip">
            <a:extLst>
              <a:ext uri="{FF2B5EF4-FFF2-40B4-BE49-F238E27FC236}">
                <a16:creationId xmlns:a16="http://schemas.microsoft.com/office/drawing/2014/main" id="{E70617BC-D081-DE89-7D15-E745608B5150}"/>
              </a:ext>
            </a:extLst>
          </p:cNvPr>
          <p:cNvSpPr/>
          <p:nvPr/>
        </p:nvSpPr>
        <p:spPr>
          <a:xfrm>
            <a:off x="5918200" y="2324100"/>
            <a:ext cx="4787900" cy="38100"/>
          </a:xfrm>
          <a:prstGeom prst="rect">
            <a:avLst/>
          </a:prstGeom>
          <a:solidFill>
            <a:srgbClr val="0038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Codex_S031P_LeftTitle">
            <a:extLst>
              <a:ext uri="{FF2B5EF4-FFF2-40B4-BE49-F238E27FC236}">
                <a16:creationId xmlns:a16="http://schemas.microsoft.com/office/drawing/2014/main" id="{4E18F5AD-4898-295A-1201-6184797BD147}"/>
              </a:ext>
            </a:extLst>
          </p:cNvPr>
          <p:cNvSpPr txBox="1"/>
          <p:nvPr/>
        </p:nvSpPr>
        <p:spPr>
          <a:xfrm>
            <a:off x="1054100" y="2476500"/>
            <a:ext cx="44831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ru-RU" sz="1200" b="1">
                <a:solidFill>
                  <a:srgbClr val="111111"/>
                </a:solidFill>
                <a:latin typeface="Arial" panose="020B0604020202020204" pitchFamily="34" charset="0"/>
              </a:rPr>
              <a:t>Что проверить</a:t>
            </a:r>
          </a:p>
        </p:txBody>
      </p:sp>
      <p:sp>
        <p:nvSpPr>
          <p:cNvPr id="22" name="Codex_S031P_LeftBody">
            <a:extLst>
              <a:ext uri="{FF2B5EF4-FFF2-40B4-BE49-F238E27FC236}">
                <a16:creationId xmlns:a16="http://schemas.microsoft.com/office/drawing/2014/main" id="{50132F5A-D312-70E2-5EE1-07189E98B323}"/>
              </a:ext>
            </a:extLst>
          </p:cNvPr>
          <p:cNvSpPr txBox="1"/>
          <p:nvPr/>
        </p:nvSpPr>
        <p:spPr>
          <a:xfrm>
            <a:off x="1054100" y="2806700"/>
            <a:ext cx="4483100" cy="643253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ru-RU" sz="1060">
                <a:solidFill>
                  <a:srgbClr val="111111"/>
                </a:solidFill>
                <a:latin typeface="Arial" panose="020B0604020202020204" pitchFamily="34" charset="0"/>
              </a:rPr>
              <a:t>• Масса груза по документам, маркировке или паспорту.</a:t>
            </a:r>
          </a:p>
          <a:p>
            <a:r>
              <a:rPr lang="ru-RU" sz="1060">
                <a:solidFill>
                  <a:srgbClr val="111111"/>
                </a:solidFill>
                <a:latin typeface="Arial" panose="020B0604020202020204" pitchFamily="34" charset="0"/>
              </a:rPr>
              <a:t>• Фактический вес не должен быть предположением.</a:t>
            </a:r>
          </a:p>
          <a:p>
            <a:r>
              <a:rPr lang="ru-RU" sz="1060">
                <a:solidFill>
                  <a:srgbClr val="111111"/>
                </a:solidFill>
                <a:latin typeface="Arial" panose="020B0604020202020204" pitchFamily="34" charset="0"/>
              </a:rPr>
              <a:t>• Если масса не подтверждена, работу начинать нельзя.</a:t>
            </a:r>
          </a:p>
        </p:txBody>
      </p:sp>
      <p:sp>
        <p:nvSpPr>
          <p:cNvPr id="23" name="Codex_S031P_RightTitle">
            <a:extLst>
              <a:ext uri="{FF2B5EF4-FFF2-40B4-BE49-F238E27FC236}">
                <a16:creationId xmlns:a16="http://schemas.microsoft.com/office/drawing/2014/main" id="{89C0B877-14C1-029A-9DDF-7216BCB02295}"/>
              </a:ext>
            </a:extLst>
          </p:cNvPr>
          <p:cNvSpPr txBox="1"/>
          <p:nvPr/>
        </p:nvSpPr>
        <p:spPr>
          <a:xfrm>
            <a:off x="6070600" y="2476500"/>
            <a:ext cx="44831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ru-RU" sz="1200" b="1">
                <a:solidFill>
                  <a:srgbClr val="111111"/>
                </a:solidFill>
                <a:latin typeface="Arial" panose="020B0604020202020204" pitchFamily="34" charset="0"/>
              </a:rPr>
              <a:t>Характер груза</a:t>
            </a:r>
          </a:p>
        </p:txBody>
      </p:sp>
      <p:sp>
        <p:nvSpPr>
          <p:cNvPr id="24" name="Codex_S031P_RightBody">
            <a:extLst>
              <a:ext uri="{FF2B5EF4-FFF2-40B4-BE49-F238E27FC236}">
                <a16:creationId xmlns:a16="http://schemas.microsoft.com/office/drawing/2014/main" id="{9893B426-5AEA-281D-18B0-CD8ACA8F4B0B}"/>
              </a:ext>
            </a:extLst>
          </p:cNvPr>
          <p:cNvSpPr txBox="1"/>
          <p:nvPr/>
        </p:nvSpPr>
        <p:spPr>
          <a:xfrm>
            <a:off x="6070600" y="2806700"/>
            <a:ext cx="4483100" cy="806375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ru-RU" sz="1060">
                <a:solidFill>
                  <a:srgbClr val="111111"/>
                </a:solidFill>
                <a:latin typeface="Arial" panose="020B0604020202020204" pitchFamily="34" charset="0"/>
              </a:rPr>
              <a:t>• Габариты и форма груза.</a:t>
            </a:r>
          </a:p>
          <a:p>
            <a:r>
              <a:rPr lang="ru-RU" sz="1060">
                <a:solidFill>
                  <a:srgbClr val="111111"/>
                </a:solidFill>
                <a:latin typeface="Arial" panose="020B0604020202020204" pitchFamily="34" charset="0"/>
              </a:rPr>
              <a:t>• Центр тяжести и устойчивость.</a:t>
            </a:r>
          </a:p>
          <a:p>
            <a:r>
              <a:rPr lang="ru-RU" sz="1060">
                <a:solidFill>
                  <a:srgbClr val="111111"/>
                </a:solidFill>
                <a:latin typeface="Arial" panose="020B0604020202020204" pitchFamily="34" charset="0"/>
              </a:rPr>
              <a:t>• Выступающие части, тара, маркировка, особые условия перемещения.</a:t>
            </a:r>
          </a:p>
        </p:txBody>
      </p:sp>
    </p:spTree>
    <p:extLst>
      <p:ext uri="{BB962C8B-B14F-4D97-AF65-F5344CB8AC3E}">
        <p14:creationId xmlns:p14="http://schemas.microsoft.com/office/powerpoint/2010/main" val="40228925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74320"/>
            <a:ext cx="1325880" cy="384048"/>
          </a:xfrm>
          <a:prstGeom prst="rect">
            <a:avLst/>
          </a:prstGeom>
          <a:noFill/>
        </p:spPr>
        <p:txBody>
          <a:bodyPr wrap="none" lIns="101600" tIns="76200" rIns="101600" bIns="76200">
            <a:spAutoFit/>
          </a:bodyPr>
          <a:lstStyle/>
          <a:p>
            <a:pPr algn="l"/>
            <a:r>
              <a:rPr sz="1000" b="1">
                <a:solidFill>
                  <a:srgbClr val="111111"/>
                </a:solidFill>
                <a:latin typeface="Arial"/>
              </a:rPr>
              <a:t>Тема 2.2</a:t>
            </a:r>
          </a:p>
          <a:p>
            <a:pPr algn="l"/>
            <a:r>
              <a:rPr sz="1000" b="1">
                <a:solidFill>
                  <a:srgbClr val="111111"/>
                </a:solidFill>
                <a:latin typeface="Arial"/>
              </a:rPr>
              <a:t>Технология работы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48672" y="310896"/>
            <a:ext cx="1207008" cy="310896"/>
          </a:xfrm>
          <a:prstGeom prst="round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r>
              <a:rPr lang="en-US" sz="1100" b="1">
                <a:solidFill>
                  <a:srgbClr val="111111"/>
                </a:solidFill>
                <a:latin typeface="Arial" panose="020B0604020202020204" pitchFamily="34" charset="0"/>
              </a:rPr>
              <a:t>S031-P03</a:t>
            </a:r>
            <a:endParaRPr sz="11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5216" y="850392"/>
            <a:ext cx="5669280" cy="492443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r>
              <a:rPr lang="ru-RU" sz="2200" b="1">
                <a:solidFill>
                  <a:srgbClr val="111111"/>
                </a:solidFill>
                <a:latin typeface="Arial" panose="020B0604020202020204" pitchFamily="34" charset="0"/>
              </a:rPr>
              <a:t>Подвал. Проверь место работы</a:t>
            </a:r>
            <a:endParaRPr sz="22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76910" y="1828800"/>
            <a:ext cx="10487660" cy="3914140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460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>
            <a:hlinkClick r:id="rId2" action="ppaction://hlinksldjump"/>
          </p:cNvPr>
          <p:cNvSpPr/>
          <p:nvPr/>
        </p:nvSpPr>
        <p:spPr>
          <a:xfrm>
            <a:off x="676656" y="5989320"/>
            <a:ext cx="16916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/>
            <a:r>
              <a:rPr lang="ru-RU" sz="1200" b="1">
                <a:solidFill>
                  <a:srgbClr val="4B5563"/>
                </a:solidFill>
                <a:latin typeface="Arial"/>
              </a:rPr>
              <a:t>Назад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12" name="Прямоугольник: скругленные углы 11">
            <a:hlinkClick r:id="rId3" action="ppaction://hlinksldjump"/>
            <a:extLst>
              <a:ext uri="{FF2B5EF4-FFF2-40B4-BE49-F238E27FC236}">
                <a16:creationId xmlns:a16="http://schemas.microsoft.com/office/drawing/2014/main" id="{47B5600D-ABEB-7396-BEFC-CB9060117184}"/>
              </a:ext>
            </a:extLst>
          </p:cNvPr>
          <p:cNvSpPr/>
          <p:nvPr/>
        </p:nvSpPr>
        <p:spPr>
          <a:xfrm>
            <a:off x="9281160" y="5989320"/>
            <a:ext cx="1901952" cy="347472"/>
          </a:xfrm>
          <a:prstGeom prst="round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/>
            <a:r>
              <a:rPr lang="ru-RU" sz="1200" b="1">
                <a:solidFill>
                  <a:srgbClr val="FFFFFF"/>
                </a:solidFill>
                <a:latin typeface="Arial"/>
              </a:rPr>
              <a:t>Далее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" y="676656"/>
            <a:ext cx="1024128" cy="45720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76910" y="1828800"/>
            <a:ext cx="10487660" cy="36830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86384" y="1920240"/>
            <a:ext cx="777240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850" b="1">
                <a:solidFill>
                  <a:srgbClr val="0038B8"/>
                </a:solidFill>
                <a:latin typeface="Arial"/>
              </a:rPr>
              <a:t>Шаг 01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21608" y="1920240"/>
            <a:ext cx="91440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850" b="1">
                <a:solidFill>
                  <a:srgbClr val="4B5563"/>
                </a:solidFill>
                <a:latin typeface="Arial"/>
              </a:rPr>
              <a:t>Опора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93208" y="1920240"/>
            <a:ext cx="1024128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r>
              <a:rPr lang="en-US" sz="1000" b="1">
                <a:solidFill>
                  <a:srgbClr val="111111"/>
                </a:solidFill>
                <a:latin typeface="Arial" panose="020B0604020202020204" pitchFamily="34" charset="0"/>
              </a:rPr>
              <a:t>S031-P03</a:t>
            </a:r>
            <a:endParaRPr sz="10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217920" y="1920240"/>
            <a:ext cx="77724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850" b="1">
                <a:solidFill>
                  <a:srgbClr val="4B5563"/>
                </a:solidFill>
                <a:latin typeface="Arial"/>
              </a:rPr>
              <a:t>Шаг 01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140696" y="1920240"/>
            <a:ext cx="914400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850" b="1">
                <a:solidFill>
                  <a:srgbClr val="0038B8"/>
                </a:solidFill>
                <a:latin typeface="Arial"/>
              </a:rPr>
              <a:t>Опора</a:t>
            </a:r>
          </a:p>
        </p:txBody>
      </p:sp>
      <p:sp>
        <p:nvSpPr>
          <p:cNvPr id="10" name="Codex_S031P_LeftPanel">
            <a:extLst>
              <a:ext uri="{FF2B5EF4-FFF2-40B4-BE49-F238E27FC236}">
                <a16:creationId xmlns:a16="http://schemas.microsoft.com/office/drawing/2014/main" id="{26045261-1C20-5FD8-9A95-4D78C1C8A3E3}"/>
              </a:ext>
            </a:extLst>
          </p:cNvPr>
          <p:cNvSpPr/>
          <p:nvPr/>
        </p:nvSpPr>
        <p:spPr>
          <a:xfrm>
            <a:off x="901700" y="2324100"/>
            <a:ext cx="4787900" cy="2997200"/>
          </a:xfrm>
          <a:prstGeom prst="rect">
            <a:avLst/>
          </a:prstGeom>
          <a:solidFill>
            <a:srgbClr val="F4F5F7"/>
          </a:solidFill>
          <a:ln w="12700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Codex_S031P_LeftStrip">
            <a:extLst>
              <a:ext uri="{FF2B5EF4-FFF2-40B4-BE49-F238E27FC236}">
                <a16:creationId xmlns:a16="http://schemas.microsoft.com/office/drawing/2014/main" id="{982247E3-436B-323E-AEA3-79B4F312BF2A}"/>
              </a:ext>
            </a:extLst>
          </p:cNvPr>
          <p:cNvSpPr/>
          <p:nvPr/>
        </p:nvSpPr>
        <p:spPr>
          <a:xfrm>
            <a:off x="901700" y="2324100"/>
            <a:ext cx="4787900" cy="38100"/>
          </a:xfrm>
          <a:prstGeom prst="rect">
            <a:avLst/>
          </a:prstGeom>
          <a:solidFill>
            <a:srgbClr val="0038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Codex_S031P_RightPanel">
            <a:extLst>
              <a:ext uri="{FF2B5EF4-FFF2-40B4-BE49-F238E27FC236}">
                <a16:creationId xmlns:a16="http://schemas.microsoft.com/office/drawing/2014/main" id="{4BED5DFE-A16C-FB2A-FACE-EE3F060F8200}"/>
              </a:ext>
            </a:extLst>
          </p:cNvPr>
          <p:cNvSpPr/>
          <p:nvPr/>
        </p:nvSpPr>
        <p:spPr>
          <a:xfrm>
            <a:off x="5918200" y="2324100"/>
            <a:ext cx="4787900" cy="299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Codex_S031P_RightStrip">
            <a:extLst>
              <a:ext uri="{FF2B5EF4-FFF2-40B4-BE49-F238E27FC236}">
                <a16:creationId xmlns:a16="http://schemas.microsoft.com/office/drawing/2014/main" id="{83777340-D882-5B17-8129-8B190A7CA804}"/>
              </a:ext>
            </a:extLst>
          </p:cNvPr>
          <p:cNvSpPr/>
          <p:nvPr/>
        </p:nvSpPr>
        <p:spPr>
          <a:xfrm>
            <a:off x="5918200" y="2324100"/>
            <a:ext cx="4787900" cy="38100"/>
          </a:xfrm>
          <a:prstGeom prst="rect">
            <a:avLst/>
          </a:prstGeom>
          <a:solidFill>
            <a:srgbClr val="0038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Codex_S031P_LeftTitle">
            <a:extLst>
              <a:ext uri="{FF2B5EF4-FFF2-40B4-BE49-F238E27FC236}">
                <a16:creationId xmlns:a16="http://schemas.microsoft.com/office/drawing/2014/main" id="{40BEAB1D-52CC-6303-D82C-10237E2A1BCE}"/>
              </a:ext>
            </a:extLst>
          </p:cNvPr>
          <p:cNvSpPr txBox="1"/>
          <p:nvPr/>
        </p:nvSpPr>
        <p:spPr>
          <a:xfrm>
            <a:off x="1054100" y="2476500"/>
            <a:ext cx="44831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ru-RU" sz="1200" b="1">
                <a:solidFill>
                  <a:srgbClr val="111111"/>
                </a:solidFill>
                <a:latin typeface="Arial" panose="020B0604020202020204" pitchFamily="34" charset="0"/>
              </a:rPr>
              <a:t>Рабочая площадка</a:t>
            </a:r>
          </a:p>
        </p:txBody>
      </p:sp>
      <p:sp>
        <p:nvSpPr>
          <p:cNvPr id="29" name="Codex_S031P_LeftBody">
            <a:extLst>
              <a:ext uri="{FF2B5EF4-FFF2-40B4-BE49-F238E27FC236}">
                <a16:creationId xmlns:a16="http://schemas.microsoft.com/office/drawing/2014/main" id="{18949F74-D130-B2B5-67A7-1AA59E3A068C}"/>
              </a:ext>
            </a:extLst>
          </p:cNvPr>
          <p:cNvSpPr txBox="1"/>
          <p:nvPr/>
        </p:nvSpPr>
        <p:spPr>
          <a:xfrm>
            <a:off x="1054100" y="2806700"/>
            <a:ext cx="4483100" cy="643253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ru-RU" sz="1060">
                <a:solidFill>
                  <a:srgbClr val="111111"/>
                </a:solidFill>
                <a:latin typeface="Arial" panose="020B0604020202020204" pitchFamily="34" charset="0"/>
              </a:rPr>
              <a:t>• Освещенность и видимость.</a:t>
            </a:r>
          </a:p>
          <a:p>
            <a:r>
              <a:rPr lang="ru-RU" sz="1060">
                <a:solidFill>
                  <a:srgbClr val="111111"/>
                </a:solidFill>
                <a:latin typeface="Arial" panose="020B0604020202020204" pitchFamily="34" charset="0"/>
              </a:rPr>
              <a:t>• Опасная зона и сигнальное ограждение.</a:t>
            </a:r>
          </a:p>
          <a:p>
            <a:r>
              <a:rPr lang="ru-RU" sz="1060">
                <a:solidFill>
                  <a:srgbClr val="111111"/>
                </a:solidFill>
                <a:latin typeface="Arial" panose="020B0604020202020204" pitchFamily="34" charset="0"/>
              </a:rPr>
              <a:t>• Отсутствие посторонних людей в зоне работ.</a:t>
            </a:r>
          </a:p>
        </p:txBody>
      </p:sp>
      <p:sp>
        <p:nvSpPr>
          <p:cNvPr id="30" name="Codex_S031P_RightTitle">
            <a:extLst>
              <a:ext uri="{FF2B5EF4-FFF2-40B4-BE49-F238E27FC236}">
                <a16:creationId xmlns:a16="http://schemas.microsoft.com/office/drawing/2014/main" id="{A8824B29-0943-668B-09A9-E3A069C6D35E}"/>
              </a:ext>
            </a:extLst>
          </p:cNvPr>
          <p:cNvSpPr txBox="1"/>
          <p:nvPr/>
        </p:nvSpPr>
        <p:spPr>
          <a:xfrm>
            <a:off x="6070600" y="2476500"/>
            <a:ext cx="44831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ru-RU" sz="1200" b="1">
                <a:solidFill>
                  <a:srgbClr val="111111"/>
                </a:solidFill>
                <a:latin typeface="Arial" panose="020B0604020202020204" pitchFamily="34" charset="0"/>
              </a:rPr>
              <a:t>Маршрут и укладка</a:t>
            </a:r>
          </a:p>
        </p:txBody>
      </p:sp>
      <p:sp>
        <p:nvSpPr>
          <p:cNvPr id="31" name="Codex_S031P_RightBody">
            <a:extLst>
              <a:ext uri="{FF2B5EF4-FFF2-40B4-BE49-F238E27FC236}">
                <a16:creationId xmlns:a16="http://schemas.microsoft.com/office/drawing/2014/main" id="{E70544CA-AA0B-585A-DEBA-31A03FC117F6}"/>
              </a:ext>
            </a:extLst>
          </p:cNvPr>
          <p:cNvSpPr txBox="1"/>
          <p:nvPr/>
        </p:nvSpPr>
        <p:spPr>
          <a:xfrm>
            <a:off x="6070600" y="2806700"/>
            <a:ext cx="4483100" cy="643253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ru-RU" sz="1060">
                <a:solidFill>
                  <a:srgbClr val="111111"/>
                </a:solidFill>
                <a:latin typeface="Arial" panose="020B0604020202020204" pitchFamily="34" charset="0"/>
              </a:rPr>
              <a:t>• Откуда и куда перемещают груз.</a:t>
            </a:r>
          </a:p>
          <a:p>
            <a:r>
              <a:rPr lang="ru-RU" sz="1060">
                <a:solidFill>
                  <a:srgbClr val="111111"/>
                </a:solidFill>
                <a:latin typeface="Arial" panose="020B0604020202020204" pitchFamily="34" charset="0"/>
              </a:rPr>
              <a:t>• Свободный путь перемещения.</a:t>
            </a:r>
          </a:p>
          <a:p>
            <a:r>
              <a:rPr lang="ru-RU" sz="1060">
                <a:solidFill>
                  <a:srgbClr val="111111"/>
                </a:solidFill>
                <a:latin typeface="Arial" panose="020B0604020202020204" pitchFamily="34" charset="0"/>
              </a:rPr>
              <a:t>• Подготовленное место укладки, подкладки и опоры.</a:t>
            </a:r>
          </a:p>
        </p:txBody>
      </p:sp>
    </p:spTree>
    <p:extLst>
      <p:ext uri="{BB962C8B-B14F-4D97-AF65-F5344CB8AC3E}">
        <p14:creationId xmlns:p14="http://schemas.microsoft.com/office/powerpoint/2010/main" val="39851678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74320"/>
            <a:ext cx="1325880" cy="384048"/>
          </a:xfrm>
          <a:prstGeom prst="rect">
            <a:avLst/>
          </a:prstGeom>
          <a:noFill/>
        </p:spPr>
        <p:txBody>
          <a:bodyPr wrap="none" lIns="101600" tIns="76200" rIns="101600" bIns="76200">
            <a:spAutoFit/>
          </a:bodyPr>
          <a:lstStyle/>
          <a:p>
            <a:pPr algn="l"/>
            <a:r>
              <a:rPr sz="1000" b="1">
                <a:solidFill>
                  <a:srgbClr val="111111"/>
                </a:solidFill>
                <a:latin typeface="Arial"/>
              </a:rPr>
              <a:t>Тема 2.2</a:t>
            </a:r>
          </a:p>
          <a:p>
            <a:pPr algn="l"/>
            <a:r>
              <a:rPr sz="1000" b="1">
                <a:solidFill>
                  <a:srgbClr val="111111"/>
                </a:solidFill>
                <a:latin typeface="Arial"/>
              </a:rPr>
              <a:t>Технология работы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48672" y="310896"/>
            <a:ext cx="1207008" cy="310896"/>
          </a:xfrm>
          <a:prstGeom prst="round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r>
              <a:rPr lang="en-US" sz="1100" b="1">
                <a:solidFill>
                  <a:srgbClr val="111111"/>
                </a:solidFill>
                <a:latin typeface="Arial" panose="020B0604020202020204" pitchFamily="34" charset="0"/>
              </a:rPr>
              <a:t>S031-P04</a:t>
            </a:r>
            <a:endParaRPr sz="11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5216" y="850392"/>
            <a:ext cx="5669280" cy="492443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r>
              <a:rPr lang="ru-RU" sz="2200" b="1">
                <a:solidFill>
                  <a:srgbClr val="111111"/>
                </a:solidFill>
                <a:latin typeface="Arial" panose="020B0604020202020204" pitchFamily="34" charset="0"/>
              </a:rPr>
              <a:t>Подвал. Проверь схемы и таблицы</a:t>
            </a:r>
            <a:endParaRPr sz="22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76910" y="1828800"/>
            <a:ext cx="10487660" cy="3914140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460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>
            <a:hlinkClick r:id="rId2" action="ppaction://hlinksldjump"/>
          </p:cNvPr>
          <p:cNvSpPr/>
          <p:nvPr/>
        </p:nvSpPr>
        <p:spPr>
          <a:xfrm>
            <a:off x="676656" y="5989320"/>
            <a:ext cx="16916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/>
            <a:r>
              <a:rPr lang="ru-RU" sz="1200" b="1">
                <a:solidFill>
                  <a:srgbClr val="4B5563"/>
                </a:solidFill>
                <a:latin typeface="Arial"/>
              </a:rPr>
              <a:t>Назад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12" name="Прямоугольник: скругленные углы 11">
            <a:hlinkClick r:id="rId3" action="ppaction://hlinksldjump"/>
            <a:extLst>
              <a:ext uri="{FF2B5EF4-FFF2-40B4-BE49-F238E27FC236}">
                <a16:creationId xmlns:a16="http://schemas.microsoft.com/office/drawing/2014/main" id="{47B5600D-ABEB-7396-BEFC-CB9060117184}"/>
              </a:ext>
            </a:extLst>
          </p:cNvPr>
          <p:cNvSpPr/>
          <p:nvPr/>
        </p:nvSpPr>
        <p:spPr>
          <a:xfrm>
            <a:off x="9281160" y="5989320"/>
            <a:ext cx="1901952" cy="347472"/>
          </a:xfrm>
          <a:prstGeom prst="round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/>
            <a:r>
              <a:rPr lang="ru-RU" sz="1200" b="1">
                <a:solidFill>
                  <a:srgbClr val="FFFFFF"/>
                </a:solidFill>
                <a:latin typeface="Arial"/>
              </a:rPr>
              <a:t>Далее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" y="676656"/>
            <a:ext cx="1024128" cy="45720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76910" y="1828800"/>
            <a:ext cx="10487660" cy="36830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86384" y="1920240"/>
            <a:ext cx="777240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850" b="1">
                <a:solidFill>
                  <a:srgbClr val="0038B8"/>
                </a:solidFill>
                <a:latin typeface="Arial"/>
              </a:rPr>
              <a:t>Шаг 01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21608" y="1920240"/>
            <a:ext cx="91440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850" b="1">
                <a:solidFill>
                  <a:srgbClr val="4B5563"/>
                </a:solidFill>
                <a:latin typeface="Arial"/>
              </a:rPr>
              <a:t>Опора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93208" y="1920240"/>
            <a:ext cx="1024128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r>
              <a:rPr lang="en-US" sz="1000" b="1">
                <a:solidFill>
                  <a:srgbClr val="111111"/>
                </a:solidFill>
                <a:latin typeface="Arial" panose="020B0604020202020204" pitchFamily="34" charset="0"/>
              </a:rPr>
              <a:t>S031-P04</a:t>
            </a:r>
            <a:endParaRPr sz="10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217920" y="1920240"/>
            <a:ext cx="77724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850" b="1">
                <a:solidFill>
                  <a:srgbClr val="4B5563"/>
                </a:solidFill>
                <a:latin typeface="Arial"/>
              </a:rPr>
              <a:t>Шаг 01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140696" y="1920240"/>
            <a:ext cx="914400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850" b="1">
                <a:solidFill>
                  <a:srgbClr val="0038B8"/>
                </a:solidFill>
                <a:latin typeface="Arial"/>
              </a:rPr>
              <a:t>Опора</a:t>
            </a:r>
          </a:p>
        </p:txBody>
      </p:sp>
      <p:sp>
        <p:nvSpPr>
          <p:cNvPr id="7" name="Codex_S031P_LeftPanel">
            <a:extLst>
              <a:ext uri="{FF2B5EF4-FFF2-40B4-BE49-F238E27FC236}">
                <a16:creationId xmlns:a16="http://schemas.microsoft.com/office/drawing/2014/main" id="{382DBB85-5762-8593-A89F-CBEFB61E14F3}"/>
              </a:ext>
            </a:extLst>
          </p:cNvPr>
          <p:cNvSpPr/>
          <p:nvPr/>
        </p:nvSpPr>
        <p:spPr>
          <a:xfrm>
            <a:off x="901700" y="2324100"/>
            <a:ext cx="4787900" cy="2997200"/>
          </a:xfrm>
          <a:prstGeom prst="rect">
            <a:avLst/>
          </a:prstGeom>
          <a:solidFill>
            <a:srgbClr val="F4F5F7"/>
          </a:solidFill>
          <a:ln w="12700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Codex_S031P_LeftStrip">
            <a:extLst>
              <a:ext uri="{FF2B5EF4-FFF2-40B4-BE49-F238E27FC236}">
                <a16:creationId xmlns:a16="http://schemas.microsoft.com/office/drawing/2014/main" id="{6059E7E4-26A7-9EFE-6834-27B508119CDA}"/>
              </a:ext>
            </a:extLst>
          </p:cNvPr>
          <p:cNvSpPr/>
          <p:nvPr/>
        </p:nvSpPr>
        <p:spPr>
          <a:xfrm>
            <a:off x="901700" y="2324100"/>
            <a:ext cx="4787900" cy="38100"/>
          </a:xfrm>
          <a:prstGeom prst="rect">
            <a:avLst/>
          </a:prstGeom>
          <a:solidFill>
            <a:srgbClr val="0038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Codex_S031P_RightPanel">
            <a:extLst>
              <a:ext uri="{FF2B5EF4-FFF2-40B4-BE49-F238E27FC236}">
                <a16:creationId xmlns:a16="http://schemas.microsoft.com/office/drawing/2014/main" id="{284EB64F-1348-B6BE-8516-9586F634ABB6}"/>
              </a:ext>
            </a:extLst>
          </p:cNvPr>
          <p:cNvSpPr/>
          <p:nvPr/>
        </p:nvSpPr>
        <p:spPr>
          <a:xfrm>
            <a:off x="5918200" y="2324100"/>
            <a:ext cx="4787900" cy="299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Codex_S031P_RightStrip">
            <a:extLst>
              <a:ext uri="{FF2B5EF4-FFF2-40B4-BE49-F238E27FC236}">
                <a16:creationId xmlns:a16="http://schemas.microsoft.com/office/drawing/2014/main" id="{D9BEFC0D-2814-91FA-33BA-A0BB86A33843}"/>
              </a:ext>
            </a:extLst>
          </p:cNvPr>
          <p:cNvSpPr/>
          <p:nvPr/>
        </p:nvSpPr>
        <p:spPr>
          <a:xfrm>
            <a:off x="5918200" y="2324100"/>
            <a:ext cx="4787900" cy="38100"/>
          </a:xfrm>
          <a:prstGeom prst="rect">
            <a:avLst/>
          </a:prstGeom>
          <a:solidFill>
            <a:srgbClr val="0038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Codex_S031P_LeftTitle">
            <a:extLst>
              <a:ext uri="{FF2B5EF4-FFF2-40B4-BE49-F238E27FC236}">
                <a16:creationId xmlns:a16="http://schemas.microsoft.com/office/drawing/2014/main" id="{0BB378B2-1EF7-37D0-CFBA-8DE938F373BD}"/>
              </a:ext>
            </a:extLst>
          </p:cNvPr>
          <p:cNvSpPr txBox="1"/>
          <p:nvPr/>
        </p:nvSpPr>
        <p:spPr>
          <a:xfrm>
            <a:off x="1054100" y="2476500"/>
            <a:ext cx="44831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ru-RU" sz="1200" b="1">
                <a:solidFill>
                  <a:srgbClr val="111111"/>
                </a:solidFill>
                <a:latin typeface="Arial" panose="020B0604020202020204" pitchFamily="34" charset="0"/>
              </a:rPr>
              <a:t>Схемы строповки</a:t>
            </a:r>
          </a:p>
        </p:txBody>
      </p:sp>
      <p:sp>
        <p:nvSpPr>
          <p:cNvPr id="22" name="Codex_S031P_LeftBody">
            <a:extLst>
              <a:ext uri="{FF2B5EF4-FFF2-40B4-BE49-F238E27FC236}">
                <a16:creationId xmlns:a16="http://schemas.microsoft.com/office/drawing/2014/main" id="{BD383CF5-7981-BB1C-37E2-F39AF3AC7284}"/>
              </a:ext>
            </a:extLst>
          </p:cNvPr>
          <p:cNvSpPr txBox="1"/>
          <p:nvPr/>
        </p:nvSpPr>
        <p:spPr>
          <a:xfrm>
            <a:off x="1054100" y="2806700"/>
            <a:ext cx="4483100" cy="643253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ru-RU" sz="1060">
                <a:solidFill>
                  <a:srgbClr val="111111"/>
                </a:solidFill>
                <a:latin typeface="Arial" panose="020B0604020202020204" pitchFamily="34" charset="0"/>
              </a:rPr>
              <a:t>• Используем схему под конкретный груз.</a:t>
            </a:r>
          </a:p>
          <a:p>
            <a:r>
              <a:rPr lang="ru-RU" sz="1060">
                <a:solidFill>
                  <a:srgbClr val="111111"/>
                </a:solidFill>
                <a:latin typeface="Arial" panose="020B0604020202020204" pitchFamily="34" charset="0"/>
              </a:rPr>
              <a:t>• Проверяем точки зацепки и способ обвязки.</a:t>
            </a:r>
          </a:p>
          <a:p>
            <a:r>
              <a:rPr lang="ru-RU" sz="1060">
                <a:solidFill>
                  <a:srgbClr val="111111"/>
                </a:solidFill>
                <a:latin typeface="Arial" panose="020B0604020202020204" pitchFamily="34" charset="0"/>
              </a:rPr>
              <a:t>• Самовольную замену схемы не допускаем.</a:t>
            </a:r>
          </a:p>
        </p:txBody>
      </p:sp>
      <p:sp>
        <p:nvSpPr>
          <p:cNvPr id="23" name="Codex_S031P_RightTitle">
            <a:extLst>
              <a:ext uri="{FF2B5EF4-FFF2-40B4-BE49-F238E27FC236}">
                <a16:creationId xmlns:a16="http://schemas.microsoft.com/office/drawing/2014/main" id="{4BB111A3-CB40-ED67-5C63-82F0A5328454}"/>
              </a:ext>
            </a:extLst>
          </p:cNvPr>
          <p:cNvSpPr txBox="1"/>
          <p:nvPr/>
        </p:nvSpPr>
        <p:spPr>
          <a:xfrm>
            <a:off x="6070600" y="2476500"/>
            <a:ext cx="44831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ru-RU" sz="1200" b="1">
                <a:solidFill>
                  <a:srgbClr val="111111"/>
                </a:solidFill>
                <a:latin typeface="Arial" panose="020B0604020202020204" pitchFamily="34" charset="0"/>
              </a:rPr>
              <a:t>Таблицы и документы</a:t>
            </a:r>
          </a:p>
        </p:txBody>
      </p:sp>
      <p:sp>
        <p:nvSpPr>
          <p:cNvPr id="24" name="Codex_S031P_RightBody">
            <a:extLst>
              <a:ext uri="{FF2B5EF4-FFF2-40B4-BE49-F238E27FC236}">
                <a16:creationId xmlns:a16="http://schemas.microsoft.com/office/drawing/2014/main" id="{D6E09491-69C4-2D03-5AFB-0182EB78A913}"/>
              </a:ext>
            </a:extLst>
          </p:cNvPr>
          <p:cNvSpPr txBox="1"/>
          <p:nvPr/>
        </p:nvSpPr>
        <p:spPr>
          <a:xfrm>
            <a:off x="6070600" y="2806700"/>
            <a:ext cx="4483100" cy="643253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ru-RU" sz="1060">
                <a:solidFill>
                  <a:srgbClr val="111111"/>
                </a:solidFill>
                <a:latin typeface="Arial" panose="020B0604020202020204" pitchFamily="34" charset="0"/>
              </a:rPr>
              <a:t>• Грузоподъемность крана и стропов.</a:t>
            </a:r>
          </a:p>
          <a:p>
            <a:r>
              <a:rPr lang="ru-RU" sz="1060">
                <a:solidFill>
                  <a:srgbClr val="111111"/>
                </a:solidFill>
                <a:latin typeface="Arial" panose="020B0604020202020204" pitchFamily="34" charset="0"/>
              </a:rPr>
              <a:t>• Технологическая карта или ППР.</a:t>
            </a:r>
          </a:p>
          <a:p>
            <a:r>
              <a:rPr lang="ru-RU" sz="1060">
                <a:solidFill>
                  <a:srgbClr val="111111"/>
                </a:solidFill>
                <a:latin typeface="Arial" panose="020B0604020202020204" pitchFamily="34" charset="0"/>
              </a:rPr>
              <a:t>• Ограничения по условиям работ и расстояниям.</a:t>
            </a:r>
          </a:p>
        </p:txBody>
      </p:sp>
    </p:spTree>
    <p:extLst>
      <p:ext uri="{BB962C8B-B14F-4D97-AF65-F5344CB8AC3E}">
        <p14:creationId xmlns:p14="http://schemas.microsoft.com/office/powerpoint/2010/main" val="20078620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74320"/>
            <a:ext cx="1325880" cy="384048"/>
          </a:xfrm>
          <a:prstGeom prst="rect">
            <a:avLst/>
          </a:prstGeom>
          <a:noFill/>
        </p:spPr>
        <p:txBody>
          <a:bodyPr wrap="none" lIns="101600" tIns="76200" rIns="101600" bIns="76200">
            <a:spAutoFit/>
          </a:bodyPr>
          <a:lstStyle/>
          <a:p>
            <a:pPr algn="l"/>
            <a:r>
              <a:rPr sz="1000" b="1">
                <a:solidFill>
                  <a:srgbClr val="111111"/>
                </a:solidFill>
                <a:latin typeface="Arial"/>
              </a:rPr>
              <a:t>Тема 2.2</a:t>
            </a:r>
          </a:p>
          <a:p>
            <a:pPr algn="l"/>
            <a:r>
              <a:rPr sz="1000" b="1">
                <a:solidFill>
                  <a:srgbClr val="111111"/>
                </a:solidFill>
                <a:latin typeface="Arial"/>
              </a:rPr>
              <a:t>Технология работы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48672" y="310896"/>
            <a:ext cx="1207008" cy="310896"/>
          </a:xfrm>
          <a:prstGeom prst="round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r>
              <a:rPr lang="en-US" sz="1100" b="1">
                <a:solidFill>
                  <a:srgbClr val="111111"/>
                </a:solidFill>
                <a:latin typeface="Arial" panose="020B0604020202020204" pitchFamily="34" charset="0"/>
              </a:rPr>
              <a:t>S031-P05</a:t>
            </a:r>
            <a:endParaRPr sz="11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5216" y="850392"/>
            <a:ext cx="5669280" cy="830997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r>
              <a:rPr lang="ru-RU" sz="2200" b="1">
                <a:solidFill>
                  <a:srgbClr val="111111"/>
                </a:solidFill>
                <a:latin typeface="Arial" panose="020B0604020202020204" pitchFamily="34" charset="0"/>
              </a:rPr>
              <a:t>Подвал. Осмотри приспособления и тару</a:t>
            </a:r>
            <a:endParaRPr sz="22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76910" y="1828800"/>
            <a:ext cx="10487660" cy="3914140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460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>
            <a:hlinkClick r:id="rId2" action="ppaction://hlinksldjump"/>
          </p:cNvPr>
          <p:cNvSpPr/>
          <p:nvPr/>
        </p:nvSpPr>
        <p:spPr>
          <a:xfrm>
            <a:off x="676656" y="5989320"/>
            <a:ext cx="16916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/>
            <a:r>
              <a:rPr lang="ru-RU" sz="1200" b="1">
                <a:solidFill>
                  <a:srgbClr val="4B5563"/>
                </a:solidFill>
                <a:latin typeface="Arial"/>
              </a:rPr>
              <a:t>Назад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12" name="Прямоугольник: скругленные углы 11">
            <a:hlinkClick r:id="rId3" action="ppaction://hlinksldjump"/>
            <a:extLst>
              <a:ext uri="{FF2B5EF4-FFF2-40B4-BE49-F238E27FC236}">
                <a16:creationId xmlns:a16="http://schemas.microsoft.com/office/drawing/2014/main" id="{47B5600D-ABEB-7396-BEFC-CB9060117184}"/>
              </a:ext>
            </a:extLst>
          </p:cNvPr>
          <p:cNvSpPr/>
          <p:nvPr/>
        </p:nvSpPr>
        <p:spPr>
          <a:xfrm>
            <a:off x="9281160" y="5989320"/>
            <a:ext cx="1901952" cy="347472"/>
          </a:xfrm>
          <a:prstGeom prst="round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/>
            <a:r>
              <a:rPr lang="ru-RU" sz="1200" b="1">
                <a:solidFill>
                  <a:srgbClr val="FFFFFF"/>
                </a:solidFill>
                <a:latin typeface="Arial"/>
              </a:rPr>
              <a:t>Далее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" y="676656"/>
            <a:ext cx="1024128" cy="45720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76910" y="1828800"/>
            <a:ext cx="10487660" cy="36830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86384" y="1920240"/>
            <a:ext cx="777240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850" b="1">
                <a:solidFill>
                  <a:srgbClr val="0038B8"/>
                </a:solidFill>
                <a:latin typeface="Arial"/>
              </a:rPr>
              <a:t>Шаг 01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21608" y="1920240"/>
            <a:ext cx="91440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850" b="1">
                <a:solidFill>
                  <a:srgbClr val="4B5563"/>
                </a:solidFill>
                <a:latin typeface="Arial"/>
              </a:rPr>
              <a:t>Опора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93208" y="1920240"/>
            <a:ext cx="1024128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r>
              <a:rPr lang="en-US" sz="1000" b="1">
                <a:solidFill>
                  <a:srgbClr val="111111"/>
                </a:solidFill>
                <a:latin typeface="Arial" panose="020B0604020202020204" pitchFamily="34" charset="0"/>
              </a:rPr>
              <a:t>S031-P05</a:t>
            </a:r>
            <a:endParaRPr sz="10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217920" y="1920240"/>
            <a:ext cx="77724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850" b="1">
                <a:solidFill>
                  <a:srgbClr val="4B5563"/>
                </a:solidFill>
                <a:latin typeface="Arial"/>
              </a:rPr>
              <a:t>Шаг 01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140696" y="1920240"/>
            <a:ext cx="914400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850" b="1">
                <a:solidFill>
                  <a:srgbClr val="0038B8"/>
                </a:solidFill>
                <a:latin typeface="Arial"/>
              </a:rPr>
              <a:t>Опора</a:t>
            </a:r>
          </a:p>
        </p:txBody>
      </p:sp>
      <p:sp>
        <p:nvSpPr>
          <p:cNvPr id="10" name="Codex_S031P_LeftPanel">
            <a:extLst>
              <a:ext uri="{FF2B5EF4-FFF2-40B4-BE49-F238E27FC236}">
                <a16:creationId xmlns:a16="http://schemas.microsoft.com/office/drawing/2014/main" id="{6693E4E3-C31F-B288-F8A4-D29355B1BF86}"/>
              </a:ext>
            </a:extLst>
          </p:cNvPr>
          <p:cNvSpPr/>
          <p:nvPr/>
        </p:nvSpPr>
        <p:spPr>
          <a:xfrm>
            <a:off x="901700" y="2324100"/>
            <a:ext cx="4787900" cy="2997200"/>
          </a:xfrm>
          <a:prstGeom prst="rect">
            <a:avLst/>
          </a:prstGeom>
          <a:solidFill>
            <a:srgbClr val="F4F5F7"/>
          </a:solidFill>
          <a:ln w="12700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Codex_S031P_LeftStrip">
            <a:extLst>
              <a:ext uri="{FF2B5EF4-FFF2-40B4-BE49-F238E27FC236}">
                <a16:creationId xmlns:a16="http://schemas.microsoft.com/office/drawing/2014/main" id="{FF8DC358-E331-CDE9-1F96-AB31DAB6FF67}"/>
              </a:ext>
            </a:extLst>
          </p:cNvPr>
          <p:cNvSpPr/>
          <p:nvPr/>
        </p:nvSpPr>
        <p:spPr>
          <a:xfrm>
            <a:off x="901700" y="2324100"/>
            <a:ext cx="4787900" cy="38100"/>
          </a:xfrm>
          <a:prstGeom prst="rect">
            <a:avLst/>
          </a:prstGeom>
          <a:solidFill>
            <a:srgbClr val="0038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Codex_S031P_RightPanel">
            <a:extLst>
              <a:ext uri="{FF2B5EF4-FFF2-40B4-BE49-F238E27FC236}">
                <a16:creationId xmlns:a16="http://schemas.microsoft.com/office/drawing/2014/main" id="{10DE9218-67ED-4086-49E4-08DFD0A52B9C}"/>
              </a:ext>
            </a:extLst>
          </p:cNvPr>
          <p:cNvSpPr/>
          <p:nvPr/>
        </p:nvSpPr>
        <p:spPr>
          <a:xfrm>
            <a:off x="5918200" y="2324100"/>
            <a:ext cx="4787900" cy="299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Codex_S031P_RightStrip">
            <a:extLst>
              <a:ext uri="{FF2B5EF4-FFF2-40B4-BE49-F238E27FC236}">
                <a16:creationId xmlns:a16="http://schemas.microsoft.com/office/drawing/2014/main" id="{6DB3BDB3-5EF8-4875-247D-1E2367BF33E1}"/>
              </a:ext>
            </a:extLst>
          </p:cNvPr>
          <p:cNvSpPr/>
          <p:nvPr/>
        </p:nvSpPr>
        <p:spPr>
          <a:xfrm>
            <a:off x="5918200" y="2324100"/>
            <a:ext cx="4787900" cy="38100"/>
          </a:xfrm>
          <a:prstGeom prst="rect">
            <a:avLst/>
          </a:prstGeom>
          <a:solidFill>
            <a:srgbClr val="0038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Codex_S031P_LeftTitle">
            <a:extLst>
              <a:ext uri="{FF2B5EF4-FFF2-40B4-BE49-F238E27FC236}">
                <a16:creationId xmlns:a16="http://schemas.microsoft.com/office/drawing/2014/main" id="{944C42AA-F181-972E-C083-3B1498759DEA}"/>
              </a:ext>
            </a:extLst>
          </p:cNvPr>
          <p:cNvSpPr txBox="1"/>
          <p:nvPr/>
        </p:nvSpPr>
        <p:spPr>
          <a:xfrm>
            <a:off x="1054100" y="2476500"/>
            <a:ext cx="44831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ru-RU" sz="1200" b="1">
                <a:solidFill>
                  <a:srgbClr val="111111"/>
                </a:solidFill>
                <a:latin typeface="Arial" panose="020B0604020202020204" pitchFamily="34" charset="0"/>
              </a:rPr>
              <a:t>Что готовим</a:t>
            </a:r>
          </a:p>
        </p:txBody>
      </p:sp>
      <p:sp>
        <p:nvSpPr>
          <p:cNvPr id="29" name="Codex_S031P_LeftBody">
            <a:extLst>
              <a:ext uri="{FF2B5EF4-FFF2-40B4-BE49-F238E27FC236}">
                <a16:creationId xmlns:a16="http://schemas.microsoft.com/office/drawing/2014/main" id="{67BFF59A-C7E8-517B-C744-2391DA6C0270}"/>
              </a:ext>
            </a:extLst>
          </p:cNvPr>
          <p:cNvSpPr txBox="1"/>
          <p:nvPr/>
        </p:nvSpPr>
        <p:spPr>
          <a:xfrm>
            <a:off x="1054100" y="2806700"/>
            <a:ext cx="4483100" cy="480131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ru-RU" sz="1060">
                <a:solidFill>
                  <a:srgbClr val="111111"/>
                </a:solidFill>
                <a:latin typeface="Arial" panose="020B0604020202020204" pitchFamily="34" charset="0"/>
              </a:rPr>
              <a:t>• Стропы, траверсы, захваты, тару и вспомогательную оснастку.</a:t>
            </a:r>
          </a:p>
          <a:p>
            <a:r>
              <a:rPr lang="ru-RU" sz="1060">
                <a:solidFill>
                  <a:srgbClr val="111111"/>
                </a:solidFill>
                <a:latin typeface="Arial" panose="020B0604020202020204" pitchFamily="34" charset="0"/>
              </a:rPr>
              <a:t>• СИЗ и инструмент, необходимые до начала работ.</a:t>
            </a:r>
          </a:p>
        </p:txBody>
      </p:sp>
      <p:sp>
        <p:nvSpPr>
          <p:cNvPr id="30" name="Codex_S031P_RightTitle">
            <a:extLst>
              <a:ext uri="{FF2B5EF4-FFF2-40B4-BE49-F238E27FC236}">
                <a16:creationId xmlns:a16="http://schemas.microsoft.com/office/drawing/2014/main" id="{2179BDDC-6773-BDE9-A974-0E595C1EA6B1}"/>
              </a:ext>
            </a:extLst>
          </p:cNvPr>
          <p:cNvSpPr txBox="1"/>
          <p:nvPr/>
        </p:nvSpPr>
        <p:spPr>
          <a:xfrm>
            <a:off x="6070600" y="2476500"/>
            <a:ext cx="44831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ru-RU" sz="1200" b="1">
                <a:solidFill>
                  <a:srgbClr val="111111"/>
                </a:solidFill>
                <a:latin typeface="Arial" panose="020B0604020202020204" pitchFamily="34" charset="0"/>
              </a:rPr>
              <a:t>Что проверяем</a:t>
            </a:r>
          </a:p>
        </p:txBody>
      </p:sp>
      <p:sp>
        <p:nvSpPr>
          <p:cNvPr id="31" name="Codex_S031P_RightBody">
            <a:extLst>
              <a:ext uri="{FF2B5EF4-FFF2-40B4-BE49-F238E27FC236}">
                <a16:creationId xmlns:a16="http://schemas.microsoft.com/office/drawing/2014/main" id="{55DDED84-35A0-2ECA-FD1A-0CDFF29540D3}"/>
              </a:ext>
            </a:extLst>
          </p:cNvPr>
          <p:cNvSpPr txBox="1"/>
          <p:nvPr/>
        </p:nvSpPr>
        <p:spPr>
          <a:xfrm>
            <a:off x="6070600" y="2806700"/>
            <a:ext cx="4483100" cy="643253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ru-RU" sz="1060">
                <a:solidFill>
                  <a:srgbClr val="111111"/>
                </a:solidFill>
                <a:latin typeface="Arial" panose="020B0604020202020204" pitchFamily="34" charset="0"/>
              </a:rPr>
              <a:t>• Бирки, клейма и грузоподъемность.</a:t>
            </a:r>
          </a:p>
          <a:p>
            <a:r>
              <a:rPr lang="ru-RU" sz="1060">
                <a:solidFill>
                  <a:srgbClr val="111111"/>
                </a:solidFill>
                <a:latin typeface="Arial" panose="020B0604020202020204" pitchFamily="34" charset="0"/>
              </a:rPr>
              <a:t>• Износ, надрывы, деформации и трещины.</a:t>
            </a:r>
          </a:p>
          <a:p>
            <a:r>
              <a:rPr lang="ru-RU" sz="1060">
                <a:solidFill>
                  <a:srgbClr val="111111"/>
                </a:solidFill>
                <a:latin typeface="Arial" panose="020B0604020202020204" pitchFamily="34" charset="0"/>
              </a:rPr>
              <a:t>• Все дефектные приспособления сразу выводим из работы.</a:t>
            </a:r>
          </a:p>
        </p:txBody>
      </p:sp>
    </p:spTree>
    <p:extLst>
      <p:ext uri="{BB962C8B-B14F-4D97-AF65-F5344CB8AC3E}">
        <p14:creationId xmlns:p14="http://schemas.microsoft.com/office/powerpoint/2010/main" val="39423387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74320"/>
            <a:ext cx="1325880" cy="384048"/>
          </a:xfrm>
          <a:prstGeom prst="rect">
            <a:avLst/>
          </a:prstGeom>
          <a:noFill/>
        </p:spPr>
        <p:txBody>
          <a:bodyPr wrap="none" lIns="101600" tIns="76200" rIns="101600" bIns="76200">
            <a:spAutoFit/>
          </a:bodyPr>
          <a:lstStyle/>
          <a:p>
            <a:pPr algn="l"/>
            <a:r>
              <a:rPr sz="1000" b="1">
                <a:solidFill>
                  <a:srgbClr val="111111"/>
                </a:solidFill>
                <a:latin typeface="Arial"/>
              </a:rPr>
              <a:t>Тема 2.2</a:t>
            </a:r>
          </a:p>
          <a:p>
            <a:pPr algn="l"/>
            <a:r>
              <a:rPr sz="1000" b="1">
                <a:solidFill>
                  <a:srgbClr val="111111"/>
                </a:solidFill>
                <a:latin typeface="Arial"/>
              </a:rPr>
              <a:t>Технология работы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04120" y="310896"/>
            <a:ext cx="1051560" cy="310896"/>
          </a:xfrm>
          <a:prstGeom prst="round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1600" tIns="76200" rIns="101600" bIns="7620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rial"/>
              </a:rPr>
              <a:t>S032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5216" y="850392"/>
            <a:ext cx="5669280" cy="523220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r>
              <a:rPr lang="ru-RU" sz="2400" b="1">
                <a:solidFill>
                  <a:srgbClr val="111111"/>
                </a:solidFill>
                <a:latin typeface="Arial" panose="020B0604020202020204" pitchFamily="34" charset="0"/>
              </a:rPr>
              <a:t>Когда работу нельзя начинать</a:t>
            </a:r>
            <a:endParaRPr sz="24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983480" y="1828800"/>
            <a:ext cx="6181344" cy="3913632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66360" y="5376672"/>
            <a:ext cx="5815584" cy="219456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r>
              <a:t>Пример условия, при котором работу начинать нельзя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5989320"/>
            <a:ext cx="16916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/>
            <a:r>
              <a:rPr lang="ru-RU" sz="1200" b="1">
                <a:solidFill>
                  <a:srgbClr val="4B5563"/>
                </a:solidFill>
                <a:latin typeface="Arial"/>
              </a:rPr>
              <a:t>Назад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47B5600D-ABEB-7396-BEFC-CB9060117184}"/>
              </a:ext>
            </a:extLst>
          </p:cNvPr>
          <p:cNvSpPr/>
          <p:nvPr/>
        </p:nvSpPr>
        <p:spPr>
          <a:xfrm>
            <a:off x="9281160" y="5989320"/>
            <a:ext cx="1901952" cy="347472"/>
          </a:xfrm>
          <a:prstGeom prst="round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/>
            <a:r>
              <a:rPr lang="ru-RU" sz="1200" b="1">
                <a:solidFill>
                  <a:srgbClr val="FFFFFF"/>
                </a:solidFill>
                <a:latin typeface="Arial"/>
              </a:rPr>
              <a:t>Далее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" y="676656"/>
            <a:ext cx="1024128" cy="45720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983480" y="1828800"/>
            <a:ext cx="6181344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93208" y="1920240"/>
            <a:ext cx="868680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850" b="1">
                <a:solidFill>
                  <a:srgbClr val="0038B8"/>
                </a:solidFill>
                <a:latin typeface="Arial"/>
              </a:rPr>
              <a:t>S032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62472" y="1920240"/>
            <a:ext cx="77724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850" b="1">
                <a:solidFill>
                  <a:srgbClr val="4B5563"/>
                </a:solidFill>
                <a:latin typeface="Arial"/>
              </a:rPr>
              <a:t>Шаг 01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140696" y="1920240"/>
            <a:ext cx="914400" cy="201168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850" b="1">
                <a:solidFill>
                  <a:srgbClr val="C51F1F"/>
                </a:solidFill>
                <a:latin typeface="Arial"/>
              </a:rPr>
              <a:t>Критично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93208" y="2176272"/>
            <a:ext cx="5961888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11111"/>
                </a:solidFill>
                <a:latin typeface="Arial"/>
              </a:rPr>
              <a:t>Разбор опасного условия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48072" y="5303520"/>
            <a:ext cx="5852160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EF4928A-5EE9-AE6C-2562-116EFA4EAA46}"/>
              </a:ext>
            </a:extLst>
          </p:cNvPr>
          <p:cNvSpPr txBox="1"/>
          <p:nvPr/>
        </p:nvSpPr>
        <p:spPr>
          <a:xfrm>
            <a:off x="5629275" y="2952750"/>
            <a:ext cx="4152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Вставляем слайд шоу или видео. Сценарий в подвалах.</a:t>
            </a:r>
          </a:p>
        </p:txBody>
      </p:sp>
      <p:sp>
        <p:nvSpPr>
          <p:cNvPr id="6" name="Codex_S032_Card1_panel">
            <a:hlinkClick r:id="rId2" action="ppaction://hlinksldjump"/>
            <a:extLst>
              <a:ext uri="{FF2B5EF4-FFF2-40B4-BE49-F238E27FC236}">
                <a16:creationId xmlns:a16="http://schemas.microsoft.com/office/drawing/2014/main" id="{7B97E898-AFA2-591D-C9F7-D0CDF8DF0592}"/>
              </a:ext>
            </a:extLst>
          </p:cNvPr>
          <p:cNvSpPr/>
          <p:nvPr/>
        </p:nvSpPr>
        <p:spPr>
          <a:xfrm>
            <a:off x="676910" y="2006600"/>
            <a:ext cx="4069080" cy="584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Codex_S032_Card1_strip">
            <a:hlinkClick r:id="rId2" action="ppaction://hlinksldjump"/>
            <a:extLst>
              <a:ext uri="{FF2B5EF4-FFF2-40B4-BE49-F238E27FC236}">
                <a16:creationId xmlns:a16="http://schemas.microsoft.com/office/drawing/2014/main" id="{EC12EBB8-90CA-ACF2-5A26-0996B4757571}"/>
              </a:ext>
            </a:extLst>
          </p:cNvPr>
          <p:cNvSpPr/>
          <p:nvPr/>
        </p:nvSpPr>
        <p:spPr>
          <a:xfrm>
            <a:off x="778510" y="2082800"/>
            <a:ext cx="3865880" cy="38100"/>
          </a:xfrm>
          <a:prstGeom prst="rect">
            <a:avLst/>
          </a:prstGeom>
          <a:solidFill>
            <a:srgbClr val="0038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Codex_S032_Card1_text">
            <a:hlinkClick r:id="rId2" action="ppaction://hlinksldjump"/>
            <a:extLst>
              <a:ext uri="{FF2B5EF4-FFF2-40B4-BE49-F238E27FC236}">
                <a16:creationId xmlns:a16="http://schemas.microsoft.com/office/drawing/2014/main" id="{A4E3A191-5798-7E6D-E6C1-85E38BB58C8C}"/>
              </a:ext>
            </a:extLst>
          </p:cNvPr>
          <p:cNvSpPr txBox="1"/>
          <p:nvPr/>
        </p:nvSpPr>
        <p:spPr>
          <a:xfrm>
            <a:off x="829310" y="2146300"/>
            <a:ext cx="3764280" cy="341632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ru-RU" sz="1220" b="1">
                <a:solidFill>
                  <a:srgbClr val="111111"/>
                </a:solidFill>
                <a:latin typeface="Arial" panose="020B0604020202020204" pitchFamily="34" charset="0"/>
              </a:rPr>
              <a:t>Плохая видимость</a:t>
            </a:r>
          </a:p>
        </p:txBody>
      </p:sp>
      <p:sp>
        <p:nvSpPr>
          <p:cNvPr id="14" name="Codex_S032_Card2_panel">
            <a:hlinkClick r:id="rId3" action="ppaction://hlinksldjump"/>
            <a:extLst>
              <a:ext uri="{FF2B5EF4-FFF2-40B4-BE49-F238E27FC236}">
                <a16:creationId xmlns:a16="http://schemas.microsoft.com/office/drawing/2014/main" id="{0BCDCDC5-A90A-6948-22DC-BC67BC760D16}"/>
              </a:ext>
            </a:extLst>
          </p:cNvPr>
          <p:cNvSpPr/>
          <p:nvPr/>
        </p:nvSpPr>
        <p:spPr>
          <a:xfrm>
            <a:off x="676910" y="2730500"/>
            <a:ext cx="4069080" cy="584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Codex_S032_Card2_strip">
            <a:hlinkClick r:id="rId3" action="ppaction://hlinksldjump"/>
            <a:extLst>
              <a:ext uri="{FF2B5EF4-FFF2-40B4-BE49-F238E27FC236}">
                <a16:creationId xmlns:a16="http://schemas.microsoft.com/office/drawing/2014/main" id="{5924D8A2-7636-3BD1-D9F3-A3F5CF9430AF}"/>
              </a:ext>
            </a:extLst>
          </p:cNvPr>
          <p:cNvSpPr/>
          <p:nvPr/>
        </p:nvSpPr>
        <p:spPr>
          <a:xfrm>
            <a:off x="778510" y="2806700"/>
            <a:ext cx="3865880" cy="38100"/>
          </a:xfrm>
          <a:prstGeom prst="rect">
            <a:avLst/>
          </a:prstGeom>
          <a:solidFill>
            <a:srgbClr val="0038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Codex_S032_Card2_text">
            <a:hlinkClick r:id="rId3" action="ppaction://hlinksldjump"/>
            <a:extLst>
              <a:ext uri="{FF2B5EF4-FFF2-40B4-BE49-F238E27FC236}">
                <a16:creationId xmlns:a16="http://schemas.microsoft.com/office/drawing/2014/main" id="{E48C1F5E-FF1B-EEEF-E6AB-7192C99B83BE}"/>
              </a:ext>
            </a:extLst>
          </p:cNvPr>
          <p:cNvSpPr txBox="1"/>
          <p:nvPr/>
        </p:nvSpPr>
        <p:spPr>
          <a:xfrm>
            <a:off x="829310" y="2870200"/>
            <a:ext cx="3764280" cy="341632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ru-RU" sz="1220" b="1">
                <a:solidFill>
                  <a:srgbClr val="111111"/>
                </a:solidFill>
                <a:latin typeface="Arial" panose="020B0604020202020204" pitchFamily="34" charset="0"/>
              </a:rPr>
              <a:t>Нет схемы</a:t>
            </a:r>
          </a:p>
        </p:txBody>
      </p:sp>
      <p:sp>
        <p:nvSpPr>
          <p:cNvPr id="39" name="Codex_S032_Card3_panel">
            <a:hlinkClick r:id="rId4" action="ppaction://hlinksldjump"/>
            <a:extLst>
              <a:ext uri="{FF2B5EF4-FFF2-40B4-BE49-F238E27FC236}">
                <a16:creationId xmlns:a16="http://schemas.microsoft.com/office/drawing/2014/main" id="{08C2B0FC-235C-6804-4D5D-791D361B1C6E}"/>
              </a:ext>
            </a:extLst>
          </p:cNvPr>
          <p:cNvSpPr/>
          <p:nvPr/>
        </p:nvSpPr>
        <p:spPr>
          <a:xfrm>
            <a:off x="676910" y="3454400"/>
            <a:ext cx="4069080" cy="584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Codex_S032_Card3_strip">
            <a:hlinkClick r:id="rId4" action="ppaction://hlinksldjump"/>
            <a:extLst>
              <a:ext uri="{FF2B5EF4-FFF2-40B4-BE49-F238E27FC236}">
                <a16:creationId xmlns:a16="http://schemas.microsoft.com/office/drawing/2014/main" id="{A656EDD2-E398-4D9C-201B-60716C690D1F}"/>
              </a:ext>
            </a:extLst>
          </p:cNvPr>
          <p:cNvSpPr/>
          <p:nvPr/>
        </p:nvSpPr>
        <p:spPr>
          <a:xfrm>
            <a:off x="778510" y="3530600"/>
            <a:ext cx="3865880" cy="38100"/>
          </a:xfrm>
          <a:prstGeom prst="rect">
            <a:avLst/>
          </a:prstGeom>
          <a:solidFill>
            <a:srgbClr val="0038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Codex_S032_Card3_text">
            <a:hlinkClick r:id="rId4" action="ppaction://hlinksldjump"/>
            <a:extLst>
              <a:ext uri="{FF2B5EF4-FFF2-40B4-BE49-F238E27FC236}">
                <a16:creationId xmlns:a16="http://schemas.microsoft.com/office/drawing/2014/main" id="{E61F2D8D-621E-FF83-CF03-F6D809D63F28}"/>
              </a:ext>
            </a:extLst>
          </p:cNvPr>
          <p:cNvSpPr txBox="1"/>
          <p:nvPr/>
        </p:nvSpPr>
        <p:spPr>
          <a:xfrm>
            <a:off x="829310" y="3594100"/>
            <a:ext cx="3764280" cy="341632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ru-RU" sz="1220" b="1">
                <a:solidFill>
                  <a:srgbClr val="111111"/>
                </a:solidFill>
                <a:latin typeface="Arial" panose="020B0604020202020204" pitchFamily="34" charset="0"/>
              </a:rPr>
              <a:t>Неисправная оснастка</a:t>
            </a:r>
          </a:p>
        </p:txBody>
      </p:sp>
      <p:sp>
        <p:nvSpPr>
          <p:cNvPr id="42" name="Codex_S032_Card4_panel">
            <a:hlinkClick r:id="rId5" action="ppaction://hlinksldjump"/>
            <a:extLst>
              <a:ext uri="{FF2B5EF4-FFF2-40B4-BE49-F238E27FC236}">
                <a16:creationId xmlns:a16="http://schemas.microsoft.com/office/drawing/2014/main" id="{EB71284E-BD82-C057-5E31-4667BD9C90B7}"/>
              </a:ext>
            </a:extLst>
          </p:cNvPr>
          <p:cNvSpPr/>
          <p:nvPr/>
        </p:nvSpPr>
        <p:spPr>
          <a:xfrm>
            <a:off x="676910" y="4178300"/>
            <a:ext cx="4069080" cy="584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Codex_S032_Card4_strip">
            <a:hlinkClick r:id="rId5" action="ppaction://hlinksldjump"/>
            <a:extLst>
              <a:ext uri="{FF2B5EF4-FFF2-40B4-BE49-F238E27FC236}">
                <a16:creationId xmlns:a16="http://schemas.microsoft.com/office/drawing/2014/main" id="{C874FDB8-06BB-44A6-404D-7EDEECA40D52}"/>
              </a:ext>
            </a:extLst>
          </p:cNvPr>
          <p:cNvSpPr/>
          <p:nvPr/>
        </p:nvSpPr>
        <p:spPr>
          <a:xfrm>
            <a:off x="778510" y="4254500"/>
            <a:ext cx="3865880" cy="38100"/>
          </a:xfrm>
          <a:prstGeom prst="rect">
            <a:avLst/>
          </a:prstGeom>
          <a:solidFill>
            <a:srgbClr val="0038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Codex_S032_Card4_text">
            <a:hlinkClick r:id="rId5" action="ppaction://hlinksldjump"/>
            <a:extLst>
              <a:ext uri="{FF2B5EF4-FFF2-40B4-BE49-F238E27FC236}">
                <a16:creationId xmlns:a16="http://schemas.microsoft.com/office/drawing/2014/main" id="{0CFCB80A-98C9-53B0-37A0-4D8ADEB8793F}"/>
              </a:ext>
            </a:extLst>
          </p:cNvPr>
          <p:cNvSpPr txBox="1"/>
          <p:nvPr/>
        </p:nvSpPr>
        <p:spPr>
          <a:xfrm>
            <a:off x="829310" y="4318000"/>
            <a:ext cx="3764280" cy="341632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ru-RU" sz="1220" b="1">
                <a:solidFill>
                  <a:srgbClr val="111111"/>
                </a:solidFill>
                <a:latin typeface="Arial" panose="020B0604020202020204" pitchFamily="34" charset="0"/>
              </a:rPr>
              <a:t>Небезопасное рабочее место</a:t>
            </a:r>
          </a:p>
        </p:txBody>
      </p:sp>
      <p:sp>
        <p:nvSpPr>
          <p:cNvPr id="45" name="Codex_S032_Card5_panel">
            <a:hlinkClick r:id="rId6" action="ppaction://hlinksldjump"/>
            <a:extLst>
              <a:ext uri="{FF2B5EF4-FFF2-40B4-BE49-F238E27FC236}">
                <a16:creationId xmlns:a16="http://schemas.microsoft.com/office/drawing/2014/main" id="{DFFC08D0-A568-5F4E-9716-8EB9F4828701}"/>
              </a:ext>
            </a:extLst>
          </p:cNvPr>
          <p:cNvSpPr/>
          <p:nvPr/>
        </p:nvSpPr>
        <p:spPr>
          <a:xfrm>
            <a:off x="676910" y="4902200"/>
            <a:ext cx="4069080" cy="584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Codex_S032_Card5_strip">
            <a:hlinkClick r:id="rId6" action="ppaction://hlinksldjump"/>
            <a:extLst>
              <a:ext uri="{FF2B5EF4-FFF2-40B4-BE49-F238E27FC236}">
                <a16:creationId xmlns:a16="http://schemas.microsoft.com/office/drawing/2014/main" id="{AB07FEDB-F3F3-0CC1-B9BB-D674FD9327B2}"/>
              </a:ext>
            </a:extLst>
          </p:cNvPr>
          <p:cNvSpPr/>
          <p:nvPr/>
        </p:nvSpPr>
        <p:spPr>
          <a:xfrm>
            <a:off x="778510" y="4978400"/>
            <a:ext cx="3865880" cy="38100"/>
          </a:xfrm>
          <a:prstGeom prst="rect">
            <a:avLst/>
          </a:prstGeom>
          <a:solidFill>
            <a:srgbClr val="0038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Codex_S032_Card5_text">
            <a:hlinkClick r:id="rId6" action="ppaction://hlinksldjump"/>
            <a:extLst>
              <a:ext uri="{FF2B5EF4-FFF2-40B4-BE49-F238E27FC236}">
                <a16:creationId xmlns:a16="http://schemas.microsoft.com/office/drawing/2014/main" id="{31E91398-9199-C140-04EF-086F0C1DF8B6}"/>
              </a:ext>
            </a:extLst>
          </p:cNvPr>
          <p:cNvSpPr txBox="1"/>
          <p:nvPr/>
        </p:nvSpPr>
        <p:spPr>
          <a:xfrm>
            <a:off x="829310" y="5041900"/>
            <a:ext cx="3764280" cy="341632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ru-RU" sz="1220" b="1">
                <a:solidFill>
                  <a:srgbClr val="111111"/>
                </a:solidFill>
                <a:latin typeface="Arial" panose="020B0604020202020204" pitchFamily="34" charset="0"/>
              </a:rPr>
              <a:t>Неясные условия работы</a:t>
            </a:r>
          </a:p>
        </p:txBody>
      </p:sp>
    </p:spTree>
    <p:extLst>
      <p:ext uri="{BB962C8B-B14F-4D97-AF65-F5344CB8AC3E}">
        <p14:creationId xmlns:p14="http://schemas.microsoft.com/office/powerpoint/2010/main" val="32635087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74320"/>
            <a:ext cx="1325880" cy="384048"/>
          </a:xfrm>
          <a:prstGeom prst="rect">
            <a:avLst/>
          </a:prstGeom>
          <a:noFill/>
        </p:spPr>
        <p:txBody>
          <a:bodyPr wrap="none" lIns="101600" tIns="76200" rIns="101600" bIns="76200">
            <a:spAutoFit/>
          </a:bodyPr>
          <a:lstStyle/>
          <a:p>
            <a:pPr algn="l"/>
            <a:r>
              <a:rPr sz="1000" b="1">
                <a:solidFill>
                  <a:srgbClr val="111111"/>
                </a:solidFill>
                <a:latin typeface="Arial"/>
              </a:rPr>
              <a:t>Тема 2.2</a:t>
            </a:r>
          </a:p>
          <a:p>
            <a:pPr algn="l"/>
            <a:r>
              <a:rPr sz="1000" b="1">
                <a:solidFill>
                  <a:srgbClr val="111111"/>
                </a:solidFill>
                <a:latin typeface="Arial"/>
              </a:rPr>
              <a:t>Технология работы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48672" y="310896"/>
            <a:ext cx="1207008" cy="310896"/>
          </a:xfrm>
          <a:prstGeom prst="round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r>
              <a:rPr lang="en-US" sz="1100" b="1">
                <a:solidFill>
                  <a:srgbClr val="111111"/>
                </a:solidFill>
                <a:latin typeface="Arial" panose="020B0604020202020204" pitchFamily="34" charset="0"/>
              </a:rPr>
              <a:t>S032-P01</a:t>
            </a:r>
            <a:endParaRPr sz="11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5216" y="850392"/>
            <a:ext cx="5669280" cy="492443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r>
              <a:rPr lang="ru-RU" sz="2200" b="1">
                <a:solidFill>
                  <a:srgbClr val="111111"/>
                </a:solidFill>
                <a:latin typeface="Arial" panose="020B0604020202020204" pitchFamily="34" charset="0"/>
              </a:rPr>
              <a:t>Подвал. Плохая видимость</a:t>
            </a:r>
            <a:endParaRPr sz="22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76910" y="1828800"/>
            <a:ext cx="10487660" cy="3914140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460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>
            <a:hlinkClick r:id="rId2" action="ppaction://hlinksldjump"/>
          </p:cNvPr>
          <p:cNvSpPr/>
          <p:nvPr/>
        </p:nvSpPr>
        <p:spPr>
          <a:xfrm>
            <a:off x="676656" y="5989320"/>
            <a:ext cx="16916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/>
            <a:r>
              <a:rPr lang="ru-RU" sz="1200" b="1">
                <a:solidFill>
                  <a:srgbClr val="4B5563"/>
                </a:solidFill>
                <a:latin typeface="Arial"/>
              </a:rPr>
              <a:t>Назад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12" name="Прямоугольник: скругленные углы 11">
            <a:hlinkClick r:id="rId3" action="ppaction://hlinksldjump"/>
            <a:extLst>
              <a:ext uri="{FF2B5EF4-FFF2-40B4-BE49-F238E27FC236}">
                <a16:creationId xmlns:a16="http://schemas.microsoft.com/office/drawing/2014/main" id="{47B5600D-ABEB-7396-BEFC-CB9060117184}"/>
              </a:ext>
            </a:extLst>
          </p:cNvPr>
          <p:cNvSpPr/>
          <p:nvPr/>
        </p:nvSpPr>
        <p:spPr>
          <a:xfrm>
            <a:off x="9281160" y="5989320"/>
            <a:ext cx="1901952" cy="347472"/>
          </a:xfrm>
          <a:prstGeom prst="round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/>
            <a:r>
              <a:rPr lang="ru-RU" sz="1200" b="1">
                <a:solidFill>
                  <a:srgbClr val="FFFFFF"/>
                </a:solidFill>
                <a:latin typeface="Arial"/>
              </a:rPr>
              <a:t>Далее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" y="676656"/>
            <a:ext cx="1024128" cy="45720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76910" y="1828800"/>
            <a:ext cx="10487660" cy="36830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86384" y="1920240"/>
            <a:ext cx="777240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850" b="1">
                <a:solidFill>
                  <a:srgbClr val="0038B8"/>
                </a:solidFill>
                <a:latin typeface="Arial"/>
              </a:rPr>
              <a:t>Шаг 01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21608" y="1920240"/>
            <a:ext cx="91440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/>
            <a:r>
              <a:rPr lang="ru-RU" sz="1000" b="1">
                <a:solidFill>
                  <a:srgbClr val="111111"/>
                </a:solidFill>
                <a:latin typeface="Arial" panose="020B0604020202020204" pitchFamily="34" charset="0"/>
              </a:rPr>
              <a:t>Критично</a:t>
            </a:r>
            <a:endParaRPr sz="10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093208" y="1920240"/>
            <a:ext cx="1024128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r>
              <a:rPr lang="en-US" sz="1000" b="1">
                <a:solidFill>
                  <a:srgbClr val="111111"/>
                </a:solidFill>
                <a:latin typeface="Arial" panose="020B0604020202020204" pitchFamily="34" charset="0"/>
              </a:rPr>
              <a:t>S032-P01</a:t>
            </a:r>
            <a:endParaRPr sz="10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217920" y="1920240"/>
            <a:ext cx="77724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850" b="1">
                <a:solidFill>
                  <a:srgbClr val="4B5563"/>
                </a:solidFill>
                <a:latin typeface="Arial"/>
              </a:rPr>
              <a:t>Шаг 01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140696" y="1920240"/>
            <a:ext cx="914400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/>
            <a:r>
              <a:rPr lang="ru-RU" sz="1000" b="1">
                <a:solidFill>
                  <a:srgbClr val="111111"/>
                </a:solidFill>
                <a:latin typeface="Arial" panose="020B0604020202020204" pitchFamily="34" charset="0"/>
              </a:rPr>
              <a:t>Видео</a:t>
            </a:r>
            <a:endParaRPr sz="10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7" name="Codex_S031P_LeftPanel">
            <a:extLst>
              <a:ext uri="{FF2B5EF4-FFF2-40B4-BE49-F238E27FC236}">
                <a16:creationId xmlns:a16="http://schemas.microsoft.com/office/drawing/2014/main" id="{879EBF3B-5057-1BED-FBF4-4225AC0F32D7}"/>
              </a:ext>
            </a:extLst>
          </p:cNvPr>
          <p:cNvSpPr/>
          <p:nvPr/>
        </p:nvSpPr>
        <p:spPr>
          <a:xfrm>
            <a:off x="901700" y="2324100"/>
            <a:ext cx="4787900" cy="2997200"/>
          </a:xfrm>
          <a:prstGeom prst="rect">
            <a:avLst/>
          </a:prstGeom>
          <a:solidFill>
            <a:srgbClr val="F4F5F7"/>
          </a:solidFill>
          <a:ln w="12700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Codex_S031P_LeftStrip">
            <a:extLst>
              <a:ext uri="{FF2B5EF4-FFF2-40B4-BE49-F238E27FC236}">
                <a16:creationId xmlns:a16="http://schemas.microsoft.com/office/drawing/2014/main" id="{22483FB4-6888-9510-66D0-07AC06D0CFE7}"/>
              </a:ext>
            </a:extLst>
          </p:cNvPr>
          <p:cNvSpPr/>
          <p:nvPr/>
        </p:nvSpPr>
        <p:spPr>
          <a:xfrm>
            <a:off x="901700" y="2324100"/>
            <a:ext cx="4787900" cy="38100"/>
          </a:xfrm>
          <a:prstGeom prst="rect">
            <a:avLst/>
          </a:prstGeom>
          <a:solidFill>
            <a:srgbClr val="0038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Codex_S031P_RightPanel">
            <a:extLst>
              <a:ext uri="{FF2B5EF4-FFF2-40B4-BE49-F238E27FC236}">
                <a16:creationId xmlns:a16="http://schemas.microsoft.com/office/drawing/2014/main" id="{54C53769-F28C-19A8-765E-B71802E7A5ED}"/>
              </a:ext>
            </a:extLst>
          </p:cNvPr>
          <p:cNvSpPr/>
          <p:nvPr/>
        </p:nvSpPr>
        <p:spPr>
          <a:xfrm>
            <a:off x="5918200" y="2324100"/>
            <a:ext cx="4787900" cy="299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Codex_S031P_RightStrip">
            <a:extLst>
              <a:ext uri="{FF2B5EF4-FFF2-40B4-BE49-F238E27FC236}">
                <a16:creationId xmlns:a16="http://schemas.microsoft.com/office/drawing/2014/main" id="{A62307C1-B14B-CFCA-61FB-1F34324FDC93}"/>
              </a:ext>
            </a:extLst>
          </p:cNvPr>
          <p:cNvSpPr/>
          <p:nvPr/>
        </p:nvSpPr>
        <p:spPr>
          <a:xfrm>
            <a:off x="5918200" y="2324100"/>
            <a:ext cx="4787900" cy="38100"/>
          </a:xfrm>
          <a:prstGeom prst="rect">
            <a:avLst/>
          </a:prstGeom>
          <a:solidFill>
            <a:srgbClr val="0038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Codex_S032P_LeftPanel">
            <a:extLst>
              <a:ext uri="{FF2B5EF4-FFF2-40B4-BE49-F238E27FC236}">
                <a16:creationId xmlns:a16="http://schemas.microsoft.com/office/drawing/2014/main" id="{C6B3B439-79CC-949C-9EA8-CF43CFA44702}"/>
              </a:ext>
            </a:extLst>
          </p:cNvPr>
          <p:cNvSpPr/>
          <p:nvPr/>
        </p:nvSpPr>
        <p:spPr>
          <a:xfrm>
            <a:off x="901700" y="2324100"/>
            <a:ext cx="3556000" cy="2997200"/>
          </a:xfrm>
          <a:prstGeom prst="rect">
            <a:avLst/>
          </a:prstGeom>
          <a:solidFill>
            <a:srgbClr val="F4F5F7"/>
          </a:solidFill>
          <a:ln w="12700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Codex_S032P_LeftStrip">
            <a:extLst>
              <a:ext uri="{FF2B5EF4-FFF2-40B4-BE49-F238E27FC236}">
                <a16:creationId xmlns:a16="http://schemas.microsoft.com/office/drawing/2014/main" id="{77037FEF-BA1D-1BC1-2ED4-0777BD0C86A0}"/>
              </a:ext>
            </a:extLst>
          </p:cNvPr>
          <p:cNvSpPr/>
          <p:nvPr/>
        </p:nvSpPr>
        <p:spPr>
          <a:xfrm>
            <a:off x="901700" y="2324100"/>
            <a:ext cx="3556000" cy="38100"/>
          </a:xfrm>
          <a:prstGeom prst="rect">
            <a:avLst/>
          </a:prstGeom>
          <a:solidFill>
            <a:srgbClr val="0038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Codex_S032P_RightPanel">
            <a:extLst>
              <a:ext uri="{FF2B5EF4-FFF2-40B4-BE49-F238E27FC236}">
                <a16:creationId xmlns:a16="http://schemas.microsoft.com/office/drawing/2014/main" id="{F738BA26-7B29-6985-4559-3D4A71814913}"/>
              </a:ext>
            </a:extLst>
          </p:cNvPr>
          <p:cNvSpPr/>
          <p:nvPr/>
        </p:nvSpPr>
        <p:spPr>
          <a:xfrm>
            <a:off x="4686300" y="2324100"/>
            <a:ext cx="6235700" cy="299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Codex_S032P_RightStrip">
            <a:extLst>
              <a:ext uri="{FF2B5EF4-FFF2-40B4-BE49-F238E27FC236}">
                <a16:creationId xmlns:a16="http://schemas.microsoft.com/office/drawing/2014/main" id="{18C8993E-8E3F-00AC-53A5-0DD090F56CA6}"/>
              </a:ext>
            </a:extLst>
          </p:cNvPr>
          <p:cNvSpPr/>
          <p:nvPr/>
        </p:nvSpPr>
        <p:spPr>
          <a:xfrm>
            <a:off x="4686300" y="2324100"/>
            <a:ext cx="6235700" cy="38100"/>
          </a:xfrm>
          <a:prstGeom prst="rect">
            <a:avLst/>
          </a:prstGeom>
          <a:solidFill>
            <a:srgbClr val="0038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Codex_S032P_LeftTitle">
            <a:extLst>
              <a:ext uri="{FF2B5EF4-FFF2-40B4-BE49-F238E27FC236}">
                <a16:creationId xmlns:a16="http://schemas.microsoft.com/office/drawing/2014/main" id="{2BC69AA9-F82E-4FB2-965D-CD15964B49D3}"/>
              </a:ext>
            </a:extLst>
          </p:cNvPr>
          <p:cNvSpPr txBox="1"/>
          <p:nvPr/>
        </p:nvSpPr>
        <p:spPr>
          <a:xfrm>
            <a:off x="1054100" y="2476500"/>
            <a:ext cx="32512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ru-RU" sz="1200" b="1">
                <a:solidFill>
                  <a:srgbClr val="111111"/>
                </a:solidFill>
                <a:latin typeface="Arial" panose="020B0604020202020204" pitchFamily="34" charset="0"/>
              </a:rPr>
              <a:t>Чем опасно</a:t>
            </a:r>
          </a:p>
        </p:txBody>
      </p:sp>
      <p:sp>
        <p:nvSpPr>
          <p:cNvPr id="29" name="Codex_S032P_LeftBody">
            <a:extLst>
              <a:ext uri="{FF2B5EF4-FFF2-40B4-BE49-F238E27FC236}">
                <a16:creationId xmlns:a16="http://schemas.microsoft.com/office/drawing/2014/main" id="{F50FB74C-8236-673C-3421-90A5FF0ECE1B}"/>
              </a:ext>
            </a:extLst>
          </p:cNvPr>
          <p:cNvSpPr txBox="1"/>
          <p:nvPr/>
        </p:nvSpPr>
        <p:spPr>
          <a:xfrm>
            <a:off x="1054100" y="2806700"/>
            <a:ext cx="3251200" cy="115108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ru-RU" sz="1080">
                <a:solidFill>
                  <a:srgbClr val="111111"/>
                </a:solidFill>
                <a:latin typeface="Arial" panose="020B0604020202020204" pitchFamily="34" charset="0"/>
              </a:rPr>
              <a:t>• Стропальщик не видит точку зацепки, траекторию груза и препятствия.</a:t>
            </a:r>
          </a:p>
          <a:p>
            <a:r>
              <a:rPr lang="ru-RU" sz="1080">
                <a:solidFill>
                  <a:srgbClr val="111111"/>
                </a:solidFill>
                <a:latin typeface="Arial" panose="020B0604020202020204" pitchFamily="34" charset="0"/>
              </a:rPr>
              <a:t>• Поздно замечает людей в опасной зоне и команды машиниста.</a:t>
            </a:r>
          </a:p>
          <a:p>
            <a:r>
              <a:rPr lang="ru-RU" sz="1080">
                <a:solidFill>
                  <a:srgbClr val="111111"/>
                </a:solidFill>
                <a:latin typeface="Arial" panose="020B0604020202020204" pitchFamily="34" charset="0"/>
              </a:rPr>
              <a:t>• Ошибка на старте приводит к перекосу, удару груза или травме.</a:t>
            </a:r>
          </a:p>
        </p:txBody>
      </p:sp>
      <p:sp>
        <p:nvSpPr>
          <p:cNvPr id="30" name="Codex_S032P_RightTitle">
            <a:extLst>
              <a:ext uri="{FF2B5EF4-FFF2-40B4-BE49-F238E27FC236}">
                <a16:creationId xmlns:a16="http://schemas.microsoft.com/office/drawing/2014/main" id="{D314AA5B-6132-1ACA-2068-C59EFA505F23}"/>
              </a:ext>
            </a:extLst>
          </p:cNvPr>
          <p:cNvSpPr txBox="1"/>
          <p:nvPr/>
        </p:nvSpPr>
        <p:spPr>
          <a:xfrm>
            <a:off x="4838700" y="2476500"/>
            <a:ext cx="59309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ru-RU" sz="1200" b="1">
                <a:solidFill>
                  <a:srgbClr val="111111"/>
                </a:solidFill>
                <a:latin typeface="Arial" panose="020B0604020202020204" pitchFamily="34" charset="0"/>
              </a:rPr>
              <a:t>Видеоролик / аварийный кейс</a:t>
            </a:r>
          </a:p>
        </p:txBody>
      </p:sp>
      <p:sp>
        <p:nvSpPr>
          <p:cNvPr id="31" name="Codex_S032P_RightBody">
            <a:extLst>
              <a:ext uri="{FF2B5EF4-FFF2-40B4-BE49-F238E27FC236}">
                <a16:creationId xmlns:a16="http://schemas.microsoft.com/office/drawing/2014/main" id="{4EBEA15C-5463-A87C-4A41-28FED342CB6F}"/>
              </a:ext>
            </a:extLst>
          </p:cNvPr>
          <p:cNvSpPr txBox="1"/>
          <p:nvPr/>
        </p:nvSpPr>
        <p:spPr>
          <a:xfrm>
            <a:off x="4914900" y="3060700"/>
            <a:ext cx="5778500" cy="735586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pPr algn="ctr"/>
            <a:r>
              <a:rPr lang="ru-RU" sz="1260">
                <a:solidFill>
                  <a:srgbClr val="4B5563"/>
                </a:solidFill>
                <a:latin typeface="Arial" panose="020B0604020202020204" pitchFamily="34" charset="0"/>
              </a:rPr>
              <a:t>Показываем ситуацию, где работа началась при плохой видимости.</a:t>
            </a:r>
          </a:p>
          <a:p>
            <a:pPr algn="ctr"/>
            <a:r>
              <a:rPr lang="ru-RU" sz="1260">
                <a:solidFill>
                  <a:srgbClr val="4B5563"/>
                </a:solidFill>
                <a:latin typeface="Arial" panose="020B0604020202020204" pitchFamily="34" charset="0"/>
              </a:rPr>
              <a:t>Сюжет должен привести к позднему обнаружению риска, ошибке действий и аварийному последствию.</a:t>
            </a:r>
          </a:p>
        </p:txBody>
      </p:sp>
      <p:sp>
        <p:nvSpPr>
          <p:cNvPr id="32" name="Codex_S032P_RightMeta">
            <a:extLst>
              <a:ext uri="{FF2B5EF4-FFF2-40B4-BE49-F238E27FC236}">
                <a16:creationId xmlns:a16="http://schemas.microsoft.com/office/drawing/2014/main" id="{C9E96CAB-5566-437B-08D8-DC48F35083E7}"/>
              </a:ext>
            </a:extLst>
          </p:cNvPr>
          <p:cNvSpPr txBox="1"/>
          <p:nvPr/>
        </p:nvSpPr>
        <p:spPr>
          <a:xfrm>
            <a:off x="4914900" y="4711700"/>
            <a:ext cx="5778500" cy="313932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pPr algn="ctr"/>
            <a:r>
              <a:rPr lang="ru-RU" sz="1040" b="1">
                <a:solidFill>
                  <a:srgbClr val="111111"/>
                </a:solidFill>
                <a:latin typeface="Arial" panose="020B0604020202020204" pitchFamily="34" charset="0"/>
              </a:rPr>
              <a:t>Резерв под видеоролик / аварийный кейс</a:t>
            </a:r>
          </a:p>
        </p:txBody>
      </p:sp>
    </p:spTree>
    <p:extLst>
      <p:ext uri="{BB962C8B-B14F-4D97-AF65-F5344CB8AC3E}">
        <p14:creationId xmlns:p14="http://schemas.microsoft.com/office/powerpoint/2010/main" val="33647514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74320"/>
            <a:ext cx="1325880" cy="384048"/>
          </a:xfrm>
          <a:prstGeom prst="rect">
            <a:avLst/>
          </a:prstGeom>
          <a:noFill/>
        </p:spPr>
        <p:txBody>
          <a:bodyPr wrap="none" lIns="101600" tIns="76200" rIns="101600" bIns="76200">
            <a:spAutoFit/>
          </a:bodyPr>
          <a:lstStyle/>
          <a:p>
            <a:pPr algn="l"/>
            <a:r>
              <a:rPr sz="1000" b="1">
                <a:solidFill>
                  <a:srgbClr val="111111"/>
                </a:solidFill>
                <a:latin typeface="Arial"/>
              </a:rPr>
              <a:t>Тема 2.2</a:t>
            </a:r>
          </a:p>
          <a:p>
            <a:pPr algn="l"/>
            <a:r>
              <a:rPr sz="1000" b="1">
                <a:solidFill>
                  <a:srgbClr val="111111"/>
                </a:solidFill>
                <a:latin typeface="Arial"/>
              </a:rPr>
              <a:t>Технология работы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48672" y="310896"/>
            <a:ext cx="1207008" cy="310896"/>
          </a:xfrm>
          <a:prstGeom prst="round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r>
              <a:rPr lang="en-US" sz="1100" b="1">
                <a:solidFill>
                  <a:srgbClr val="111111"/>
                </a:solidFill>
                <a:latin typeface="Arial" panose="020B0604020202020204" pitchFamily="34" charset="0"/>
              </a:rPr>
              <a:t>S032-P02</a:t>
            </a:r>
            <a:endParaRPr sz="11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5216" y="850392"/>
            <a:ext cx="5669280" cy="492443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r>
              <a:rPr lang="ru-RU" sz="2200" b="1">
                <a:solidFill>
                  <a:srgbClr val="111111"/>
                </a:solidFill>
                <a:latin typeface="Arial" panose="020B0604020202020204" pitchFamily="34" charset="0"/>
              </a:rPr>
              <a:t>Подвал. Нет схемы</a:t>
            </a:r>
            <a:endParaRPr sz="22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76910" y="1828800"/>
            <a:ext cx="10487660" cy="3914140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460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>
            <a:hlinkClick r:id="rId2" action="ppaction://hlinksldjump"/>
          </p:cNvPr>
          <p:cNvSpPr/>
          <p:nvPr/>
        </p:nvSpPr>
        <p:spPr>
          <a:xfrm>
            <a:off x="676656" y="5989320"/>
            <a:ext cx="16916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/>
            <a:r>
              <a:rPr lang="ru-RU" sz="1200" b="1">
                <a:solidFill>
                  <a:srgbClr val="4B5563"/>
                </a:solidFill>
                <a:latin typeface="Arial"/>
              </a:rPr>
              <a:t>Назад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12" name="Прямоугольник: скругленные углы 11">
            <a:hlinkClick r:id="rId3" action="ppaction://hlinksldjump"/>
            <a:extLst>
              <a:ext uri="{FF2B5EF4-FFF2-40B4-BE49-F238E27FC236}">
                <a16:creationId xmlns:a16="http://schemas.microsoft.com/office/drawing/2014/main" id="{47B5600D-ABEB-7396-BEFC-CB9060117184}"/>
              </a:ext>
            </a:extLst>
          </p:cNvPr>
          <p:cNvSpPr/>
          <p:nvPr/>
        </p:nvSpPr>
        <p:spPr>
          <a:xfrm>
            <a:off x="9281160" y="5989320"/>
            <a:ext cx="1901952" cy="347472"/>
          </a:xfrm>
          <a:prstGeom prst="round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/>
            <a:r>
              <a:rPr lang="ru-RU" sz="1200" b="1">
                <a:solidFill>
                  <a:srgbClr val="FFFFFF"/>
                </a:solidFill>
                <a:latin typeface="Arial"/>
              </a:rPr>
              <a:t>Далее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" y="676656"/>
            <a:ext cx="1024128" cy="45720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76910" y="1828800"/>
            <a:ext cx="10487660" cy="36830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86384" y="1920240"/>
            <a:ext cx="777240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850" b="1">
                <a:solidFill>
                  <a:srgbClr val="0038B8"/>
                </a:solidFill>
                <a:latin typeface="Arial"/>
              </a:rPr>
              <a:t>Шаг 01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21608" y="1920240"/>
            <a:ext cx="91440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/>
            <a:r>
              <a:rPr lang="ru-RU" sz="1000" b="1">
                <a:solidFill>
                  <a:srgbClr val="111111"/>
                </a:solidFill>
                <a:latin typeface="Arial" panose="020B0604020202020204" pitchFamily="34" charset="0"/>
              </a:rPr>
              <a:t>Критично</a:t>
            </a:r>
            <a:endParaRPr sz="10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093208" y="1920240"/>
            <a:ext cx="1024128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r>
              <a:rPr lang="en-US" sz="1000" b="1">
                <a:solidFill>
                  <a:srgbClr val="111111"/>
                </a:solidFill>
                <a:latin typeface="Arial" panose="020B0604020202020204" pitchFamily="34" charset="0"/>
              </a:rPr>
              <a:t>S032-P02</a:t>
            </a:r>
            <a:endParaRPr sz="10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217920" y="1920240"/>
            <a:ext cx="77724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850" b="1">
                <a:solidFill>
                  <a:srgbClr val="4B5563"/>
                </a:solidFill>
                <a:latin typeface="Arial"/>
              </a:rPr>
              <a:t>Шаг 01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140696" y="1920240"/>
            <a:ext cx="914400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/>
            <a:r>
              <a:rPr lang="ru-RU" sz="1000" b="1">
                <a:solidFill>
                  <a:srgbClr val="111111"/>
                </a:solidFill>
                <a:latin typeface="Arial" panose="020B0604020202020204" pitchFamily="34" charset="0"/>
              </a:rPr>
              <a:t>Видео</a:t>
            </a:r>
            <a:endParaRPr sz="10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7" name="Codex_S031P_LeftPanel">
            <a:extLst>
              <a:ext uri="{FF2B5EF4-FFF2-40B4-BE49-F238E27FC236}">
                <a16:creationId xmlns:a16="http://schemas.microsoft.com/office/drawing/2014/main" id="{879EBF3B-5057-1BED-FBF4-4225AC0F32D7}"/>
              </a:ext>
            </a:extLst>
          </p:cNvPr>
          <p:cNvSpPr/>
          <p:nvPr/>
        </p:nvSpPr>
        <p:spPr>
          <a:xfrm>
            <a:off x="901700" y="2324100"/>
            <a:ext cx="4787900" cy="2997200"/>
          </a:xfrm>
          <a:prstGeom prst="rect">
            <a:avLst/>
          </a:prstGeom>
          <a:solidFill>
            <a:srgbClr val="F4F5F7"/>
          </a:solidFill>
          <a:ln w="12700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Codex_S031P_LeftStrip">
            <a:extLst>
              <a:ext uri="{FF2B5EF4-FFF2-40B4-BE49-F238E27FC236}">
                <a16:creationId xmlns:a16="http://schemas.microsoft.com/office/drawing/2014/main" id="{22483FB4-6888-9510-66D0-07AC06D0CFE7}"/>
              </a:ext>
            </a:extLst>
          </p:cNvPr>
          <p:cNvSpPr/>
          <p:nvPr/>
        </p:nvSpPr>
        <p:spPr>
          <a:xfrm>
            <a:off x="901700" y="2324100"/>
            <a:ext cx="4787900" cy="38100"/>
          </a:xfrm>
          <a:prstGeom prst="rect">
            <a:avLst/>
          </a:prstGeom>
          <a:solidFill>
            <a:srgbClr val="0038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Codex_S031P_RightPanel">
            <a:extLst>
              <a:ext uri="{FF2B5EF4-FFF2-40B4-BE49-F238E27FC236}">
                <a16:creationId xmlns:a16="http://schemas.microsoft.com/office/drawing/2014/main" id="{54C53769-F28C-19A8-765E-B71802E7A5ED}"/>
              </a:ext>
            </a:extLst>
          </p:cNvPr>
          <p:cNvSpPr/>
          <p:nvPr/>
        </p:nvSpPr>
        <p:spPr>
          <a:xfrm>
            <a:off x="5918200" y="2324100"/>
            <a:ext cx="4787900" cy="299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Codex_S031P_RightStrip">
            <a:extLst>
              <a:ext uri="{FF2B5EF4-FFF2-40B4-BE49-F238E27FC236}">
                <a16:creationId xmlns:a16="http://schemas.microsoft.com/office/drawing/2014/main" id="{A62307C1-B14B-CFCA-61FB-1F34324FDC93}"/>
              </a:ext>
            </a:extLst>
          </p:cNvPr>
          <p:cNvSpPr/>
          <p:nvPr/>
        </p:nvSpPr>
        <p:spPr>
          <a:xfrm>
            <a:off x="5918200" y="2324100"/>
            <a:ext cx="4787900" cy="38100"/>
          </a:xfrm>
          <a:prstGeom prst="rect">
            <a:avLst/>
          </a:prstGeom>
          <a:solidFill>
            <a:srgbClr val="0038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Codex_S032P_LeftPanel">
            <a:extLst>
              <a:ext uri="{FF2B5EF4-FFF2-40B4-BE49-F238E27FC236}">
                <a16:creationId xmlns:a16="http://schemas.microsoft.com/office/drawing/2014/main" id="{D4BEFED6-8FE3-39C7-A432-101AFEFEAFE6}"/>
              </a:ext>
            </a:extLst>
          </p:cNvPr>
          <p:cNvSpPr/>
          <p:nvPr/>
        </p:nvSpPr>
        <p:spPr>
          <a:xfrm>
            <a:off x="901700" y="2324100"/>
            <a:ext cx="3556000" cy="2997200"/>
          </a:xfrm>
          <a:prstGeom prst="rect">
            <a:avLst/>
          </a:prstGeom>
          <a:solidFill>
            <a:srgbClr val="F4F5F7"/>
          </a:solidFill>
          <a:ln w="12700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Codex_S032P_LeftStrip">
            <a:extLst>
              <a:ext uri="{FF2B5EF4-FFF2-40B4-BE49-F238E27FC236}">
                <a16:creationId xmlns:a16="http://schemas.microsoft.com/office/drawing/2014/main" id="{A56C341B-C14C-6DEA-108A-95A8B2259FC5}"/>
              </a:ext>
            </a:extLst>
          </p:cNvPr>
          <p:cNvSpPr/>
          <p:nvPr/>
        </p:nvSpPr>
        <p:spPr>
          <a:xfrm>
            <a:off x="901700" y="2324100"/>
            <a:ext cx="3556000" cy="38100"/>
          </a:xfrm>
          <a:prstGeom prst="rect">
            <a:avLst/>
          </a:prstGeom>
          <a:solidFill>
            <a:srgbClr val="0038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Codex_S032P_RightPanel">
            <a:extLst>
              <a:ext uri="{FF2B5EF4-FFF2-40B4-BE49-F238E27FC236}">
                <a16:creationId xmlns:a16="http://schemas.microsoft.com/office/drawing/2014/main" id="{55A48DD0-D2AE-5A7D-5375-8B3194BCC3F5}"/>
              </a:ext>
            </a:extLst>
          </p:cNvPr>
          <p:cNvSpPr/>
          <p:nvPr/>
        </p:nvSpPr>
        <p:spPr>
          <a:xfrm>
            <a:off x="4686300" y="2324100"/>
            <a:ext cx="6235700" cy="299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Codex_S032P_RightStrip">
            <a:extLst>
              <a:ext uri="{FF2B5EF4-FFF2-40B4-BE49-F238E27FC236}">
                <a16:creationId xmlns:a16="http://schemas.microsoft.com/office/drawing/2014/main" id="{BE2BCFB3-0FEB-9AAC-7E26-DF7082063F1C}"/>
              </a:ext>
            </a:extLst>
          </p:cNvPr>
          <p:cNvSpPr/>
          <p:nvPr/>
        </p:nvSpPr>
        <p:spPr>
          <a:xfrm>
            <a:off x="4686300" y="2324100"/>
            <a:ext cx="6235700" cy="38100"/>
          </a:xfrm>
          <a:prstGeom prst="rect">
            <a:avLst/>
          </a:prstGeom>
          <a:solidFill>
            <a:srgbClr val="0038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Codex_S032P_LeftTitle">
            <a:extLst>
              <a:ext uri="{FF2B5EF4-FFF2-40B4-BE49-F238E27FC236}">
                <a16:creationId xmlns:a16="http://schemas.microsoft.com/office/drawing/2014/main" id="{025460A3-FE4B-91D8-8476-A1B44AA19D2F}"/>
              </a:ext>
            </a:extLst>
          </p:cNvPr>
          <p:cNvSpPr txBox="1"/>
          <p:nvPr/>
        </p:nvSpPr>
        <p:spPr>
          <a:xfrm>
            <a:off x="1054100" y="2476500"/>
            <a:ext cx="32512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ru-RU" sz="1200" b="1">
                <a:solidFill>
                  <a:srgbClr val="111111"/>
                </a:solidFill>
                <a:latin typeface="Arial" panose="020B0604020202020204" pitchFamily="34" charset="0"/>
              </a:rPr>
              <a:t>Чем опасно</a:t>
            </a:r>
          </a:p>
        </p:txBody>
      </p:sp>
      <p:sp>
        <p:nvSpPr>
          <p:cNvPr id="29" name="Codex_S032P_LeftBody">
            <a:extLst>
              <a:ext uri="{FF2B5EF4-FFF2-40B4-BE49-F238E27FC236}">
                <a16:creationId xmlns:a16="http://schemas.microsoft.com/office/drawing/2014/main" id="{8691A8B0-DAC1-17CD-B91D-7D1D04B42812}"/>
              </a:ext>
            </a:extLst>
          </p:cNvPr>
          <p:cNvSpPr txBox="1"/>
          <p:nvPr/>
        </p:nvSpPr>
        <p:spPr>
          <a:xfrm>
            <a:off x="1054100" y="2806700"/>
            <a:ext cx="3251200" cy="984885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ru-RU" sz="1080">
                <a:solidFill>
                  <a:srgbClr val="111111"/>
                </a:solidFill>
                <a:latin typeface="Arial" panose="020B0604020202020204" pitchFamily="34" charset="0"/>
              </a:rPr>
              <a:t>• Без схемы стропальщик действует наугад.</a:t>
            </a:r>
          </a:p>
          <a:p>
            <a:r>
              <a:rPr lang="ru-RU" sz="1080">
                <a:solidFill>
                  <a:srgbClr val="111111"/>
                </a:solidFill>
                <a:latin typeface="Arial" panose="020B0604020202020204" pitchFamily="34" charset="0"/>
              </a:rPr>
              <a:t>• Неясны точки зацепки, центр тяжести и способ обвязки.</a:t>
            </a:r>
          </a:p>
          <a:p>
            <a:r>
              <a:rPr lang="ru-RU" sz="1080">
                <a:solidFill>
                  <a:srgbClr val="111111"/>
                </a:solidFill>
                <a:latin typeface="Arial" panose="020B0604020202020204" pitchFamily="34" charset="0"/>
              </a:rPr>
              <a:t>• Это ведет к перекосу, срыву груза или перегрузке стропа.</a:t>
            </a:r>
          </a:p>
        </p:txBody>
      </p:sp>
      <p:sp>
        <p:nvSpPr>
          <p:cNvPr id="30" name="Codex_S032P_RightTitle">
            <a:extLst>
              <a:ext uri="{FF2B5EF4-FFF2-40B4-BE49-F238E27FC236}">
                <a16:creationId xmlns:a16="http://schemas.microsoft.com/office/drawing/2014/main" id="{83E44F9E-8253-C357-6641-E276B46A191E}"/>
              </a:ext>
            </a:extLst>
          </p:cNvPr>
          <p:cNvSpPr txBox="1"/>
          <p:nvPr/>
        </p:nvSpPr>
        <p:spPr>
          <a:xfrm>
            <a:off x="4838700" y="2476500"/>
            <a:ext cx="59309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ru-RU" sz="1200" b="1">
                <a:solidFill>
                  <a:srgbClr val="111111"/>
                </a:solidFill>
                <a:latin typeface="Arial" panose="020B0604020202020204" pitchFamily="34" charset="0"/>
              </a:rPr>
              <a:t>Видеоролик / аварийный кейс</a:t>
            </a:r>
          </a:p>
        </p:txBody>
      </p:sp>
      <p:sp>
        <p:nvSpPr>
          <p:cNvPr id="31" name="Codex_S032P_RightBody">
            <a:extLst>
              <a:ext uri="{FF2B5EF4-FFF2-40B4-BE49-F238E27FC236}">
                <a16:creationId xmlns:a16="http://schemas.microsoft.com/office/drawing/2014/main" id="{6AEB1A3A-F908-09AA-56FE-61B306EC0123}"/>
              </a:ext>
            </a:extLst>
          </p:cNvPr>
          <p:cNvSpPr txBox="1"/>
          <p:nvPr/>
        </p:nvSpPr>
        <p:spPr>
          <a:xfrm>
            <a:off x="4914900" y="3060700"/>
            <a:ext cx="5778500" cy="541687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pPr algn="ctr"/>
            <a:r>
              <a:rPr lang="ru-RU" sz="1260">
                <a:solidFill>
                  <a:srgbClr val="4B5563"/>
                </a:solidFill>
                <a:latin typeface="Arial" panose="020B0604020202020204" pitchFamily="34" charset="0"/>
              </a:rPr>
              <a:t>Показываем кейс, где груз поднимают без понятной схемы строповки.</a:t>
            </a:r>
          </a:p>
          <a:p>
            <a:pPr algn="ctr"/>
            <a:r>
              <a:rPr lang="ru-RU" sz="1260">
                <a:solidFill>
                  <a:srgbClr val="4B5563"/>
                </a:solidFill>
                <a:latin typeface="Arial" panose="020B0604020202020204" pitchFamily="34" charset="0"/>
              </a:rPr>
              <a:t>Финал ролика должен наглядно показать, к чему приводит импровизация.</a:t>
            </a:r>
          </a:p>
        </p:txBody>
      </p:sp>
      <p:sp>
        <p:nvSpPr>
          <p:cNvPr id="32" name="Codex_S032P_RightMeta">
            <a:extLst>
              <a:ext uri="{FF2B5EF4-FFF2-40B4-BE49-F238E27FC236}">
                <a16:creationId xmlns:a16="http://schemas.microsoft.com/office/drawing/2014/main" id="{B35CF1C7-4BD3-0192-CD51-1A222FF4F3D6}"/>
              </a:ext>
            </a:extLst>
          </p:cNvPr>
          <p:cNvSpPr txBox="1"/>
          <p:nvPr/>
        </p:nvSpPr>
        <p:spPr>
          <a:xfrm>
            <a:off x="4914900" y="4711700"/>
            <a:ext cx="5778500" cy="313932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pPr algn="ctr"/>
            <a:r>
              <a:rPr lang="ru-RU" sz="1040" b="1">
                <a:solidFill>
                  <a:srgbClr val="111111"/>
                </a:solidFill>
                <a:latin typeface="Arial" panose="020B0604020202020204" pitchFamily="34" charset="0"/>
              </a:rPr>
              <a:t>Резерв под видеоролик / аварийный кейс</a:t>
            </a:r>
          </a:p>
        </p:txBody>
      </p:sp>
    </p:spTree>
    <p:extLst>
      <p:ext uri="{BB962C8B-B14F-4D97-AF65-F5344CB8AC3E}">
        <p14:creationId xmlns:p14="http://schemas.microsoft.com/office/powerpoint/2010/main" val="22092749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74320"/>
            <a:ext cx="1325880" cy="384048"/>
          </a:xfrm>
          <a:prstGeom prst="rect">
            <a:avLst/>
          </a:prstGeom>
          <a:noFill/>
        </p:spPr>
        <p:txBody>
          <a:bodyPr wrap="none" lIns="101600" tIns="76200" rIns="101600" bIns="76200">
            <a:spAutoFit/>
          </a:bodyPr>
          <a:lstStyle/>
          <a:p>
            <a:pPr algn="l"/>
            <a:r>
              <a:rPr sz="1000" b="1">
                <a:solidFill>
                  <a:srgbClr val="111111"/>
                </a:solidFill>
                <a:latin typeface="Arial"/>
              </a:rPr>
              <a:t>Тема 2.2</a:t>
            </a:r>
          </a:p>
          <a:p>
            <a:pPr algn="l"/>
            <a:r>
              <a:rPr sz="1000" b="1">
                <a:solidFill>
                  <a:srgbClr val="111111"/>
                </a:solidFill>
                <a:latin typeface="Arial"/>
              </a:rPr>
              <a:t>Технология работы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48672" y="310896"/>
            <a:ext cx="1207008" cy="310896"/>
          </a:xfrm>
          <a:prstGeom prst="round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r>
              <a:rPr lang="en-US" sz="1100" b="1">
                <a:solidFill>
                  <a:srgbClr val="111111"/>
                </a:solidFill>
                <a:latin typeface="Arial" panose="020B0604020202020204" pitchFamily="34" charset="0"/>
              </a:rPr>
              <a:t>S032-P03</a:t>
            </a:r>
            <a:endParaRPr sz="11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5216" y="850392"/>
            <a:ext cx="5669280" cy="492443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r>
              <a:rPr lang="ru-RU" sz="2200" b="1">
                <a:solidFill>
                  <a:srgbClr val="111111"/>
                </a:solidFill>
                <a:latin typeface="Arial" panose="020B0604020202020204" pitchFamily="34" charset="0"/>
              </a:rPr>
              <a:t>Подвал. Неисправная оснастка</a:t>
            </a:r>
            <a:endParaRPr sz="22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76910" y="1828800"/>
            <a:ext cx="10487660" cy="3914140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460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>
            <a:hlinkClick r:id="rId2" action="ppaction://hlinksldjump"/>
          </p:cNvPr>
          <p:cNvSpPr/>
          <p:nvPr/>
        </p:nvSpPr>
        <p:spPr>
          <a:xfrm>
            <a:off x="676656" y="5989320"/>
            <a:ext cx="16916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/>
            <a:r>
              <a:rPr lang="ru-RU" sz="1200" b="1">
                <a:solidFill>
                  <a:srgbClr val="4B5563"/>
                </a:solidFill>
                <a:latin typeface="Arial"/>
              </a:rPr>
              <a:t>Назад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12" name="Прямоугольник: скругленные углы 11">
            <a:hlinkClick r:id="rId3" action="ppaction://hlinksldjump"/>
            <a:extLst>
              <a:ext uri="{FF2B5EF4-FFF2-40B4-BE49-F238E27FC236}">
                <a16:creationId xmlns:a16="http://schemas.microsoft.com/office/drawing/2014/main" id="{47B5600D-ABEB-7396-BEFC-CB9060117184}"/>
              </a:ext>
            </a:extLst>
          </p:cNvPr>
          <p:cNvSpPr/>
          <p:nvPr/>
        </p:nvSpPr>
        <p:spPr>
          <a:xfrm>
            <a:off x="9281160" y="5989320"/>
            <a:ext cx="1901952" cy="347472"/>
          </a:xfrm>
          <a:prstGeom prst="round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/>
            <a:r>
              <a:rPr lang="ru-RU" sz="1200" b="1">
                <a:solidFill>
                  <a:srgbClr val="FFFFFF"/>
                </a:solidFill>
                <a:latin typeface="Arial"/>
              </a:rPr>
              <a:t>Далее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" y="676656"/>
            <a:ext cx="1024128" cy="45720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76910" y="1828800"/>
            <a:ext cx="10487660" cy="36830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86384" y="1920240"/>
            <a:ext cx="777240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850" b="1">
                <a:solidFill>
                  <a:srgbClr val="0038B8"/>
                </a:solidFill>
                <a:latin typeface="Arial"/>
              </a:rPr>
              <a:t>Шаг 01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21608" y="1920240"/>
            <a:ext cx="91440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/>
            <a:r>
              <a:rPr lang="ru-RU" sz="1000" b="1">
                <a:solidFill>
                  <a:srgbClr val="111111"/>
                </a:solidFill>
                <a:latin typeface="Arial" panose="020B0604020202020204" pitchFamily="34" charset="0"/>
              </a:rPr>
              <a:t>Критично</a:t>
            </a:r>
            <a:endParaRPr sz="10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093208" y="1920240"/>
            <a:ext cx="1024128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r>
              <a:rPr lang="en-US" sz="1000" b="1">
                <a:solidFill>
                  <a:srgbClr val="111111"/>
                </a:solidFill>
                <a:latin typeface="Arial" panose="020B0604020202020204" pitchFamily="34" charset="0"/>
              </a:rPr>
              <a:t>S032-P03</a:t>
            </a:r>
            <a:endParaRPr sz="10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217920" y="1920240"/>
            <a:ext cx="77724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850" b="1">
                <a:solidFill>
                  <a:srgbClr val="4B5563"/>
                </a:solidFill>
                <a:latin typeface="Arial"/>
              </a:rPr>
              <a:t>Шаг 01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140696" y="1920240"/>
            <a:ext cx="914400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/>
            <a:r>
              <a:rPr lang="ru-RU" sz="1000" b="1">
                <a:solidFill>
                  <a:srgbClr val="111111"/>
                </a:solidFill>
                <a:latin typeface="Arial" panose="020B0604020202020204" pitchFamily="34" charset="0"/>
              </a:rPr>
              <a:t>Видео</a:t>
            </a:r>
            <a:endParaRPr sz="10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7" name="Codex_S031P_LeftPanel">
            <a:extLst>
              <a:ext uri="{FF2B5EF4-FFF2-40B4-BE49-F238E27FC236}">
                <a16:creationId xmlns:a16="http://schemas.microsoft.com/office/drawing/2014/main" id="{879EBF3B-5057-1BED-FBF4-4225AC0F32D7}"/>
              </a:ext>
            </a:extLst>
          </p:cNvPr>
          <p:cNvSpPr/>
          <p:nvPr/>
        </p:nvSpPr>
        <p:spPr>
          <a:xfrm>
            <a:off x="901700" y="2324100"/>
            <a:ext cx="4787900" cy="2997200"/>
          </a:xfrm>
          <a:prstGeom prst="rect">
            <a:avLst/>
          </a:prstGeom>
          <a:solidFill>
            <a:srgbClr val="F4F5F7"/>
          </a:solidFill>
          <a:ln w="12700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Codex_S031P_LeftStrip">
            <a:extLst>
              <a:ext uri="{FF2B5EF4-FFF2-40B4-BE49-F238E27FC236}">
                <a16:creationId xmlns:a16="http://schemas.microsoft.com/office/drawing/2014/main" id="{22483FB4-6888-9510-66D0-07AC06D0CFE7}"/>
              </a:ext>
            </a:extLst>
          </p:cNvPr>
          <p:cNvSpPr/>
          <p:nvPr/>
        </p:nvSpPr>
        <p:spPr>
          <a:xfrm>
            <a:off x="901700" y="2324100"/>
            <a:ext cx="4787900" cy="38100"/>
          </a:xfrm>
          <a:prstGeom prst="rect">
            <a:avLst/>
          </a:prstGeom>
          <a:solidFill>
            <a:srgbClr val="0038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Codex_S031P_RightPanel">
            <a:extLst>
              <a:ext uri="{FF2B5EF4-FFF2-40B4-BE49-F238E27FC236}">
                <a16:creationId xmlns:a16="http://schemas.microsoft.com/office/drawing/2014/main" id="{54C53769-F28C-19A8-765E-B71802E7A5ED}"/>
              </a:ext>
            </a:extLst>
          </p:cNvPr>
          <p:cNvSpPr/>
          <p:nvPr/>
        </p:nvSpPr>
        <p:spPr>
          <a:xfrm>
            <a:off x="5918200" y="2324100"/>
            <a:ext cx="4787900" cy="299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Codex_S031P_RightStrip">
            <a:extLst>
              <a:ext uri="{FF2B5EF4-FFF2-40B4-BE49-F238E27FC236}">
                <a16:creationId xmlns:a16="http://schemas.microsoft.com/office/drawing/2014/main" id="{A62307C1-B14B-CFCA-61FB-1F34324FDC93}"/>
              </a:ext>
            </a:extLst>
          </p:cNvPr>
          <p:cNvSpPr/>
          <p:nvPr/>
        </p:nvSpPr>
        <p:spPr>
          <a:xfrm>
            <a:off x="5918200" y="2324100"/>
            <a:ext cx="4787900" cy="38100"/>
          </a:xfrm>
          <a:prstGeom prst="rect">
            <a:avLst/>
          </a:prstGeom>
          <a:solidFill>
            <a:srgbClr val="0038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Codex_S032P_LeftPanel">
            <a:extLst>
              <a:ext uri="{FF2B5EF4-FFF2-40B4-BE49-F238E27FC236}">
                <a16:creationId xmlns:a16="http://schemas.microsoft.com/office/drawing/2014/main" id="{EE92DBB2-F7E4-8D39-7C6F-4F20E4BB05C8}"/>
              </a:ext>
            </a:extLst>
          </p:cNvPr>
          <p:cNvSpPr/>
          <p:nvPr/>
        </p:nvSpPr>
        <p:spPr>
          <a:xfrm>
            <a:off x="901700" y="2324100"/>
            <a:ext cx="3556000" cy="2997200"/>
          </a:xfrm>
          <a:prstGeom prst="rect">
            <a:avLst/>
          </a:prstGeom>
          <a:solidFill>
            <a:srgbClr val="F4F5F7"/>
          </a:solidFill>
          <a:ln w="12700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Codex_S032P_LeftStrip">
            <a:extLst>
              <a:ext uri="{FF2B5EF4-FFF2-40B4-BE49-F238E27FC236}">
                <a16:creationId xmlns:a16="http://schemas.microsoft.com/office/drawing/2014/main" id="{765B4FEF-A36A-4584-D5AA-111AEC17A8BC}"/>
              </a:ext>
            </a:extLst>
          </p:cNvPr>
          <p:cNvSpPr/>
          <p:nvPr/>
        </p:nvSpPr>
        <p:spPr>
          <a:xfrm>
            <a:off x="901700" y="2324100"/>
            <a:ext cx="3556000" cy="38100"/>
          </a:xfrm>
          <a:prstGeom prst="rect">
            <a:avLst/>
          </a:prstGeom>
          <a:solidFill>
            <a:srgbClr val="0038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Codex_S032P_RightPanel">
            <a:extLst>
              <a:ext uri="{FF2B5EF4-FFF2-40B4-BE49-F238E27FC236}">
                <a16:creationId xmlns:a16="http://schemas.microsoft.com/office/drawing/2014/main" id="{9CACE95C-4848-B09D-B237-663B5ACB2040}"/>
              </a:ext>
            </a:extLst>
          </p:cNvPr>
          <p:cNvSpPr/>
          <p:nvPr/>
        </p:nvSpPr>
        <p:spPr>
          <a:xfrm>
            <a:off x="4686300" y="2324100"/>
            <a:ext cx="6235700" cy="299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Codex_S032P_RightStrip">
            <a:extLst>
              <a:ext uri="{FF2B5EF4-FFF2-40B4-BE49-F238E27FC236}">
                <a16:creationId xmlns:a16="http://schemas.microsoft.com/office/drawing/2014/main" id="{78C81C90-1D3C-DC99-2EC9-19A68F450ECF}"/>
              </a:ext>
            </a:extLst>
          </p:cNvPr>
          <p:cNvSpPr/>
          <p:nvPr/>
        </p:nvSpPr>
        <p:spPr>
          <a:xfrm>
            <a:off x="4686300" y="2324100"/>
            <a:ext cx="6235700" cy="38100"/>
          </a:xfrm>
          <a:prstGeom prst="rect">
            <a:avLst/>
          </a:prstGeom>
          <a:solidFill>
            <a:srgbClr val="0038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Codex_S032P_LeftTitle">
            <a:extLst>
              <a:ext uri="{FF2B5EF4-FFF2-40B4-BE49-F238E27FC236}">
                <a16:creationId xmlns:a16="http://schemas.microsoft.com/office/drawing/2014/main" id="{0BF31C69-9ACF-89D8-F2D6-5D738BF0BBE7}"/>
              </a:ext>
            </a:extLst>
          </p:cNvPr>
          <p:cNvSpPr txBox="1"/>
          <p:nvPr/>
        </p:nvSpPr>
        <p:spPr>
          <a:xfrm>
            <a:off x="1054100" y="2476500"/>
            <a:ext cx="32512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ru-RU" sz="1200" b="1">
                <a:solidFill>
                  <a:srgbClr val="111111"/>
                </a:solidFill>
                <a:latin typeface="Arial" panose="020B0604020202020204" pitchFamily="34" charset="0"/>
              </a:rPr>
              <a:t>Чем опасно</a:t>
            </a:r>
          </a:p>
        </p:txBody>
      </p:sp>
      <p:sp>
        <p:nvSpPr>
          <p:cNvPr id="29" name="Codex_S032P_LeftBody">
            <a:extLst>
              <a:ext uri="{FF2B5EF4-FFF2-40B4-BE49-F238E27FC236}">
                <a16:creationId xmlns:a16="http://schemas.microsoft.com/office/drawing/2014/main" id="{330A03A7-802D-9C65-E5F7-BDE61149C7CB}"/>
              </a:ext>
            </a:extLst>
          </p:cNvPr>
          <p:cNvSpPr txBox="1"/>
          <p:nvPr/>
        </p:nvSpPr>
        <p:spPr>
          <a:xfrm>
            <a:off x="1054100" y="2806700"/>
            <a:ext cx="3251200" cy="115108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ru-RU" sz="1080">
                <a:solidFill>
                  <a:srgbClr val="111111"/>
                </a:solidFill>
                <a:latin typeface="Arial" panose="020B0604020202020204" pitchFamily="34" charset="0"/>
              </a:rPr>
              <a:t>• Поврежденные стропы, захваты или тара не держат расчетную нагрузку.</a:t>
            </a:r>
          </a:p>
          <a:p>
            <a:r>
              <a:rPr lang="ru-RU" sz="1080">
                <a:solidFill>
                  <a:srgbClr val="111111"/>
                </a:solidFill>
                <a:latin typeface="Arial" panose="020B0604020202020204" pitchFamily="34" charset="0"/>
              </a:rPr>
              <a:t>• Нечитаемая бирка и дефекты не позволяют подтвердить исправность.</a:t>
            </a:r>
          </a:p>
          <a:p>
            <a:r>
              <a:rPr lang="ru-RU" sz="1080">
                <a:solidFill>
                  <a:srgbClr val="111111"/>
                </a:solidFill>
                <a:latin typeface="Arial" panose="020B0604020202020204" pitchFamily="34" charset="0"/>
              </a:rPr>
              <a:t>• Результат: обрыв, падение груза и тяжелая травма.</a:t>
            </a:r>
          </a:p>
        </p:txBody>
      </p:sp>
      <p:sp>
        <p:nvSpPr>
          <p:cNvPr id="30" name="Codex_S032P_RightTitle">
            <a:extLst>
              <a:ext uri="{FF2B5EF4-FFF2-40B4-BE49-F238E27FC236}">
                <a16:creationId xmlns:a16="http://schemas.microsoft.com/office/drawing/2014/main" id="{771EBD4A-71ED-5B62-ACB4-429E3FD49626}"/>
              </a:ext>
            </a:extLst>
          </p:cNvPr>
          <p:cNvSpPr txBox="1"/>
          <p:nvPr/>
        </p:nvSpPr>
        <p:spPr>
          <a:xfrm>
            <a:off x="4838700" y="2476500"/>
            <a:ext cx="59309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ru-RU" sz="1200" b="1">
                <a:solidFill>
                  <a:srgbClr val="111111"/>
                </a:solidFill>
                <a:latin typeface="Arial" panose="020B0604020202020204" pitchFamily="34" charset="0"/>
              </a:rPr>
              <a:t>Видеоролик / аварийный кейс</a:t>
            </a:r>
          </a:p>
        </p:txBody>
      </p:sp>
      <p:sp>
        <p:nvSpPr>
          <p:cNvPr id="31" name="Codex_S032P_RightBody">
            <a:extLst>
              <a:ext uri="{FF2B5EF4-FFF2-40B4-BE49-F238E27FC236}">
                <a16:creationId xmlns:a16="http://schemas.microsoft.com/office/drawing/2014/main" id="{2391508B-0195-3557-C056-B2525F21B83B}"/>
              </a:ext>
            </a:extLst>
          </p:cNvPr>
          <p:cNvSpPr txBox="1"/>
          <p:nvPr/>
        </p:nvSpPr>
        <p:spPr>
          <a:xfrm>
            <a:off x="4914900" y="3060700"/>
            <a:ext cx="5778500" cy="735586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pPr algn="ctr"/>
            <a:r>
              <a:rPr lang="ru-RU" sz="1260">
                <a:solidFill>
                  <a:srgbClr val="4B5563"/>
                </a:solidFill>
                <a:latin typeface="Arial" panose="020B0604020202020204" pitchFamily="34" charset="0"/>
              </a:rPr>
              <a:t>Показываем аварийный кейс из-за неисправной оснастки.</a:t>
            </a:r>
          </a:p>
          <a:p>
            <a:pPr algn="ctr"/>
            <a:r>
              <a:rPr lang="ru-RU" sz="1260">
                <a:solidFill>
                  <a:srgbClr val="4B5563"/>
                </a:solidFill>
                <a:latin typeface="Arial" panose="020B0604020202020204" pitchFamily="34" charset="0"/>
              </a:rPr>
              <a:t>В ролике важно показать дефект до старта и последствие, если его проигнорировали.</a:t>
            </a:r>
          </a:p>
        </p:txBody>
      </p:sp>
      <p:sp>
        <p:nvSpPr>
          <p:cNvPr id="32" name="Codex_S032P_RightMeta">
            <a:extLst>
              <a:ext uri="{FF2B5EF4-FFF2-40B4-BE49-F238E27FC236}">
                <a16:creationId xmlns:a16="http://schemas.microsoft.com/office/drawing/2014/main" id="{CC65AE67-22AC-DB3C-BF34-D1BB76F5C791}"/>
              </a:ext>
            </a:extLst>
          </p:cNvPr>
          <p:cNvSpPr txBox="1"/>
          <p:nvPr/>
        </p:nvSpPr>
        <p:spPr>
          <a:xfrm>
            <a:off x="4914900" y="4711700"/>
            <a:ext cx="5778500" cy="313932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pPr algn="ctr"/>
            <a:r>
              <a:rPr lang="ru-RU" sz="1040" b="1">
                <a:solidFill>
                  <a:srgbClr val="111111"/>
                </a:solidFill>
                <a:latin typeface="Arial" panose="020B0604020202020204" pitchFamily="34" charset="0"/>
              </a:rPr>
              <a:t>Резерв под видеоролик / аварийный кейс</a:t>
            </a:r>
          </a:p>
        </p:txBody>
      </p:sp>
    </p:spTree>
    <p:extLst>
      <p:ext uri="{BB962C8B-B14F-4D97-AF65-F5344CB8AC3E}">
        <p14:creationId xmlns:p14="http://schemas.microsoft.com/office/powerpoint/2010/main" val="762834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74320"/>
            <a:ext cx="1325880" cy="384048"/>
          </a:xfrm>
          <a:prstGeom prst="rect">
            <a:avLst/>
          </a:prstGeom>
          <a:noFill/>
        </p:spPr>
        <p:txBody>
          <a:bodyPr wrap="none" lIns="101600" tIns="76200" rIns="101600" bIns="76200">
            <a:spAutoFit/>
          </a:bodyPr>
          <a:lstStyle/>
          <a:p>
            <a:pPr algn="l"/>
            <a:r>
              <a:rPr sz="1000" b="1">
                <a:solidFill>
                  <a:srgbClr val="111111"/>
                </a:solidFill>
                <a:latin typeface="Arial"/>
              </a:rPr>
              <a:t>Тема 2.2</a:t>
            </a:r>
          </a:p>
          <a:p>
            <a:pPr algn="l"/>
            <a:r>
              <a:rPr sz="1000" b="1">
                <a:solidFill>
                  <a:srgbClr val="111111"/>
                </a:solidFill>
                <a:latin typeface="Arial"/>
              </a:rPr>
              <a:t>Технология работы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48672" y="310896"/>
            <a:ext cx="1207008" cy="310896"/>
          </a:xfrm>
          <a:prstGeom prst="round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r>
              <a:rPr lang="en-US" sz="1100" b="1">
                <a:solidFill>
                  <a:srgbClr val="111111"/>
                </a:solidFill>
                <a:latin typeface="Arial" panose="020B0604020202020204" pitchFamily="34" charset="0"/>
              </a:rPr>
              <a:t>S032-P04</a:t>
            </a:r>
            <a:endParaRPr sz="11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5216" y="850392"/>
            <a:ext cx="5669280" cy="492443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r>
              <a:rPr lang="ru-RU" sz="2200" b="1">
                <a:solidFill>
                  <a:srgbClr val="111111"/>
                </a:solidFill>
                <a:latin typeface="Arial" panose="020B0604020202020204" pitchFamily="34" charset="0"/>
              </a:rPr>
              <a:t>Подвал. Небезопасное рабочее место</a:t>
            </a:r>
            <a:endParaRPr sz="22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76910" y="1828800"/>
            <a:ext cx="10487660" cy="3914140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460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>
            <a:hlinkClick r:id="rId2" action="ppaction://hlinksldjump"/>
          </p:cNvPr>
          <p:cNvSpPr/>
          <p:nvPr/>
        </p:nvSpPr>
        <p:spPr>
          <a:xfrm>
            <a:off x="676656" y="5989320"/>
            <a:ext cx="16916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/>
            <a:r>
              <a:rPr lang="ru-RU" sz="1200" b="1">
                <a:solidFill>
                  <a:srgbClr val="4B5563"/>
                </a:solidFill>
                <a:latin typeface="Arial"/>
              </a:rPr>
              <a:t>Назад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12" name="Прямоугольник: скругленные углы 11">
            <a:hlinkClick r:id="rId3" action="ppaction://hlinksldjump"/>
            <a:extLst>
              <a:ext uri="{FF2B5EF4-FFF2-40B4-BE49-F238E27FC236}">
                <a16:creationId xmlns:a16="http://schemas.microsoft.com/office/drawing/2014/main" id="{47B5600D-ABEB-7396-BEFC-CB9060117184}"/>
              </a:ext>
            </a:extLst>
          </p:cNvPr>
          <p:cNvSpPr/>
          <p:nvPr/>
        </p:nvSpPr>
        <p:spPr>
          <a:xfrm>
            <a:off x="9281160" y="5989320"/>
            <a:ext cx="1901952" cy="347472"/>
          </a:xfrm>
          <a:prstGeom prst="round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/>
            <a:r>
              <a:rPr lang="ru-RU" sz="1200" b="1">
                <a:solidFill>
                  <a:srgbClr val="FFFFFF"/>
                </a:solidFill>
                <a:latin typeface="Arial"/>
              </a:rPr>
              <a:t>Далее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" y="676656"/>
            <a:ext cx="1024128" cy="45720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76910" y="1828800"/>
            <a:ext cx="10487660" cy="36830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86384" y="1920240"/>
            <a:ext cx="777240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850" b="1">
                <a:solidFill>
                  <a:srgbClr val="0038B8"/>
                </a:solidFill>
                <a:latin typeface="Arial"/>
              </a:rPr>
              <a:t>Шаг 01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21608" y="1920240"/>
            <a:ext cx="91440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/>
            <a:r>
              <a:rPr lang="ru-RU" sz="1000" b="1">
                <a:solidFill>
                  <a:srgbClr val="111111"/>
                </a:solidFill>
                <a:latin typeface="Arial" panose="020B0604020202020204" pitchFamily="34" charset="0"/>
              </a:rPr>
              <a:t>Критично</a:t>
            </a:r>
            <a:endParaRPr sz="10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093208" y="1920240"/>
            <a:ext cx="1024128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r>
              <a:rPr lang="en-US" sz="1000" b="1">
                <a:solidFill>
                  <a:srgbClr val="111111"/>
                </a:solidFill>
                <a:latin typeface="Arial" panose="020B0604020202020204" pitchFamily="34" charset="0"/>
              </a:rPr>
              <a:t>S032-P04</a:t>
            </a:r>
            <a:endParaRPr sz="10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217920" y="1920240"/>
            <a:ext cx="77724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850" b="1">
                <a:solidFill>
                  <a:srgbClr val="4B5563"/>
                </a:solidFill>
                <a:latin typeface="Arial"/>
              </a:rPr>
              <a:t>Шаг 01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140696" y="1920240"/>
            <a:ext cx="914400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/>
            <a:r>
              <a:rPr lang="ru-RU" sz="1000" b="1">
                <a:solidFill>
                  <a:srgbClr val="111111"/>
                </a:solidFill>
                <a:latin typeface="Arial" panose="020B0604020202020204" pitchFamily="34" charset="0"/>
              </a:rPr>
              <a:t>Видео</a:t>
            </a:r>
            <a:endParaRPr sz="10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7" name="Codex_S031P_LeftPanel">
            <a:extLst>
              <a:ext uri="{FF2B5EF4-FFF2-40B4-BE49-F238E27FC236}">
                <a16:creationId xmlns:a16="http://schemas.microsoft.com/office/drawing/2014/main" id="{879EBF3B-5057-1BED-FBF4-4225AC0F32D7}"/>
              </a:ext>
            </a:extLst>
          </p:cNvPr>
          <p:cNvSpPr/>
          <p:nvPr/>
        </p:nvSpPr>
        <p:spPr>
          <a:xfrm>
            <a:off x="901700" y="2324100"/>
            <a:ext cx="4787900" cy="2997200"/>
          </a:xfrm>
          <a:prstGeom prst="rect">
            <a:avLst/>
          </a:prstGeom>
          <a:solidFill>
            <a:srgbClr val="F4F5F7"/>
          </a:solidFill>
          <a:ln w="12700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Codex_S031P_LeftStrip">
            <a:extLst>
              <a:ext uri="{FF2B5EF4-FFF2-40B4-BE49-F238E27FC236}">
                <a16:creationId xmlns:a16="http://schemas.microsoft.com/office/drawing/2014/main" id="{22483FB4-6888-9510-66D0-07AC06D0CFE7}"/>
              </a:ext>
            </a:extLst>
          </p:cNvPr>
          <p:cNvSpPr/>
          <p:nvPr/>
        </p:nvSpPr>
        <p:spPr>
          <a:xfrm>
            <a:off x="901700" y="2324100"/>
            <a:ext cx="4787900" cy="38100"/>
          </a:xfrm>
          <a:prstGeom prst="rect">
            <a:avLst/>
          </a:prstGeom>
          <a:solidFill>
            <a:srgbClr val="0038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Codex_S031P_RightPanel">
            <a:extLst>
              <a:ext uri="{FF2B5EF4-FFF2-40B4-BE49-F238E27FC236}">
                <a16:creationId xmlns:a16="http://schemas.microsoft.com/office/drawing/2014/main" id="{54C53769-F28C-19A8-765E-B71802E7A5ED}"/>
              </a:ext>
            </a:extLst>
          </p:cNvPr>
          <p:cNvSpPr/>
          <p:nvPr/>
        </p:nvSpPr>
        <p:spPr>
          <a:xfrm>
            <a:off x="5918200" y="2324100"/>
            <a:ext cx="4787900" cy="299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Codex_S031P_RightStrip">
            <a:extLst>
              <a:ext uri="{FF2B5EF4-FFF2-40B4-BE49-F238E27FC236}">
                <a16:creationId xmlns:a16="http://schemas.microsoft.com/office/drawing/2014/main" id="{A62307C1-B14B-CFCA-61FB-1F34324FDC93}"/>
              </a:ext>
            </a:extLst>
          </p:cNvPr>
          <p:cNvSpPr/>
          <p:nvPr/>
        </p:nvSpPr>
        <p:spPr>
          <a:xfrm>
            <a:off x="5918200" y="2324100"/>
            <a:ext cx="4787900" cy="38100"/>
          </a:xfrm>
          <a:prstGeom prst="rect">
            <a:avLst/>
          </a:prstGeom>
          <a:solidFill>
            <a:srgbClr val="0038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Codex_S032P_LeftPanel">
            <a:extLst>
              <a:ext uri="{FF2B5EF4-FFF2-40B4-BE49-F238E27FC236}">
                <a16:creationId xmlns:a16="http://schemas.microsoft.com/office/drawing/2014/main" id="{138E4B0B-805F-EF00-B24F-0E1C6A24EF06}"/>
              </a:ext>
            </a:extLst>
          </p:cNvPr>
          <p:cNvSpPr/>
          <p:nvPr/>
        </p:nvSpPr>
        <p:spPr>
          <a:xfrm>
            <a:off x="901700" y="2324100"/>
            <a:ext cx="3556000" cy="2997200"/>
          </a:xfrm>
          <a:prstGeom prst="rect">
            <a:avLst/>
          </a:prstGeom>
          <a:solidFill>
            <a:srgbClr val="F4F5F7"/>
          </a:solidFill>
          <a:ln w="12700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Codex_S032P_LeftStrip">
            <a:extLst>
              <a:ext uri="{FF2B5EF4-FFF2-40B4-BE49-F238E27FC236}">
                <a16:creationId xmlns:a16="http://schemas.microsoft.com/office/drawing/2014/main" id="{B78B7064-C19E-1486-AF8C-7AC0660315D6}"/>
              </a:ext>
            </a:extLst>
          </p:cNvPr>
          <p:cNvSpPr/>
          <p:nvPr/>
        </p:nvSpPr>
        <p:spPr>
          <a:xfrm>
            <a:off x="901700" y="2324100"/>
            <a:ext cx="3556000" cy="38100"/>
          </a:xfrm>
          <a:prstGeom prst="rect">
            <a:avLst/>
          </a:prstGeom>
          <a:solidFill>
            <a:srgbClr val="0038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Codex_S032P_RightPanel">
            <a:extLst>
              <a:ext uri="{FF2B5EF4-FFF2-40B4-BE49-F238E27FC236}">
                <a16:creationId xmlns:a16="http://schemas.microsoft.com/office/drawing/2014/main" id="{374CFD77-B419-C9D2-CC84-AECA98F7CD1C}"/>
              </a:ext>
            </a:extLst>
          </p:cNvPr>
          <p:cNvSpPr/>
          <p:nvPr/>
        </p:nvSpPr>
        <p:spPr>
          <a:xfrm>
            <a:off x="4686300" y="2324100"/>
            <a:ext cx="6235700" cy="299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Codex_S032P_RightStrip">
            <a:extLst>
              <a:ext uri="{FF2B5EF4-FFF2-40B4-BE49-F238E27FC236}">
                <a16:creationId xmlns:a16="http://schemas.microsoft.com/office/drawing/2014/main" id="{C6AD7BC9-9E36-33F1-E73A-AA4825B169FD}"/>
              </a:ext>
            </a:extLst>
          </p:cNvPr>
          <p:cNvSpPr/>
          <p:nvPr/>
        </p:nvSpPr>
        <p:spPr>
          <a:xfrm>
            <a:off x="4686300" y="2324100"/>
            <a:ext cx="6235700" cy="38100"/>
          </a:xfrm>
          <a:prstGeom prst="rect">
            <a:avLst/>
          </a:prstGeom>
          <a:solidFill>
            <a:srgbClr val="0038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Codex_S032P_LeftTitle">
            <a:extLst>
              <a:ext uri="{FF2B5EF4-FFF2-40B4-BE49-F238E27FC236}">
                <a16:creationId xmlns:a16="http://schemas.microsoft.com/office/drawing/2014/main" id="{A940FBF6-E2FA-1CBC-FF16-67932ED8D1BB}"/>
              </a:ext>
            </a:extLst>
          </p:cNvPr>
          <p:cNvSpPr txBox="1"/>
          <p:nvPr/>
        </p:nvSpPr>
        <p:spPr>
          <a:xfrm>
            <a:off x="1054100" y="2476500"/>
            <a:ext cx="32512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ru-RU" sz="1200" b="1">
                <a:solidFill>
                  <a:srgbClr val="111111"/>
                </a:solidFill>
                <a:latin typeface="Arial" panose="020B0604020202020204" pitchFamily="34" charset="0"/>
              </a:rPr>
              <a:t>Чем опасно</a:t>
            </a:r>
          </a:p>
        </p:txBody>
      </p:sp>
      <p:sp>
        <p:nvSpPr>
          <p:cNvPr id="29" name="Codex_S032P_LeftBody">
            <a:extLst>
              <a:ext uri="{FF2B5EF4-FFF2-40B4-BE49-F238E27FC236}">
                <a16:creationId xmlns:a16="http://schemas.microsoft.com/office/drawing/2014/main" id="{21847725-AEA9-0FAF-B547-848DFA8D7E68}"/>
              </a:ext>
            </a:extLst>
          </p:cNvPr>
          <p:cNvSpPr txBox="1"/>
          <p:nvPr/>
        </p:nvSpPr>
        <p:spPr>
          <a:xfrm>
            <a:off x="1054100" y="2806700"/>
            <a:ext cx="3251200" cy="115108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ru-RU" sz="1080">
                <a:solidFill>
                  <a:srgbClr val="111111"/>
                </a:solidFill>
                <a:latin typeface="Arial" panose="020B0604020202020204" pitchFamily="34" charset="0"/>
              </a:rPr>
              <a:t>• В опасной зоне находятся люди, помехи или неподготовленные опоры.</a:t>
            </a:r>
          </a:p>
          <a:p>
            <a:r>
              <a:rPr lang="ru-RU" sz="1080">
                <a:solidFill>
                  <a:srgbClr val="111111"/>
                </a:solidFill>
                <a:latin typeface="Arial" panose="020B0604020202020204" pitchFamily="34" charset="0"/>
              </a:rPr>
              <a:t>• Маршрут не очищен, место укладки не готово.</a:t>
            </a:r>
          </a:p>
          <a:p>
            <a:r>
              <a:rPr lang="ru-RU" sz="1080">
                <a:solidFill>
                  <a:srgbClr val="111111"/>
                </a:solidFill>
                <a:latin typeface="Arial" panose="020B0604020202020204" pitchFamily="34" charset="0"/>
              </a:rPr>
              <a:t>• Даже исправный подъем становится опасным из-за самой площадки.</a:t>
            </a:r>
          </a:p>
        </p:txBody>
      </p:sp>
      <p:sp>
        <p:nvSpPr>
          <p:cNvPr id="30" name="Codex_S032P_RightTitle">
            <a:extLst>
              <a:ext uri="{FF2B5EF4-FFF2-40B4-BE49-F238E27FC236}">
                <a16:creationId xmlns:a16="http://schemas.microsoft.com/office/drawing/2014/main" id="{3EBF75EC-05CF-5EC6-F2C3-6127756AF9B3}"/>
              </a:ext>
            </a:extLst>
          </p:cNvPr>
          <p:cNvSpPr txBox="1"/>
          <p:nvPr/>
        </p:nvSpPr>
        <p:spPr>
          <a:xfrm>
            <a:off x="4838700" y="2476500"/>
            <a:ext cx="59309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ru-RU" sz="1200" b="1">
                <a:solidFill>
                  <a:srgbClr val="111111"/>
                </a:solidFill>
                <a:latin typeface="Arial" panose="020B0604020202020204" pitchFamily="34" charset="0"/>
              </a:rPr>
              <a:t>Видеоролик / аварийный кейс</a:t>
            </a:r>
          </a:p>
        </p:txBody>
      </p:sp>
      <p:sp>
        <p:nvSpPr>
          <p:cNvPr id="31" name="Codex_S032P_RightBody">
            <a:extLst>
              <a:ext uri="{FF2B5EF4-FFF2-40B4-BE49-F238E27FC236}">
                <a16:creationId xmlns:a16="http://schemas.microsoft.com/office/drawing/2014/main" id="{0192898F-16F0-5CD5-D383-649DF8C1CF7C}"/>
              </a:ext>
            </a:extLst>
          </p:cNvPr>
          <p:cNvSpPr txBox="1"/>
          <p:nvPr/>
        </p:nvSpPr>
        <p:spPr>
          <a:xfrm>
            <a:off x="4914900" y="3060700"/>
            <a:ext cx="5778500" cy="735586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pPr algn="ctr"/>
            <a:r>
              <a:rPr lang="ru-RU" sz="1260">
                <a:solidFill>
                  <a:srgbClr val="4B5563"/>
                </a:solidFill>
                <a:latin typeface="Arial" panose="020B0604020202020204" pitchFamily="34" charset="0"/>
              </a:rPr>
              <a:t>Показываем несчастный случай на неподготовленной площадке.</a:t>
            </a:r>
          </a:p>
          <a:p>
            <a:pPr algn="ctr"/>
            <a:r>
              <a:rPr lang="ru-RU" sz="1260">
                <a:solidFill>
                  <a:srgbClr val="4B5563"/>
                </a:solidFill>
                <a:latin typeface="Arial" panose="020B0604020202020204" pitchFamily="34" charset="0"/>
              </a:rPr>
              <a:t>Кейс должен раскрывать риск для людей, столкновение с препятствием или потерю устойчивости груза.</a:t>
            </a:r>
          </a:p>
        </p:txBody>
      </p:sp>
      <p:sp>
        <p:nvSpPr>
          <p:cNvPr id="32" name="Codex_S032P_RightMeta">
            <a:extLst>
              <a:ext uri="{FF2B5EF4-FFF2-40B4-BE49-F238E27FC236}">
                <a16:creationId xmlns:a16="http://schemas.microsoft.com/office/drawing/2014/main" id="{26535298-68CE-D0F2-DB95-CA395840D702}"/>
              </a:ext>
            </a:extLst>
          </p:cNvPr>
          <p:cNvSpPr txBox="1"/>
          <p:nvPr/>
        </p:nvSpPr>
        <p:spPr>
          <a:xfrm>
            <a:off x="4914900" y="4711700"/>
            <a:ext cx="5778500" cy="313932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pPr algn="ctr"/>
            <a:r>
              <a:rPr lang="ru-RU" sz="1040" b="1">
                <a:solidFill>
                  <a:srgbClr val="111111"/>
                </a:solidFill>
                <a:latin typeface="Arial" panose="020B0604020202020204" pitchFamily="34" charset="0"/>
              </a:rPr>
              <a:t>Резерв под видеоролик / аварийный кейс</a:t>
            </a:r>
          </a:p>
        </p:txBody>
      </p:sp>
    </p:spTree>
    <p:extLst>
      <p:ext uri="{BB962C8B-B14F-4D97-AF65-F5344CB8AC3E}">
        <p14:creationId xmlns:p14="http://schemas.microsoft.com/office/powerpoint/2010/main" val="13875655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74320"/>
            <a:ext cx="1325880" cy="384048"/>
          </a:xfrm>
          <a:prstGeom prst="rect">
            <a:avLst/>
          </a:prstGeom>
          <a:noFill/>
        </p:spPr>
        <p:txBody>
          <a:bodyPr wrap="none" lIns="101600" tIns="76200" rIns="101600" bIns="76200">
            <a:spAutoFit/>
          </a:bodyPr>
          <a:lstStyle/>
          <a:p>
            <a:pPr algn="l"/>
            <a:r>
              <a:rPr sz="1000" b="1">
                <a:solidFill>
                  <a:srgbClr val="111111"/>
                </a:solidFill>
                <a:latin typeface="Arial"/>
              </a:rPr>
              <a:t>Тема 2.2</a:t>
            </a:r>
          </a:p>
          <a:p>
            <a:pPr algn="l"/>
            <a:r>
              <a:rPr sz="1000" b="1">
                <a:solidFill>
                  <a:srgbClr val="111111"/>
                </a:solidFill>
                <a:latin typeface="Arial"/>
              </a:rPr>
              <a:t>Технология работы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48672" y="310896"/>
            <a:ext cx="1207008" cy="310896"/>
          </a:xfrm>
          <a:prstGeom prst="round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r>
              <a:rPr lang="en-US" sz="1100" b="1">
                <a:solidFill>
                  <a:srgbClr val="111111"/>
                </a:solidFill>
                <a:latin typeface="Arial" panose="020B0604020202020204" pitchFamily="34" charset="0"/>
              </a:rPr>
              <a:t>S032-P05</a:t>
            </a:r>
            <a:endParaRPr sz="11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5216" y="850392"/>
            <a:ext cx="5669280" cy="492443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r>
              <a:rPr lang="ru-RU" sz="2200" b="1">
                <a:solidFill>
                  <a:srgbClr val="111111"/>
                </a:solidFill>
                <a:latin typeface="Arial" panose="020B0604020202020204" pitchFamily="34" charset="0"/>
              </a:rPr>
              <a:t>Подвал. Неясные условия работы</a:t>
            </a:r>
            <a:endParaRPr sz="22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76910" y="1828800"/>
            <a:ext cx="10487660" cy="3914140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460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>
            <a:hlinkClick r:id="rId2" action="ppaction://hlinksldjump"/>
          </p:cNvPr>
          <p:cNvSpPr/>
          <p:nvPr/>
        </p:nvSpPr>
        <p:spPr>
          <a:xfrm>
            <a:off x="676656" y="5989320"/>
            <a:ext cx="16916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/>
            <a:r>
              <a:rPr lang="ru-RU" sz="1200" b="1">
                <a:solidFill>
                  <a:srgbClr val="4B5563"/>
                </a:solidFill>
                <a:latin typeface="Arial"/>
              </a:rPr>
              <a:t>Назад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12" name="Прямоугольник: скругленные углы 11">
            <a:hlinkClick r:id="rId3" action="ppaction://hlinksldjump"/>
            <a:extLst>
              <a:ext uri="{FF2B5EF4-FFF2-40B4-BE49-F238E27FC236}">
                <a16:creationId xmlns:a16="http://schemas.microsoft.com/office/drawing/2014/main" id="{47B5600D-ABEB-7396-BEFC-CB9060117184}"/>
              </a:ext>
            </a:extLst>
          </p:cNvPr>
          <p:cNvSpPr/>
          <p:nvPr/>
        </p:nvSpPr>
        <p:spPr>
          <a:xfrm>
            <a:off x="9281160" y="5989320"/>
            <a:ext cx="1901952" cy="347472"/>
          </a:xfrm>
          <a:prstGeom prst="round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/>
            <a:r>
              <a:rPr lang="ru-RU" sz="1200" b="1">
                <a:solidFill>
                  <a:srgbClr val="FFFFFF"/>
                </a:solidFill>
                <a:latin typeface="Arial"/>
              </a:rPr>
              <a:t>Далее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" y="676656"/>
            <a:ext cx="1024128" cy="45720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76910" y="1828800"/>
            <a:ext cx="10487660" cy="36830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86384" y="1920240"/>
            <a:ext cx="777240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850" b="1">
                <a:solidFill>
                  <a:srgbClr val="0038B8"/>
                </a:solidFill>
                <a:latin typeface="Arial"/>
              </a:rPr>
              <a:t>Шаг 01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21608" y="1920240"/>
            <a:ext cx="91440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/>
            <a:r>
              <a:rPr lang="ru-RU" sz="1000" b="1">
                <a:solidFill>
                  <a:srgbClr val="111111"/>
                </a:solidFill>
                <a:latin typeface="Arial" panose="020B0604020202020204" pitchFamily="34" charset="0"/>
              </a:rPr>
              <a:t>Критично</a:t>
            </a:r>
            <a:endParaRPr sz="10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093208" y="1920240"/>
            <a:ext cx="1024128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r>
              <a:rPr lang="en-US" sz="1000" b="1">
                <a:solidFill>
                  <a:srgbClr val="111111"/>
                </a:solidFill>
                <a:latin typeface="Arial" panose="020B0604020202020204" pitchFamily="34" charset="0"/>
              </a:rPr>
              <a:t>S032-P05</a:t>
            </a:r>
            <a:endParaRPr sz="10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217920" y="1920240"/>
            <a:ext cx="77724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850" b="1">
                <a:solidFill>
                  <a:srgbClr val="4B5563"/>
                </a:solidFill>
                <a:latin typeface="Arial"/>
              </a:rPr>
              <a:t>Шаг 01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140696" y="1920240"/>
            <a:ext cx="914400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/>
            <a:r>
              <a:rPr lang="ru-RU" sz="1000" b="1">
                <a:solidFill>
                  <a:srgbClr val="111111"/>
                </a:solidFill>
                <a:latin typeface="Arial" panose="020B0604020202020204" pitchFamily="34" charset="0"/>
              </a:rPr>
              <a:t>Видео</a:t>
            </a:r>
            <a:endParaRPr sz="10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7" name="Codex_S031P_LeftPanel">
            <a:extLst>
              <a:ext uri="{FF2B5EF4-FFF2-40B4-BE49-F238E27FC236}">
                <a16:creationId xmlns:a16="http://schemas.microsoft.com/office/drawing/2014/main" id="{879EBF3B-5057-1BED-FBF4-4225AC0F32D7}"/>
              </a:ext>
            </a:extLst>
          </p:cNvPr>
          <p:cNvSpPr/>
          <p:nvPr/>
        </p:nvSpPr>
        <p:spPr>
          <a:xfrm>
            <a:off x="901700" y="2324100"/>
            <a:ext cx="4787900" cy="2997200"/>
          </a:xfrm>
          <a:prstGeom prst="rect">
            <a:avLst/>
          </a:prstGeom>
          <a:solidFill>
            <a:srgbClr val="F4F5F7"/>
          </a:solidFill>
          <a:ln w="12700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Codex_S031P_LeftStrip">
            <a:extLst>
              <a:ext uri="{FF2B5EF4-FFF2-40B4-BE49-F238E27FC236}">
                <a16:creationId xmlns:a16="http://schemas.microsoft.com/office/drawing/2014/main" id="{22483FB4-6888-9510-66D0-07AC06D0CFE7}"/>
              </a:ext>
            </a:extLst>
          </p:cNvPr>
          <p:cNvSpPr/>
          <p:nvPr/>
        </p:nvSpPr>
        <p:spPr>
          <a:xfrm>
            <a:off x="901700" y="2324100"/>
            <a:ext cx="4787900" cy="38100"/>
          </a:xfrm>
          <a:prstGeom prst="rect">
            <a:avLst/>
          </a:prstGeom>
          <a:solidFill>
            <a:srgbClr val="0038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Codex_S031P_RightPanel">
            <a:extLst>
              <a:ext uri="{FF2B5EF4-FFF2-40B4-BE49-F238E27FC236}">
                <a16:creationId xmlns:a16="http://schemas.microsoft.com/office/drawing/2014/main" id="{54C53769-F28C-19A8-765E-B71802E7A5ED}"/>
              </a:ext>
            </a:extLst>
          </p:cNvPr>
          <p:cNvSpPr/>
          <p:nvPr/>
        </p:nvSpPr>
        <p:spPr>
          <a:xfrm>
            <a:off x="5918200" y="2324100"/>
            <a:ext cx="4787900" cy="299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Codex_S031P_RightStrip">
            <a:extLst>
              <a:ext uri="{FF2B5EF4-FFF2-40B4-BE49-F238E27FC236}">
                <a16:creationId xmlns:a16="http://schemas.microsoft.com/office/drawing/2014/main" id="{A62307C1-B14B-CFCA-61FB-1F34324FDC93}"/>
              </a:ext>
            </a:extLst>
          </p:cNvPr>
          <p:cNvSpPr/>
          <p:nvPr/>
        </p:nvSpPr>
        <p:spPr>
          <a:xfrm>
            <a:off x="5918200" y="2324100"/>
            <a:ext cx="4787900" cy="38100"/>
          </a:xfrm>
          <a:prstGeom prst="rect">
            <a:avLst/>
          </a:prstGeom>
          <a:solidFill>
            <a:srgbClr val="0038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Codex_S032P_LeftPanel">
            <a:extLst>
              <a:ext uri="{FF2B5EF4-FFF2-40B4-BE49-F238E27FC236}">
                <a16:creationId xmlns:a16="http://schemas.microsoft.com/office/drawing/2014/main" id="{0E57BE5A-5513-ABE3-B0FD-6D95DD103E3C}"/>
              </a:ext>
            </a:extLst>
          </p:cNvPr>
          <p:cNvSpPr/>
          <p:nvPr/>
        </p:nvSpPr>
        <p:spPr>
          <a:xfrm>
            <a:off x="901700" y="2324100"/>
            <a:ext cx="3556000" cy="2997200"/>
          </a:xfrm>
          <a:prstGeom prst="rect">
            <a:avLst/>
          </a:prstGeom>
          <a:solidFill>
            <a:srgbClr val="F4F5F7"/>
          </a:solidFill>
          <a:ln w="12700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Codex_S032P_LeftStrip">
            <a:extLst>
              <a:ext uri="{FF2B5EF4-FFF2-40B4-BE49-F238E27FC236}">
                <a16:creationId xmlns:a16="http://schemas.microsoft.com/office/drawing/2014/main" id="{E5563F92-0C31-131E-87FA-C9476163865C}"/>
              </a:ext>
            </a:extLst>
          </p:cNvPr>
          <p:cNvSpPr/>
          <p:nvPr/>
        </p:nvSpPr>
        <p:spPr>
          <a:xfrm>
            <a:off x="901700" y="2324100"/>
            <a:ext cx="3556000" cy="38100"/>
          </a:xfrm>
          <a:prstGeom prst="rect">
            <a:avLst/>
          </a:prstGeom>
          <a:solidFill>
            <a:srgbClr val="0038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Codex_S032P_RightPanel">
            <a:extLst>
              <a:ext uri="{FF2B5EF4-FFF2-40B4-BE49-F238E27FC236}">
                <a16:creationId xmlns:a16="http://schemas.microsoft.com/office/drawing/2014/main" id="{8CC095B3-13D7-1059-943D-047EBEBA6C42}"/>
              </a:ext>
            </a:extLst>
          </p:cNvPr>
          <p:cNvSpPr/>
          <p:nvPr/>
        </p:nvSpPr>
        <p:spPr>
          <a:xfrm>
            <a:off x="4686300" y="2324100"/>
            <a:ext cx="6235700" cy="299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Codex_S032P_RightStrip">
            <a:extLst>
              <a:ext uri="{FF2B5EF4-FFF2-40B4-BE49-F238E27FC236}">
                <a16:creationId xmlns:a16="http://schemas.microsoft.com/office/drawing/2014/main" id="{3504AF91-B22F-C386-EE7C-6CD91A54C36A}"/>
              </a:ext>
            </a:extLst>
          </p:cNvPr>
          <p:cNvSpPr/>
          <p:nvPr/>
        </p:nvSpPr>
        <p:spPr>
          <a:xfrm>
            <a:off x="4686300" y="2324100"/>
            <a:ext cx="6235700" cy="38100"/>
          </a:xfrm>
          <a:prstGeom prst="rect">
            <a:avLst/>
          </a:prstGeom>
          <a:solidFill>
            <a:srgbClr val="0038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Codex_S032P_LeftTitle">
            <a:extLst>
              <a:ext uri="{FF2B5EF4-FFF2-40B4-BE49-F238E27FC236}">
                <a16:creationId xmlns:a16="http://schemas.microsoft.com/office/drawing/2014/main" id="{A7A4CA96-C371-8420-636F-EDD9B71079AB}"/>
              </a:ext>
            </a:extLst>
          </p:cNvPr>
          <p:cNvSpPr txBox="1"/>
          <p:nvPr/>
        </p:nvSpPr>
        <p:spPr>
          <a:xfrm>
            <a:off x="1054100" y="2476500"/>
            <a:ext cx="32512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ru-RU" sz="1200" b="1">
                <a:solidFill>
                  <a:srgbClr val="111111"/>
                </a:solidFill>
                <a:latin typeface="Arial" panose="020B0604020202020204" pitchFamily="34" charset="0"/>
              </a:rPr>
              <a:t>Чем опасно</a:t>
            </a:r>
          </a:p>
        </p:txBody>
      </p:sp>
      <p:sp>
        <p:nvSpPr>
          <p:cNvPr id="29" name="Codex_S032P_LeftBody">
            <a:extLst>
              <a:ext uri="{FF2B5EF4-FFF2-40B4-BE49-F238E27FC236}">
                <a16:creationId xmlns:a16="http://schemas.microsoft.com/office/drawing/2014/main" id="{DCD333BD-39A7-AB5C-E8B0-825F3D4AF7FA}"/>
              </a:ext>
            </a:extLst>
          </p:cNvPr>
          <p:cNvSpPr txBox="1"/>
          <p:nvPr/>
        </p:nvSpPr>
        <p:spPr>
          <a:xfrm>
            <a:off x="1054100" y="2806700"/>
            <a:ext cx="3251200" cy="115108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ru-RU" sz="1080">
                <a:solidFill>
                  <a:srgbClr val="111111"/>
                </a:solidFill>
                <a:latin typeface="Arial" panose="020B0604020202020204" pitchFamily="34" charset="0"/>
              </a:rPr>
              <a:t>• Не подтверждены задание, масса груза, маршрут или порядок сигналов.</a:t>
            </a:r>
          </a:p>
          <a:p>
            <a:r>
              <a:rPr lang="ru-RU" sz="1080">
                <a:solidFill>
                  <a:srgbClr val="111111"/>
                </a:solidFill>
                <a:latin typeface="Arial" panose="020B0604020202020204" pitchFamily="34" charset="0"/>
              </a:rPr>
              <a:t>• Стропальщик не понимает, как именно выполнять операцию.</a:t>
            </a:r>
          </a:p>
          <a:p>
            <a:r>
              <a:rPr lang="ru-RU" sz="1080">
                <a:solidFill>
                  <a:srgbClr val="111111"/>
                </a:solidFill>
                <a:latin typeface="Arial" panose="020B0604020202020204" pitchFamily="34" charset="0"/>
              </a:rPr>
              <a:t>• При неясных условиях нельзя начинать работу до полного уточнения.</a:t>
            </a:r>
          </a:p>
        </p:txBody>
      </p:sp>
      <p:sp>
        <p:nvSpPr>
          <p:cNvPr id="30" name="Codex_S032P_RightTitle">
            <a:extLst>
              <a:ext uri="{FF2B5EF4-FFF2-40B4-BE49-F238E27FC236}">
                <a16:creationId xmlns:a16="http://schemas.microsoft.com/office/drawing/2014/main" id="{FFFA75B3-3EC7-6812-7FF1-529480F62634}"/>
              </a:ext>
            </a:extLst>
          </p:cNvPr>
          <p:cNvSpPr txBox="1"/>
          <p:nvPr/>
        </p:nvSpPr>
        <p:spPr>
          <a:xfrm>
            <a:off x="4838700" y="2476500"/>
            <a:ext cx="5930900" cy="3385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ru-RU" sz="1200" b="1">
                <a:solidFill>
                  <a:srgbClr val="111111"/>
                </a:solidFill>
                <a:latin typeface="Arial" panose="020B0604020202020204" pitchFamily="34" charset="0"/>
              </a:rPr>
              <a:t>Видеоролик / аварийный кейс</a:t>
            </a:r>
          </a:p>
        </p:txBody>
      </p:sp>
      <p:sp>
        <p:nvSpPr>
          <p:cNvPr id="31" name="Codex_S032P_RightBody">
            <a:extLst>
              <a:ext uri="{FF2B5EF4-FFF2-40B4-BE49-F238E27FC236}">
                <a16:creationId xmlns:a16="http://schemas.microsoft.com/office/drawing/2014/main" id="{16E89B1C-E4A3-AD61-CE91-EA37B70616F5}"/>
              </a:ext>
            </a:extLst>
          </p:cNvPr>
          <p:cNvSpPr txBox="1"/>
          <p:nvPr/>
        </p:nvSpPr>
        <p:spPr>
          <a:xfrm>
            <a:off x="4914900" y="3060700"/>
            <a:ext cx="5778500" cy="735586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pPr algn="ctr"/>
            <a:r>
              <a:rPr lang="ru-RU" sz="1260">
                <a:solidFill>
                  <a:srgbClr val="4B5563"/>
                </a:solidFill>
                <a:latin typeface="Arial" panose="020B0604020202020204" pitchFamily="34" charset="0"/>
              </a:rPr>
              <a:t>Показываем кейс, где работа началась без четких вводных условий.</a:t>
            </a:r>
          </a:p>
          <a:p>
            <a:pPr algn="ctr"/>
            <a:r>
              <a:rPr lang="ru-RU" sz="1260">
                <a:solidFill>
                  <a:srgbClr val="4B5563"/>
                </a:solidFill>
                <a:latin typeface="Arial" panose="020B0604020202020204" pitchFamily="34" charset="0"/>
              </a:rPr>
              <a:t>Ролик должен подвести к выводу: если задача не ясна, операцию не запускают.</a:t>
            </a:r>
          </a:p>
        </p:txBody>
      </p:sp>
      <p:sp>
        <p:nvSpPr>
          <p:cNvPr id="32" name="Codex_S032P_RightMeta">
            <a:extLst>
              <a:ext uri="{FF2B5EF4-FFF2-40B4-BE49-F238E27FC236}">
                <a16:creationId xmlns:a16="http://schemas.microsoft.com/office/drawing/2014/main" id="{D85C377C-FB7F-2E18-543A-F54FAD5C1B06}"/>
              </a:ext>
            </a:extLst>
          </p:cNvPr>
          <p:cNvSpPr txBox="1"/>
          <p:nvPr/>
        </p:nvSpPr>
        <p:spPr>
          <a:xfrm>
            <a:off x="4914900" y="4711700"/>
            <a:ext cx="5778500" cy="313932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pPr algn="ctr"/>
            <a:r>
              <a:rPr lang="ru-RU" sz="1040" b="1">
                <a:solidFill>
                  <a:srgbClr val="111111"/>
                </a:solidFill>
                <a:latin typeface="Arial" panose="020B0604020202020204" pitchFamily="34" charset="0"/>
              </a:rPr>
              <a:t>Резерв под видеоролик / аварийный кейс</a:t>
            </a:r>
          </a:p>
        </p:txBody>
      </p:sp>
    </p:spTree>
    <p:extLst>
      <p:ext uri="{BB962C8B-B14F-4D97-AF65-F5344CB8AC3E}">
        <p14:creationId xmlns:p14="http://schemas.microsoft.com/office/powerpoint/2010/main" val="13503451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74320"/>
            <a:ext cx="1325880" cy="384048"/>
          </a:xfrm>
          <a:prstGeom prst="rect">
            <a:avLst/>
          </a:prstGeom>
          <a:noFill/>
        </p:spPr>
        <p:txBody>
          <a:bodyPr wrap="none" lIns="101600" tIns="76200" rIns="101600" bIns="76200">
            <a:spAutoFit/>
          </a:bodyPr>
          <a:lstStyle/>
          <a:p>
            <a:pPr algn="l"/>
            <a:r>
              <a:rPr sz="1000" b="1">
                <a:solidFill>
                  <a:srgbClr val="111111"/>
                </a:solidFill>
                <a:latin typeface="Arial"/>
              </a:rPr>
              <a:t>Тема 2.2</a:t>
            </a:r>
          </a:p>
          <a:p>
            <a:pPr algn="l"/>
            <a:r>
              <a:rPr sz="1000" b="1">
                <a:solidFill>
                  <a:srgbClr val="111111"/>
                </a:solidFill>
                <a:latin typeface="Arial"/>
              </a:rPr>
              <a:t>Технология работы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04120" y="310896"/>
            <a:ext cx="1051560" cy="310896"/>
          </a:xfrm>
          <a:prstGeom prst="round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1600" tIns="76200" rIns="101600" bIns="7620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rial"/>
              </a:rPr>
              <a:t>S033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5216" y="850392"/>
            <a:ext cx="5669280" cy="523220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r>
              <a:rPr lang="ru-RU" sz="2400" b="1">
                <a:solidFill>
                  <a:srgbClr val="111111"/>
                </a:solidFill>
                <a:latin typeface="Arial" panose="020B0604020202020204" pitchFamily="34" charset="0"/>
              </a:rPr>
              <a:t>Обязанности стропальщика</a:t>
            </a:r>
            <a:endParaRPr sz="24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559552" y="1828800"/>
            <a:ext cx="5449824" cy="3913632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742432" y="2688336"/>
            <a:ext cx="5084064" cy="584775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 algn="l"/>
            <a:r>
              <a:rPr lang="ru-RU" sz="1400" b="0" dirty="0" err="1">
                <a:solidFill>
                  <a:srgbClr val="4B5563"/>
                </a:solidFill>
                <a:latin typeface="Arial"/>
              </a:rPr>
              <a:t>Слайдшоу</a:t>
            </a:r>
            <a:r>
              <a:rPr lang="ru-RU" sz="1400" b="0" dirty="0">
                <a:solidFill>
                  <a:srgbClr val="4B5563"/>
                </a:solidFill>
                <a:latin typeface="Arial"/>
              </a:rPr>
              <a:t> из снимков из плакатов. С комментариями что можно, а что нельзя.</a:t>
            </a:r>
            <a:endParaRPr sz="2000" dirty="0">
              <a:solidFill>
                <a:srgbClr val="212B36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76656" y="5989320"/>
            <a:ext cx="16916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/>
            <a:r>
              <a:rPr lang="ru-RU" sz="1200" b="1">
                <a:solidFill>
                  <a:srgbClr val="4B5563"/>
                </a:solidFill>
                <a:latin typeface="Arial"/>
              </a:rPr>
              <a:t>Назад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47B5600D-ABEB-7396-BEFC-CB9060117184}"/>
              </a:ext>
            </a:extLst>
          </p:cNvPr>
          <p:cNvSpPr/>
          <p:nvPr/>
        </p:nvSpPr>
        <p:spPr>
          <a:xfrm>
            <a:off x="9281160" y="5989320"/>
            <a:ext cx="1901952" cy="347472"/>
          </a:xfrm>
          <a:prstGeom prst="round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/>
            <a:r>
              <a:rPr lang="ru-RU" sz="1200" b="1">
                <a:solidFill>
                  <a:srgbClr val="FFFFFF"/>
                </a:solidFill>
                <a:latin typeface="Arial"/>
              </a:rPr>
              <a:t>Далее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" y="676656"/>
            <a:ext cx="1024128" cy="45720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559552" y="1828800"/>
            <a:ext cx="5449824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669280" y="1920240"/>
            <a:ext cx="868680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850" b="1">
                <a:solidFill>
                  <a:srgbClr val="0038B8"/>
                </a:solidFill>
                <a:latin typeface="Arial"/>
              </a:rPr>
              <a:t>S033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38544" y="1920240"/>
            <a:ext cx="77724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850" b="1">
                <a:solidFill>
                  <a:srgbClr val="4B5563"/>
                </a:solidFill>
                <a:latin typeface="Arial"/>
              </a:rPr>
              <a:t>Шаг 02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85248" y="1920240"/>
            <a:ext cx="914400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850" b="1">
                <a:solidFill>
                  <a:srgbClr val="0038B8"/>
                </a:solidFill>
                <a:latin typeface="Arial"/>
              </a:rPr>
              <a:t>Роль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2176272"/>
            <a:ext cx="5230368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11111"/>
                </a:solidFill>
                <a:latin typeface="Arial"/>
              </a:rPr>
              <a:t>Технический комментарий</a:t>
            </a:r>
          </a:p>
        </p:txBody>
      </p:sp>
      <p:sp>
        <p:nvSpPr>
          <p:cNvPr id="22" name="Codex_S033_Card1_panel">
            <a:hlinkClick r:id="rId2" action="ppaction://hlinksldjump"/>
            <a:extLst>
              <a:ext uri="{FF2B5EF4-FFF2-40B4-BE49-F238E27FC236}">
                <a16:creationId xmlns:a16="http://schemas.microsoft.com/office/drawing/2014/main" id="{E97E0769-5F15-B3BB-D769-92F13CAC3FEA}"/>
              </a:ext>
            </a:extLst>
          </p:cNvPr>
          <p:cNvSpPr/>
          <p:nvPr/>
        </p:nvSpPr>
        <p:spPr>
          <a:xfrm>
            <a:off x="676910" y="2006600"/>
            <a:ext cx="4663440" cy="736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Codex_S033_Card1_strip">
            <a:hlinkClick r:id="rId2" action="ppaction://hlinksldjump"/>
            <a:extLst>
              <a:ext uri="{FF2B5EF4-FFF2-40B4-BE49-F238E27FC236}">
                <a16:creationId xmlns:a16="http://schemas.microsoft.com/office/drawing/2014/main" id="{6323B7D7-82EB-4909-EB6D-B9DBC4D8D08A}"/>
              </a:ext>
            </a:extLst>
          </p:cNvPr>
          <p:cNvSpPr/>
          <p:nvPr/>
        </p:nvSpPr>
        <p:spPr>
          <a:xfrm>
            <a:off x="778510" y="2082800"/>
            <a:ext cx="4460240" cy="38100"/>
          </a:xfrm>
          <a:prstGeom prst="rect">
            <a:avLst/>
          </a:prstGeom>
          <a:solidFill>
            <a:srgbClr val="0038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Codex_S033_Card1_text">
            <a:hlinkClick r:id="rId2" action="ppaction://hlinksldjump"/>
            <a:extLst>
              <a:ext uri="{FF2B5EF4-FFF2-40B4-BE49-F238E27FC236}">
                <a16:creationId xmlns:a16="http://schemas.microsoft.com/office/drawing/2014/main" id="{53F9D737-DDD7-1561-4F77-24D2E155E349}"/>
              </a:ext>
            </a:extLst>
          </p:cNvPr>
          <p:cNvSpPr txBox="1"/>
          <p:nvPr/>
        </p:nvSpPr>
        <p:spPr>
          <a:xfrm>
            <a:off x="829310" y="2146300"/>
            <a:ext cx="4358640" cy="341632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ru-RU" sz="1220" b="1">
                <a:solidFill>
                  <a:srgbClr val="111111"/>
                </a:solidFill>
                <a:latin typeface="Arial" panose="020B0604020202020204" pitchFamily="34" charset="0"/>
              </a:rPr>
              <a:t>До начала работы</a:t>
            </a:r>
          </a:p>
        </p:txBody>
      </p:sp>
      <p:sp>
        <p:nvSpPr>
          <p:cNvPr id="25" name="Codex_S033_Card2_panel">
            <a:hlinkClick r:id="rId3" action="ppaction://hlinksldjump"/>
            <a:extLst>
              <a:ext uri="{FF2B5EF4-FFF2-40B4-BE49-F238E27FC236}">
                <a16:creationId xmlns:a16="http://schemas.microsoft.com/office/drawing/2014/main" id="{F7A2811B-C85D-1301-D8EB-13D38230B9B1}"/>
              </a:ext>
            </a:extLst>
          </p:cNvPr>
          <p:cNvSpPr/>
          <p:nvPr/>
        </p:nvSpPr>
        <p:spPr>
          <a:xfrm>
            <a:off x="676910" y="2870200"/>
            <a:ext cx="4663440" cy="736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Codex_S033_Card2_strip">
            <a:hlinkClick r:id="rId3" action="ppaction://hlinksldjump"/>
            <a:extLst>
              <a:ext uri="{FF2B5EF4-FFF2-40B4-BE49-F238E27FC236}">
                <a16:creationId xmlns:a16="http://schemas.microsoft.com/office/drawing/2014/main" id="{09FC9E0E-DC66-3D18-0A0B-F32384F04361}"/>
              </a:ext>
            </a:extLst>
          </p:cNvPr>
          <p:cNvSpPr/>
          <p:nvPr/>
        </p:nvSpPr>
        <p:spPr>
          <a:xfrm>
            <a:off x="778510" y="2946400"/>
            <a:ext cx="4460240" cy="38100"/>
          </a:xfrm>
          <a:prstGeom prst="rect">
            <a:avLst/>
          </a:prstGeom>
          <a:solidFill>
            <a:srgbClr val="0038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Codex_S033_Card2_text">
            <a:hlinkClick r:id="rId3" action="ppaction://hlinksldjump"/>
            <a:extLst>
              <a:ext uri="{FF2B5EF4-FFF2-40B4-BE49-F238E27FC236}">
                <a16:creationId xmlns:a16="http://schemas.microsoft.com/office/drawing/2014/main" id="{6BCFD7A7-79CD-3597-B2BA-33E7D3955F64}"/>
              </a:ext>
            </a:extLst>
          </p:cNvPr>
          <p:cNvSpPr txBox="1"/>
          <p:nvPr/>
        </p:nvSpPr>
        <p:spPr>
          <a:xfrm>
            <a:off x="829310" y="3009900"/>
            <a:ext cx="4358640" cy="341632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ru-RU" sz="1220" b="1">
                <a:solidFill>
                  <a:srgbClr val="111111"/>
                </a:solidFill>
                <a:latin typeface="Arial" panose="020B0604020202020204" pitchFamily="34" charset="0"/>
              </a:rPr>
              <a:t>При обвязке и зацепке</a:t>
            </a:r>
          </a:p>
        </p:txBody>
      </p:sp>
      <p:sp>
        <p:nvSpPr>
          <p:cNvPr id="28" name="Codex_S033_Card3_panel">
            <a:hlinkClick r:id="rId4" action="ppaction://hlinksldjump"/>
            <a:extLst>
              <a:ext uri="{FF2B5EF4-FFF2-40B4-BE49-F238E27FC236}">
                <a16:creationId xmlns:a16="http://schemas.microsoft.com/office/drawing/2014/main" id="{7C4BD12D-1289-ADF3-79C6-E0169489CAAD}"/>
              </a:ext>
            </a:extLst>
          </p:cNvPr>
          <p:cNvSpPr/>
          <p:nvPr/>
        </p:nvSpPr>
        <p:spPr>
          <a:xfrm>
            <a:off x="676910" y="3733800"/>
            <a:ext cx="4663440" cy="736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Codex_S033_Card3_strip">
            <a:hlinkClick r:id="rId4" action="ppaction://hlinksldjump"/>
            <a:extLst>
              <a:ext uri="{FF2B5EF4-FFF2-40B4-BE49-F238E27FC236}">
                <a16:creationId xmlns:a16="http://schemas.microsoft.com/office/drawing/2014/main" id="{AB02844E-6EF7-7EDF-8872-02630299F8A8}"/>
              </a:ext>
            </a:extLst>
          </p:cNvPr>
          <p:cNvSpPr/>
          <p:nvPr/>
        </p:nvSpPr>
        <p:spPr>
          <a:xfrm>
            <a:off x="778510" y="3810000"/>
            <a:ext cx="4460240" cy="38100"/>
          </a:xfrm>
          <a:prstGeom prst="rect">
            <a:avLst/>
          </a:prstGeom>
          <a:solidFill>
            <a:srgbClr val="0038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Codex_S033_Card3_text">
            <a:hlinkClick r:id="rId4" action="ppaction://hlinksldjump"/>
            <a:extLst>
              <a:ext uri="{FF2B5EF4-FFF2-40B4-BE49-F238E27FC236}">
                <a16:creationId xmlns:a16="http://schemas.microsoft.com/office/drawing/2014/main" id="{54CB76C7-68BC-0B85-01BE-14401A1381FB}"/>
              </a:ext>
            </a:extLst>
          </p:cNvPr>
          <p:cNvSpPr txBox="1"/>
          <p:nvPr/>
        </p:nvSpPr>
        <p:spPr>
          <a:xfrm>
            <a:off x="829310" y="3873500"/>
            <a:ext cx="4358640" cy="341632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ru-RU" sz="1220" b="1">
                <a:solidFill>
                  <a:srgbClr val="111111"/>
                </a:solidFill>
                <a:latin typeface="Arial" panose="020B0604020202020204" pitchFamily="34" charset="0"/>
              </a:rPr>
              <a:t>Перед подачей сигнала</a:t>
            </a:r>
          </a:p>
        </p:txBody>
      </p:sp>
      <p:sp>
        <p:nvSpPr>
          <p:cNvPr id="31" name="Codex_S033_Card4_panel">
            <a:hlinkClick r:id="rId5" action="ppaction://hlinksldjump"/>
            <a:extLst>
              <a:ext uri="{FF2B5EF4-FFF2-40B4-BE49-F238E27FC236}">
                <a16:creationId xmlns:a16="http://schemas.microsoft.com/office/drawing/2014/main" id="{77B50058-7932-0444-3992-5BBB08FC18E8}"/>
              </a:ext>
            </a:extLst>
          </p:cNvPr>
          <p:cNvSpPr/>
          <p:nvPr/>
        </p:nvSpPr>
        <p:spPr>
          <a:xfrm>
            <a:off x="676910" y="4597400"/>
            <a:ext cx="4663440" cy="736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Codex_S033_Card4_strip">
            <a:hlinkClick r:id="rId5" action="ppaction://hlinksldjump"/>
            <a:extLst>
              <a:ext uri="{FF2B5EF4-FFF2-40B4-BE49-F238E27FC236}">
                <a16:creationId xmlns:a16="http://schemas.microsoft.com/office/drawing/2014/main" id="{17A06334-024A-3E63-02EF-FCD5ECEC2ACE}"/>
              </a:ext>
            </a:extLst>
          </p:cNvPr>
          <p:cNvSpPr/>
          <p:nvPr/>
        </p:nvSpPr>
        <p:spPr>
          <a:xfrm>
            <a:off x="778510" y="4673600"/>
            <a:ext cx="4460240" cy="38100"/>
          </a:xfrm>
          <a:prstGeom prst="rect">
            <a:avLst/>
          </a:prstGeom>
          <a:solidFill>
            <a:srgbClr val="0038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Codex_S033_Card4_text">
            <a:hlinkClick r:id="rId5" action="ppaction://hlinksldjump"/>
            <a:extLst>
              <a:ext uri="{FF2B5EF4-FFF2-40B4-BE49-F238E27FC236}">
                <a16:creationId xmlns:a16="http://schemas.microsoft.com/office/drawing/2014/main" id="{813E2A63-6FEC-B6C7-E22B-161144E62435}"/>
              </a:ext>
            </a:extLst>
          </p:cNvPr>
          <p:cNvSpPr txBox="1"/>
          <p:nvPr/>
        </p:nvSpPr>
        <p:spPr>
          <a:xfrm>
            <a:off x="829310" y="4737100"/>
            <a:ext cx="4358640" cy="341632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ru-RU" sz="1220" b="1">
                <a:solidFill>
                  <a:srgbClr val="111111"/>
                </a:solidFill>
                <a:latin typeface="Arial" panose="020B0604020202020204" pitchFamily="34" charset="0"/>
              </a:rPr>
              <a:t>После установки груза</a:t>
            </a:r>
          </a:p>
        </p:txBody>
      </p:sp>
    </p:spTree>
    <p:extLst>
      <p:ext uri="{BB962C8B-B14F-4D97-AF65-F5344CB8AC3E}">
        <p14:creationId xmlns:p14="http://schemas.microsoft.com/office/powerpoint/2010/main" val="24624913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74320"/>
            <a:ext cx="1325880" cy="384048"/>
          </a:xfrm>
          <a:prstGeom prst="rect">
            <a:avLst/>
          </a:prstGeom>
          <a:noFill/>
        </p:spPr>
        <p:txBody>
          <a:bodyPr wrap="none" lIns="101600" tIns="76200" rIns="101600" bIns="76200">
            <a:spAutoFit/>
          </a:bodyPr>
          <a:lstStyle/>
          <a:p>
            <a:pPr algn="l"/>
            <a:r>
              <a:rPr sz="1000" b="1">
                <a:solidFill>
                  <a:srgbClr val="111111"/>
                </a:solidFill>
                <a:latin typeface="Arial"/>
              </a:rPr>
              <a:t>Тема 2.2</a:t>
            </a:r>
          </a:p>
          <a:p>
            <a:pPr algn="l"/>
            <a:r>
              <a:rPr sz="1000" b="1">
                <a:solidFill>
                  <a:srgbClr val="111111"/>
                </a:solidFill>
                <a:latin typeface="Arial"/>
              </a:rPr>
              <a:t>Технология работы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48672" y="310896"/>
            <a:ext cx="1207008" cy="310896"/>
          </a:xfrm>
          <a:prstGeom prst="round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r>
              <a:rPr lang="en-US" sz="1100" b="1">
                <a:solidFill>
                  <a:srgbClr val="111111"/>
                </a:solidFill>
                <a:latin typeface="Arial" panose="020B0604020202020204" pitchFamily="34" charset="0"/>
              </a:rPr>
              <a:t>S033-P01</a:t>
            </a:r>
            <a:endParaRPr sz="11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5216" y="850392"/>
            <a:ext cx="5669280" cy="492443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r>
              <a:rPr lang="ru-RU" sz="2200" b="1">
                <a:solidFill>
                  <a:srgbClr val="111111"/>
                </a:solidFill>
                <a:latin typeface="Arial" panose="020B0604020202020204" pitchFamily="34" charset="0"/>
              </a:rPr>
              <a:t>Подвал. До начала работы</a:t>
            </a:r>
            <a:endParaRPr sz="22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76910" y="1828800"/>
            <a:ext cx="10487660" cy="3914140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460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>
            <a:hlinkClick r:id="rId2" action="ppaction://hlinksldjump"/>
          </p:cNvPr>
          <p:cNvSpPr/>
          <p:nvPr/>
        </p:nvSpPr>
        <p:spPr>
          <a:xfrm>
            <a:off x="676656" y="5989320"/>
            <a:ext cx="16916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/>
            <a:r>
              <a:rPr lang="ru-RU" sz="1200" b="1">
                <a:solidFill>
                  <a:srgbClr val="4B5563"/>
                </a:solidFill>
                <a:latin typeface="Arial"/>
              </a:rPr>
              <a:t>Назад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12" name="Прямоугольник: скругленные углы 11">
            <a:hlinkClick r:id="rId3" action="ppaction://hlinksldjump"/>
            <a:extLst>
              <a:ext uri="{FF2B5EF4-FFF2-40B4-BE49-F238E27FC236}">
                <a16:creationId xmlns:a16="http://schemas.microsoft.com/office/drawing/2014/main" id="{47B5600D-ABEB-7396-BEFC-CB9060117184}"/>
              </a:ext>
            </a:extLst>
          </p:cNvPr>
          <p:cNvSpPr/>
          <p:nvPr/>
        </p:nvSpPr>
        <p:spPr>
          <a:xfrm>
            <a:off x="9281160" y="5989320"/>
            <a:ext cx="1901952" cy="347472"/>
          </a:xfrm>
          <a:prstGeom prst="round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/>
            <a:r>
              <a:rPr lang="ru-RU" sz="1200" b="1">
                <a:solidFill>
                  <a:srgbClr val="FFFFFF"/>
                </a:solidFill>
                <a:latin typeface="Arial"/>
              </a:rPr>
              <a:t>Далее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" y="676656"/>
            <a:ext cx="1024128" cy="45720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76910" y="1828800"/>
            <a:ext cx="10487660" cy="36830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86384" y="1920240"/>
            <a:ext cx="777240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/>
            <a:r>
              <a:rPr lang="ru-RU" sz="1000" b="1">
                <a:solidFill>
                  <a:srgbClr val="111111"/>
                </a:solidFill>
                <a:latin typeface="Arial" panose="020B0604020202020204" pitchFamily="34" charset="0"/>
              </a:rPr>
              <a:t>Шаг 02</a:t>
            </a:r>
            <a:endParaRPr sz="10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721608" y="1920240"/>
            <a:ext cx="91440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/>
            <a:r>
              <a:rPr lang="ru-RU" sz="1000" b="1">
                <a:solidFill>
                  <a:srgbClr val="111111"/>
                </a:solidFill>
                <a:latin typeface="Arial" panose="020B0604020202020204" pitchFamily="34" charset="0"/>
              </a:rPr>
              <a:t>Опора</a:t>
            </a:r>
            <a:endParaRPr sz="10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093208" y="1920240"/>
            <a:ext cx="1024128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r>
              <a:rPr lang="en-US" sz="1100" b="1">
                <a:solidFill>
                  <a:srgbClr val="111111"/>
                </a:solidFill>
                <a:latin typeface="Arial" panose="020B0604020202020204" pitchFamily="34" charset="0"/>
              </a:rPr>
              <a:t>S033-P01</a:t>
            </a:r>
            <a:endParaRPr sz="11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217920" y="1920240"/>
            <a:ext cx="77724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/>
            <a:r>
              <a:rPr lang="ru-RU" sz="1000" b="1">
                <a:solidFill>
                  <a:srgbClr val="111111"/>
                </a:solidFill>
                <a:latin typeface="Arial" panose="020B0604020202020204" pitchFamily="34" charset="0"/>
              </a:rPr>
              <a:t>Шаг 02</a:t>
            </a:r>
            <a:endParaRPr sz="10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0140696" y="1920240"/>
            <a:ext cx="914400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/>
            <a:r>
              <a:rPr lang="ru-RU" sz="1000" b="1">
                <a:solidFill>
                  <a:srgbClr val="111111"/>
                </a:solidFill>
                <a:latin typeface="Arial" panose="020B0604020202020204" pitchFamily="34" charset="0"/>
              </a:rPr>
              <a:t>Опора</a:t>
            </a:r>
            <a:endParaRPr sz="10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6B51D7-9970-D187-0403-565B4CF7DF5F}"/>
              </a:ext>
            </a:extLst>
          </p:cNvPr>
          <p:cNvSpPr txBox="1"/>
          <p:nvPr/>
        </p:nvSpPr>
        <p:spPr>
          <a:xfrm>
            <a:off x="901700" y="2324100"/>
            <a:ext cx="10033000" cy="2997200"/>
          </a:xfrm>
          <a:prstGeom prst="rect">
            <a:avLst/>
          </a:prstGeom>
          <a:noFill/>
        </p:spPr>
        <p:txBody>
          <a:bodyPr vert="horz" wrap="square" lIns="101600" tIns="76200" rIns="101600" bIns="76200" numCol="2" spcCol="228600" rtlCol="0">
            <a:spAutoFit/>
          </a:bodyPr>
          <a:lstStyle/>
          <a:p>
            <a:r>
              <a:rPr lang="ru-RU" sz="1020" b="1">
                <a:solidFill>
                  <a:srgbClr val="0038B8"/>
                </a:solidFill>
                <a:latin typeface="Arial" panose="020B0604020202020204" pitchFamily="34" charset="0"/>
              </a:rPr>
              <a:t>До начала работы</a:t>
            </a:r>
          </a:p>
          <a:p>
            <a:endParaRPr lang="ru-RU" sz="1020">
              <a:solidFill>
                <a:srgbClr val="111111"/>
              </a:solidFill>
              <a:latin typeface="Arial" panose="020B0604020202020204" pitchFamily="34" charset="0"/>
            </a:endParaRPr>
          </a:p>
          <a:p>
            <a:r>
              <a:rPr lang="ru-RU" sz="1020" b="1">
                <a:solidFill>
                  <a:srgbClr val="0038B8"/>
                </a:solidFill>
                <a:latin typeface="Arial" panose="020B0604020202020204" pitchFamily="34" charset="0"/>
              </a:rPr>
              <a:t>Перед началом работ по подъему и перемещению грузов стропальщик обязан:</a:t>
            </a:r>
          </a:p>
          <a:p>
            <a:r>
              <a:rPr lang="ru-RU" sz="1020" b="1">
                <a:solidFill>
                  <a:srgbClr val="111111"/>
                </a:solidFill>
                <a:latin typeface="Arial" panose="020B0604020202020204" pitchFamily="34" charset="0"/>
              </a:rPr>
              <a:t>• получить задание</a:t>
            </a:r>
            <a:r>
              <a:rPr lang="ru-RU" sz="1020">
                <a:solidFill>
                  <a:srgbClr val="111111"/>
                </a:solidFill>
                <a:latin typeface="Arial" panose="020B0604020202020204" pitchFamily="34" charset="0"/>
              </a:rPr>
              <a:t> от лица, ответственного за безопасное производство работ кранами;</a:t>
            </a:r>
          </a:p>
          <a:p>
            <a:r>
              <a:rPr lang="ru-RU" sz="1020" b="1">
                <a:solidFill>
                  <a:srgbClr val="111111"/>
                </a:solidFill>
                <a:latin typeface="Arial" panose="020B0604020202020204" pitchFamily="34" charset="0"/>
              </a:rPr>
              <a:t>• ознакомиться с проектом производства работ краном</a:t>
            </a:r>
            <a:r>
              <a:rPr lang="ru-RU" sz="1020">
                <a:solidFill>
                  <a:srgbClr val="111111"/>
                </a:solidFill>
                <a:latin typeface="Arial" panose="020B0604020202020204" pitchFamily="34" charset="0"/>
              </a:rPr>
              <a:t> или с технологическими картами под роспись;</a:t>
            </a:r>
          </a:p>
          <a:p>
            <a:r>
              <a:rPr lang="ru-RU" sz="1020" b="1">
                <a:solidFill>
                  <a:srgbClr val="111111"/>
                </a:solidFill>
                <a:latin typeface="Arial" panose="020B0604020202020204" pitchFamily="34" charset="0"/>
              </a:rPr>
              <a:t>• при работе вблизи ЛЭП</a:t>
            </a:r>
            <a:r>
              <a:rPr lang="ru-RU" sz="1020">
                <a:solidFill>
                  <a:srgbClr val="111111"/>
                </a:solidFill>
                <a:latin typeface="Arial" panose="020B0604020202020204" pitchFamily="34" charset="0"/>
              </a:rPr>
              <a:t> ознакомиться с мерами безопасности по наряду-допуску;</a:t>
            </a:r>
          </a:p>
          <a:p>
            <a:r>
              <a:rPr lang="ru-RU" sz="1020" b="1">
                <a:solidFill>
                  <a:srgbClr val="111111"/>
                </a:solidFill>
                <a:latin typeface="Arial" panose="020B0604020202020204" pitchFamily="34" charset="0"/>
              </a:rPr>
              <a:t>• проверить исправность грузозахватных приспособлений</a:t>
            </a:r>
            <a:r>
              <a:rPr lang="ru-RU" sz="1020">
                <a:solidFill>
                  <a:srgbClr val="111111"/>
                </a:solidFill>
                <a:latin typeface="Arial" panose="020B0604020202020204" pitchFamily="34" charset="0"/>
              </a:rPr>
              <a:t> и наличие на них клейм, бирок, даты испытания и грузоподъемности;</a:t>
            </a:r>
          </a:p>
          <a:p>
            <a:r>
              <a:rPr lang="ru-RU" sz="1020" b="1">
                <a:solidFill>
                  <a:srgbClr val="111111"/>
                </a:solidFill>
                <a:latin typeface="Arial" panose="020B0604020202020204" pitchFamily="34" charset="0"/>
              </a:rPr>
              <a:t>• проверить исправность тары</a:t>
            </a:r>
            <a:r>
              <a:rPr lang="ru-RU" sz="1020">
                <a:solidFill>
                  <a:srgbClr val="111111"/>
                </a:solidFill>
                <a:latin typeface="Arial" panose="020B0604020202020204" pitchFamily="34" charset="0"/>
              </a:rPr>
              <a:t> и наличие маркировки по назначению, номеру, собственной массе и предельной массе груза;</a:t>
            </a:r>
          </a:p>
          <a:p>
            <a:r>
              <a:rPr lang="ru-RU" sz="1020" b="1">
                <a:solidFill>
                  <a:srgbClr val="111111"/>
                </a:solidFill>
                <a:latin typeface="Arial" panose="020B0604020202020204" pitchFamily="34" charset="0"/>
              </a:rPr>
              <a:t>• проверить наличие и исправность</a:t>
            </a:r>
            <a:r>
              <a:rPr lang="ru-RU" sz="1020">
                <a:solidFill>
                  <a:srgbClr val="111111"/>
                </a:solidFill>
                <a:latin typeface="Arial" panose="020B0604020202020204" pitchFamily="34" charset="0"/>
              </a:rPr>
              <a:t> оттяжек, багров, крюков, лестниц, площадок, подкладок и прокладок;</a:t>
            </a:r>
          </a:p>
          <a:p>
            <a:r>
              <a:rPr lang="ru-RU" sz="1020" b="1">
                <a:solidFill>
                  <a:srgbClr val="111111"/>
                </a:solidFill>
                <a:latin typeface="Arial" panose="020B0604020202020204" pitchFamily="34" charset="0"/>
              </a:rPr>
              <a:t>• подобрать стропы</a:t>
            </a:r>
            <a:r>
              <a:rPr lang="ru-RU" sz="1020">
                <a:solidFill>
                  <a:srgbClr val="111111"/>
                </a:solidFill>
                <a:latin typeface="Arial" panose="020B0604020202020204" pitchFamily="34" charset="0"/>
              </a:rPr>
              <a:t> и другие приспособления по массе и характеру груза, при этом угол между ветвями не должен превышать 90°;</a:t>
            </a:r>
          </a:p>
          <a:p>
            <a:r>
              <a:rPr lang="ru-RU" sz="1020" b="1">
                <a:solidFill>
                  <a:srgbClr val="111111"/>
                </a:solidFill>
                <a:latin typeface="Arial" panose="020B0604020202020204" pitchFamily="34" charset="0"/>
              </a:rPr>
              <a:t>• проверить освещенность рабочего места</a:t>
            </a:r>
            <a:r>
              <a:rPr lang="ru-RU" sz="1020">
                <a:solidFill>
                  <a:srgbClr val="111111"/>
                </a:solidFill>
                <a:latin typeface="Arial" panose="020B0604020202020204" pitchFamily="34" charset="0"/>
              </a:rPr>
              <a:t> и при недостаточной освещенности не приступать к работе.</a:t>
            </a:r>
          </a:p>
          <a:p>
            <a:endParaRPr lang="ru-RU" sz="1020">
              <a:solidFill>
                <a:srgbClr val="111111"/>
              </a:solidFill>
              <a:latin typeface="Arial" panose="020B0604020202020204" pitchFamily="34" charset="0"/>
            </a:endParaRPr>
          </a:p>
          <a:p>
            <a:r>
              <a:rPr lang="ru-RU" sz="1020" b="1">
                <a:solidFill>
                  <a:srgbClr val="0038B8"/>
                </a:solidFill>
                <a:latin typeface="Arial" panose="020B0604020202020204" pitchFamily="34" charset="0"/>
              </a:rPr>
              <a:t>Ограничение</a:t>
            </a:r>
          </a:p>
          <a:p>
            <a:endParaRPr lang="ru-RU" sz="1020">
              <a:solidFill>
                <a:srgbClr val="111111"/>
              </a:solidFill>
              <a:latin typeface="Arial" panose="020B0604020202020204" pitchFamily="34" charset="0"/>
            </a:endParaRPr>
          </a:p>
          <a:p>
            <a:r>
              <a:rPr lang="ru-RU" sz="1020">
                <a:solidFill>
                  <a:srgbClr val="111111"/>
                </a:solidFill>
                <a:latin typeface="Arial" panose="020B0604020202020204" pitchFamily="34" charset="0"/>
              </a:rPr>
              <a:t>Стропальщику не разрешается самостоятельно устанавливать стреловые краны на выносные опоры, а также снимать или укладывать грузозахватные приспособления с неповоротной части крана при нахождении крановщика в кабине.</a:t>
            </a:r>
            <a:endParaRPr lang="ru-RU" sz="1020" dirty="0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77772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74320"/>
            <a:ext cx="1325880" cy="384048"/>
          </a:xfrm>
          <a:prstGeom prst="rect">
            <a:avLst/>
          </a:prstGeom>
          <a:noFill/>
        </p:spPr>
        <p:txBody>
          <a:bodyPr wrap="none" lIns="101600" tIns="76200" rIns="101600" bIns="76200">
            <a:spAutoFit/>
          </a:bodyPr>
          <a:lstStyle/>
          <a:p>
            <a:pPr algn="l"/>
            <a:r>
              <a:rPr sz="1000" b="1">
                <a:solidFill>
                  <a:srgbClr val="111111"/>
                </a:solidFill>
                <a:latin typeface="Arial"/>
              </a:rPr>
              <a:t>Тема 2.2</a:t>
            </a:r>
          </a:p>
          <a:p>
            <a:pPr algn="l"/>
            <a:r>
              <a:rPr sz="1000" b="1">
                <a:solidFill>
                  <a:srgbClr val="111111"/>
                </a:solidFill>
                <a:latin typeface="Arial"/>
              </a:rPr>
              <a:t>Технология работы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48672" y="310896"/>
            <a:ext cx="1207008" cy="310896"/>
          </a:xfrm>
          <a:prstGeom prst="round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r>
              <a:rPr lang="en-US" sz="1100" b="1">
                <a:solidFill>
                  <a:srgbClr val="111111"/>
                </a:solidFill>
                <a:latin typeface="Arial" panose="020B0604020202020204" pitchFamily="34" charset="0"/>
              </a:rPr>
              <a:t>S033-P02</a:t>
            </a:r>
            <a:endParaRPr sz="11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5216" y="850392"/>
            <a:ext cx="5669280" cy="492443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r>
              <a:rPr lang="ru-RU" sz="2200" b="1">
                <a:solidFill>
                  <a:srgbClr val="111111"/>
                </a:solidFill>
                <a:latin typeface="Arial" panose="020B0604020202020204" pitchFamily="34" charset="0"/>
              </a:rPr>
              <a:t>Подвал. При обвязке и зацепке</a:t>
            </a:r>
            <a:endParaRPr sz="22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76910" y="1828800"/>
            <a:ext cx="10487660" cy="3914140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460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>
            <a:hlinkClick r:id="rId2" action="ppaction://hlinksldjump"/>
          </p:cNvPr>
          <p:cNvSpPr/>
          <p:nvPr/>
        </p:nvSpPr>
        <p:spPr>
          <a:xfrm>
            <a:off x="676656" y="5989320"/>
            <a:ext cx="16916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/>
            <a:r>
              <a:rPr lang="ru-RU" sz="1200" b="1">
                <a:solidFill>
                  <a:srgbClr val="4B5563"/>
                </a:solidFill>
                <a:latin typeface="Arial"/>
              </a:rPr>
              <a:t>Назад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12" name="Прямоугольник: скругленные углы 11">
            <a:hlinkClick r:id="rId3" action="ppaction://hlinksldjump"/>
            <a:extLst>
              <a:ext uri="{FF2B5EF4-FFF2-40B4-BE49-F238E27FC236}">
                <a16:creationId xmlns:a16="http://schemas.microsoft.com/office/drawing/2014/main" id="{47B5600D-ABEB-7396-BEFC-CB9060117184}"/>
              </a:ext>
            </a:extLst>
          </p:cNvPr>
          <p:cNvSpPr/>
          <p:nvPr/>
        </p:nvSpPr>
        <p:spPr>
          <a:xfrm>
            <a:off x="9281160" y="5989320"/>
            <a:ext cx="1901952" cy="347472"/>
          </a:xfrm>
          <a:prstGeom prst="round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/>
            <a:r>
              <a:rPr lang="ru-RU" sz="1200" b="1">
                <a:solidFill>
                  <a:srgbClr val="FFFFFF"/>
                </a:solidFill>
                <a:latin typeface="Arial"/>
              </a:rPr>
              <a:t>Далее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" y="676656"/>
            <a:ext cx="1024128" cy="45720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76910" y="1828800"/>
            <a:ext cx="10487660" cy="36830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86384" y="1920240"/>
            <a:ext cx="777240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/>
            <a:r>
              <a:rPr lang="ru-RU" sz="1000" b="1">
                <a:solidFill>
                  <a:srgbClr val="111111"/>
                </a:solidFill>
                <a:latin typeface="Arial" panose="020B0604020202020204" pitchFamily="34" charset="0"/>
              </a:rPr>
              <a:t>Шаг 02</a:t>
            </a:r>
            <a:endParaRPr sz="10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721608" y="1920240"/>
            <a:ext cx="91440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/>
            <a:r>
              <a:rPr lang="ru-RU" sz="1000" b="1">
                <a:solidFill>
                  <a:srgbClr val="111111"/>
                </a:solidFill>
                <a:latin typeface="Arial" panose="020B0604020202020204" pitchFamily="34" charset="0"/>
              </a:rPr>
              <a:t>Опора</a:t>
            </a:r>
            <a:endParaRPr sz="10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093208" y="1920240"/>
            <a:ext cx="1024128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r>
              <a:rPr lang="en-US" sz="1100" b="1">
                <a:solidFill>
                  <a:srgbClr val="111111"/>
                </a:solidFill>
                <a:latin typeface="Arial" panose="020B0604020202020204" pitchFamily="34" charset="0"/>
              </a:rPr>
              <a:t>S033-P02</a:t>
            </a:r>
            <a:endParaRPr sz="11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217920" y="1920240"/>
            <a:ext cx="77724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/>
            <a:r>
              <a:rPr lang="ru-RU" sz="1000" b="1">
                <a:solidFill>
                  <a:srgbClr val="111111"/>
                </a:solidFill>
                <a:latin typeface="Arial" panose="020B0604020202020204" pitchFamily="34" charset="0"/>
              </a:rPr>
              <a:t>Шаг 02</a:t>
            </a:r>
            <a:endParaRPr sz="10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0140696" y="1920240"/>
            <a:ext cx="914400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/>
            <a:r>
              <a:rPr lang="ru-RU" sz="1000" b="1">
                <a:solidFill>
                  <a:srgbClr val="111111"/>
                </a:solidFill>
                <a:latin typeface="Arial" panose="020B0604020202020204" pitchFamily="34" charset="0"/>
              </a:rPr>
              <a:t>Опора</a:t>
            </a:r>
            <a:endParaRPr sz="10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6B51D7-9970-D187-0403-565B4CF7DF5F}"/>
              </a:ext>
            </a:extLst>
          </p:cNvPr>
          <p:cNvSpPr txBox="1"/>
          <p:nvPr/>
        </p:nvSpPr>
        <p:spPr>
          <a:xfrm>
            <a:off x="901700" y="2324100"/>
            <a:ext cx="10033000" cy="2997200"/>
          </a:xfrm>
          <a:prstGeom prst="rect">
            <a:avLst/>
          </a:prstGeom>
          <a:noFill/>
        </p:spPr>
        <p:txBody>
          <a:bodyPr vert="horz" wrap="square" lIns="101600" tIns="76200" rIns="101600" bIns="76200" numCol="2" spcCol="228600" rtlCol="0">
            <a:spAutoFit/>
          </a:bodyPr>
          <a:lstStyle/>
          <a:p>
            <a:r>
              <a:rPr lang="ru-RU" sz="1020" b="1">
                <a:solidFill>
                  <a:srgbClr val="0038B8"/>
                </a:solidFill>
                <a:latin typeface="Arial" panose="020B0604020202020204" pitchFamily="34" charset="0"/>
              </a:rPr>
              <a:t>При обвязке и зацепке</a:t>
            </a:r>
          </a:p>
          <a:p>
            <a:endParaRPr lang="ru-RU" sz="1020">
              <a:solidFill>
                <a:srgbClr val="111111"/>
              </a:solidFill>
              <a:latin typeface="Arial" panose="020B0604020202020204" pitchFamily="34" charset="0"/>
            </a:endParaRPr>
          </a:p>
          <a:p>
            <a:r>
              <a:rPr lang="ru-RU" sz="1020">
                <a:solidFill>
                  <a:srgbClr val="111111"/>
                </a:solidFill>
                <a:latin typeface="Arial" panose="020B0604020202020204" pitchFamily="34" charset="0"/>
              </a:rPr>
              <a:t>Стропальщик может приступать к обвязке и зацепке груза только после ознакомления со схемами строповки, технологическими картами или проектом производства работ.</a:t>
            </a:r>
          </a:p>
          <a:p>
            <a:r>
              <a:rPr lang="ru-RU" sz="1020">
                <a:solidFill>
                  <a:srgbClr val="111111"/>
                </a:solidFill>
                <a:latin typeface="Arial" panose="020B0604020202020204" pitchFamily="34" charset="0"/>
              </a:rPr>
              <a:t>Работы для нескольких кранов, вблизи ЛЭП, без готовых схем строповки или над помещениями с людьми выполняют под непосредственным руководством ответственного лица.</a:t>
            </a:r>
          </a:p>
          <a:p>
            <a:endParaRPr lang="ru-RU" sz="1020">
              <a:solidFill>
                <a:srgbClr val="111111"/>
              </a:solidFill>
              <a:latin typeface="Arial" panose="020B0604020202020204" pitchFamily="34" charset="0"/>
            </a:endParaRPr>
          </a:p>
          <a:p>
            <a:r>
              <a:rPr lang="ru-RU" sz="1020" b="1">
                <a:solidFill>
                  <a:srgbClr val="0038B8"/>
                </a:solidFill>
                <a:latin typeface="Arial" panose="020B0604020202020204" pitchFamily="34" charset="0"/>
              </a:rPr>
              <a:t>Стропальщик должен:</a:t>
            </a:r>
          </a:p>
          <a:p>
            <a:r>
              <a:rPr lang="ru-RU" sz="1020" b="1">
                <a:solidFill>
                  <a:srgbClr val="111111"/>
                </a:solidFill>
                <a:latin typeface="Arial" panose="020B0604020202020204" pitchFamily="34" charset="0"/>
              </a:rPr>
              <a:t>• производить обвязку и зацепку</a:t>
            </a:r>
            <a:r>
              <a:rPr lang="ru-RU" sz="1020">
                <a:solidFill>
                  <a:srgbClr val="111111"/>
                </a:solidFill>
                <a:latin typeface="Arial" panose="020B0604020202020204" pitchFamily="34" charset="0"/>
              </a:rPr>
              <a:t> только по схемам строповки или кантовки;</a:t>
            </a:r>
          </a:p>
          <a:p>
            <a:r>
              <a:rPr lang="ru-RU" sz="1020" b="1">
                <a:solidFill>
                  <a:srgbClr val="111111"/>
                </a:solidFill>
                <a:latin typeface="Arial" panose="020B0604020202020204" pitchFamily="34" charset="0"/>
              </a:rPr>
              <a:t>• проверить массу груза</a:t>
            </a:r>
            <a:r>
              <a:rPr lang="ru-RU" sz="1020">
                <a:solidFill>
                  <a:srgbClr val="111111"/>
                </a:solidFill>
                <a:latin typeface="Arial" panose="020B0604020202020204" pitchFamily="34" charset="0"/>
              </a:rPr>
              <a:t> по списку масс или маркировке и сообщить ответственному лицу, если массу определить нельзя;</a:t>
            </a:r>
          </a:p>
          <a:p>
            <a:r>
              <a:rPr lang="ru-RU" sz="1020" b="1">
                <a:solidFill>
                  <a:srgbClr val="111111"/>
                </a:solidFill>
                <a:latin typeface="Arial" panose="020B0604020202020204" pitchFamily="34" charset="0"/>
              </a:rPr>
              <a:t>• накладывать канаты и цепи</a:t>
            </a:r>
            <a:r>
              <a:rPr lang="ru-RU" sz="1020">
                <a:solidFill>
                  <a:srgbClr val="111111"/>
                </a:solidFill>
                <a:latin typeface="Arial" panose="020B0604020202020204" pitchFamily="34" charset="0"/>
              </a:rPr>
              <a:t> на основной массив груза без узлов, перекруток и петель, под острые ребра ставить подкладки;</a:t>
            </a:r>
          </a:p>
          <a:p>
            <a:r>
              <a:rPr lang="ru-RU" sz="1020" b="1">
                <a:solidFill>
                  <a:srgbClr val="111111"/>
                </a:solidFill>
                <a:latin typeface="Arial" panose="020B0604020202020204" pitchFamily="34" charset="0"/>
              </a:rPr>
              <a:t>• обвязывать груз так</a:t>
            </a:r>
            <a:r>
              <a:rPr lang="ru-RU" sz="1020">
                <a:solidFill>
                  <a:srgbClr val="111111"/>
                </a:solidFill>
                <a:latin typeface="Arial" panose="020B0604020202020204" pitchFamily="34" charset="0"/>
              </a:rPr>
              <a:t>, чтобы исключалось падение его частей и сохранялась устойчивость при перемещении;</a:t>
            </a:r>
          </a:p>
          <a:p>
            <a:r>
              <a:rPr lang="ru-RU" sz="1020" b="1">
                <a:solidFill>
                  <a:srgbClr val="111111"/>
                </a:solidFill>
                <a:latin typeface="Arial" panose="020B0604020202020204" pitchFamily="34" charset="0"/>
              </a:rPr>
              <a:t>• использовать все предусмотренные петли</a:t>
            </a:r>
            <a:r>
              <a:rPr lang="ru-RU" sz="1020">
                <a:solidFill>
                  <a:srgbClr val="111111"/>
                </a:solidFill>
                <a:latin typeface="Arial" panose="020B0604020202020204" pitchFamily="34" charset="0"/>
              </a:rPr>
              <a:t>, рымы и цапфы, а на двурогом крюке равномерно распределять нагрузку;</a:t>
            </a:r>
          </a:p>
          <a:p>
            <a:r>
              <a:rPr lang="ru-RU" sz="1020" b="1">
                <a:solidFill>
                  <a:srgbClr val="111111"/>
                </a:solidFill>
                <a:latin typeface="Arial" panose="020B0604020202020204" pitchFamily="34" charset="0"/>
              </a:rPr>
              <a:t>• закреплять свободные концы</a:t>
            </a:r>
            <a:r>
              <a:rPr lang="ru-RU" sz="1020">
                <a:solidFill>
                  <a:srgbClr val="111111"/>
                </a:solidFill>
                <a:latin typeface="Arial" panose="020B0604020202020204" pitchFamily="34" charset="0"/>
              </a:rPr>
              <a:t> многоветвевого стропа и убеждаться, что груз не завален, не защемлен и не примерз.</a:t>
            </a:r>
          </a:p>
          <a:p>
            <a:endParaRPr lang="ru-RU" sz="1020">
              <a:solidFill>
                <a:srgbClr val="111111"/>
              </a:solidFill>
              <a:latin typeface="Arial" panose="020B0604020202020204" pitchFamily="34" charset="0"/>
            </a:endParaRPr>
          </a:p>
          <a:p>
            <a:r>
              <a:rPr lang="ru-RU" sz="1020" b="1">
                <a:solidFill>
                  <a:srgbClr val="0038B8"/>
                </a:solidFill>
                <a:latin typeface="Arial" panose="020B0604020202020204" pitchFamily="34" charset="0"/>
              </a:rPr>
              <a:t>Запрещается:</a:t>
            </a:r>
          </a:p>
          <a:p>
            <a:r>
              <a:rPr lang="ru-RU" sz="1020" b="1">
                <a:solidFill>
                  <a:srgbClr val="111111"/>
                </a:solidFill>
                <a:latin typeface="Arial" panose="020B0604020202020204" pitchFamily="34" charset="0"/>
              </a:rPr>
              <a:t>• строповать груз неизвестной массы</a:t>
            </a:r>
            <a:r>
              <a:rPr lang="ru-RU" sz="1020">
                <a:solidFill>
                  <a:srgbClr val="111111"/>
                </a:solidFill>
                <a:latin typeface="Arial" panose="020B0604020202020204" pitchFamily="34" charset="0"/>
              </a:rPr>
              <a:t> или тяжелее грузоподъемности крана;</a:t>
            </a:r>
          </a:p>
          <a:p>
            <a:r>
              <a:rPr lang="ru-RU" sz="1020" b="1">
                <a:solidFill>
                  <a:srgbClr val="111111"/>
                </a:solidFill>
                <a:latin typeface="Arial" panose="020B0604020202020204" pitchFamily="34" charset="0"/>
              </a:rPr>
              <a:t>• пользоваться поврежденными</a:t>
            </a:r>
            <a:r>
              <a:rPr lang="ru-RU" sz="1020">
                <a:solidFill>
                  <a:srgbClr val="111111"/>
                </a:solidFill>
                <a:latin typeface="Arial" panose="020B0604020202020204" pitchFamily="34" charset="0"/>
              </a:rPr>
              <a:t> или немаркированными стропами, захватами и тарой;</a:t>
            </a:r>
          </a:p>
          <a:p>
            <a:r>
              <a:rPr lang="ru-RU" sz="1020" b="1">
                <a:solidFill>
                  <a:srgbClr val="111111"/>
                </a:solidFill>
                <a:latin typeface="Arial" panose="020B0604020202020204" pitchFamily="34" charset="0"/>
              </a:rPr>
              <a:t>• применять способы зацепки</a:t>
            </a:r>
            <a:r>
              <a:rPr lang="ru-RU" sz="1020">
                <a:solidFill>
                  <a:srgbClr val="111111"/>
                </a:solidFill>
                <a:latin typeface="Arial" panose="020B0604020202020204" pitchFamily="34" charset="0"/>
              </a:rPr>
              <a:t> и приспособления, не указанные на схемах;</a:t>
            </a:r>
          </a:p>
          <a:p>
            <a:r>
              <a:rPr lang="ru-RU" sz="1020" b="1">
                <a:solidFill>
                  <a:srgbClr val="111111"/>
                </a:solidFill>
                <a:latin typeface="Arial" panose="020B0604020202020204" pitchFamily="34" charset="0"/>
              </a:rPr>
              <a:t>• зацеплять бетонные</a:t>
            </a:r>
            <a:r>
              <a:rPr lang="ru-RU" sz="1020">
                <a:solidFill>
                  <a:srgbClr val="111111"/>
                </a:solidFill>
                <a:latin typeface="Arial" panose="020B0604020202020204" pitchFamily="34" charset="0"/>
              </a:rPr>
              <a:t> и железобетонные изделия за поврежденные петли;</a:t>
            </a:r>
          </a:p>
          <a:p>
            <a:r>
              <a:rPr lang="ru-RU" sz="1020" b="1">
                <a:solidFill>
                  <a:srgbClr val="111111"/>
                </a:solidFill>
                <a:latin typeface="Arial" panose="020B0604020202020204" pitchFamily="34" charset="0"/>
              </a:rPr>
              <a:t>• строповать груз, находящийся</a:t>
            </a:r>
            <a:r>
              <a:rPr lang="ru-RU" sz="1020">
                <a:solidFill>
                  <a:srgbClr val="111111"/>
                </a:solidFill>
                <a:latin typeface="Arial" panose="020B0604020202020204" pitchFamily="34" charset="0"/>
              </a:rPr>
              <a:t> в неустойчивом положении.</a:t>
            </a:r>
            <a:endParaRPr lang="ru-RU" sz="1020" dirty="0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99855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74320"/>
            <a:ext cx="1325880" cy="384048"/>
          </a:xfrm>
          <a:prstGeom prst="rect">
            <a:avLst/>
          </a:prstGeom>
          <a:noFill/>
        </p:spPr>
        <p:txBody>
          <a:bodyPr wrap="none" lIns="101600" tIns="76200" rIns="101600" bIns="76200">
            <a:spAutoFit/>
          </a:bodyPr>
          <a:lstStyle/>
          <a:p>
            <a:pPr algn="l"/>
            <a:r>
              <a:rPr sz="1000" b="1">
                <a:solidFill>
                  <a:srgbClr val="111111"/>
                </a:solidFill>
                <a:latin typeface="Arial"/>
              </a:rPr>
              <a:t>Тема 2.2</a:t>
            </a:r>
          </a:p>
          <a:p>
            <a:pPr algn="l"/>
            <a:r>
              <a:rPr sz="1000" b="1">
                <a:solidFill>
                  <a:srgbClr val="111111"/>
                </a:solidFill>
                <a:latin typeface="Arial"/>
              </a:rPr>
              <a:t>Технология работы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48672" y="310896"/>
            <a:ext cx="1207008" cy="310896"/>
          </a:xfrm>
          <a:prstGeom prst="round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r>
              <a:rPr lang="en-US" sz="1100" b="1">
                <a:solidFill>
                  <a:srgbClr val="111111"/>
                </a:solidFill>
                <a:latin typeface="Arial" panose="020B0604020202020204" pitchFamily="34" charset="0"/>
              </a:rPr>
              <a:t>S033-P03</a:t>
            </a:r>
            <a:endParaRPr sz="11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5216" y="850392"/>
            <a:ext cx="5669280" cy="492443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r>
              <a:rPr lang="ru-RU" sz="2200" b="1">
                <a:solidFill>
                  <a:srgbClr val="111111"/>
                </a:solidFill>
                <a:latin typeface="Arial" panose="020B0604020202020204" pitchFamily="34" charset="0"/>
              </a:rPr>
              <a:t>Подвал. Перед подачей сигнала</a:t>
            </a:r>
            <a:endParaRPr sz="22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76910" y="1828800"/>
            <a:ext cx="10487660" cy="3914140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460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>
            <a:hlinkClick r:id="rId2" action="ppaction://hlinksldjump"/>
          </p:cNvPr>
          <p:cNvSpPr/>
          <p:nvPr/>
        </p:nvSpPr>
        <p:spPr>
          <a:xfrm>
            <a:off x="676656" y="5989320"/>
            <a:ext cx="16916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/>
            <a:r>
              <a:rPr lang="ru-RU" sz="1200" b="1">
                <a:solidFill>
                  <a:srgbClr val="4B5563"/>
                </a:solidFill>
                <a:latin typeface="Arial"/>
              </a:rPr>
              <a:t>Назад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12" name="Прямоугольник: скругленные углы 11">
            <a:hlinkClick r:id="rId3" action="ppaction://hlinksldjump"/>
            <a:extLst>
              <a:ext uri="{FF2B5EF4-FFF2-40B4-BE49-F238E27FC236}">
                <a16:creationId xmlns:a16="http://schemas.microsoft.com/office/drawing/2014/main" id="{47B5600D-ABEB-7396-BEFC-CB9060117184}"/>
              </a:ext>
            </a:extLst>
          </p:cNvPr>
          <p:cNvSpPr/>
          <p:nvPr/>
        </p:nvSpPr>
        <p:spPr>
          <a:xfrm>
            <a:off x="9281160" y="5989320"/>
            <a:ext cx="1901952" cy="347472"/>
          </a:xfrm>
          <a:prstGeom prst="round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/>
            <a:r>
              <a:rPr lang="ru-RU" sz="1200" b="1">
                <a:solidFill>
                  <a:srgbClr val="FFFFFF"/>
                </a:solidFill>
                <a:latin typeface="Arial"/>
              </a:rPr>
              <a:t>Далее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" y="676656"/>
            <a:ext cx="1024128" cy="45720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76910" y="1828800"/>
            <a:ext cx="10487660" cy="36830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86384" y="1920240"/>
            <a:ext cx="777240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/>
            <a:r>
              <a:rPr lang="ru-RU" sz="1000" b="1">
                <a:solidFill>
                  <a:srgbClr val="111111"/>
                </a:solidFill>
                <a:latin typeface="Arial" panose="020B0604020202020204" pitchFamily="34" charset="0"/>
              </a:rPr>
              <a:t>Шаг 02</a:t>
            </a:r>
            <a:endParaRPr sz="10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721608" y="1920240"/>
            <a:ext cx="91440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/>
            <a:r>
              <a:rPr lang="ru-RU" sz="1000" b="1">
                <a:solidFill>
                  <a:srgbClr val="111111"/>
                </a:solidFill>
                <a:latin typeface="Arial" panose="020B0604020202020204" pitchFamily="34" charset="0"/>
              </a:rPr>
              <a:t>Опора</a:t>
            </a:r>
            <a:endParaRPr sz="10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093208" y="1920240"/>
            <a:ext cx="1024128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r>
              <a:rPr lang="en-US" sz="1100" b="1">
                <a:solidFill>
                  <a:srgbClr val="111111"/>
                </a:solidFill>
                <a:latin typeface="Arial" panose="020B0604020202020204" pitchFamily="34" charset="0"/>
              </a:rPr>
              <a:t>S033-P03</a:t>
            </a:r>
            <a:endParaRPr sz="11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217920" y="1920240"/>
            <a:ext cx="77724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/>
            <a:r>
              <a:rPr lang="ru-RU" sz="1000" b="1">
                <a:solidFill>
                  <a:srgbClr val="111111"/>
                </a:solidFill>
                <a:latin typeface="Arial" panose="020B0604020202020204" pitchFamily="34" charset="0"/>
              </a:rPr>
              <a:t>Шаг 02</a:t>
            </a:r>
            <a:endParaRPr sz="10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0140696" y="1920240"/>
            <a:ext cx="914400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/>
            <a:r>
              <a:rPr lang="ru-RU" sz="1000" b="1">
                <a:solidFill>
                  <a:srgbClr val="111111"/>
                </a:solidFill>
                <a:latin typeface="Arial" panose="020B0604020202020204" pitchFamily="34" charset="0"/>
              </a:rPr>
              <a:t>Опора</a:t>
            </a:r>
            <a:endParaRPr sz="10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6B51D7-9970-D187-0403-565B4CF7DF5F}"/>
              </a:ext>
            </a:extLst>
          </p:cNvPr>
          <p:cNvSpPr txBox="1"/>
          <p:nvPr/>
        </p:nvSpPr>
        <p:spPr>
          <a:xfrm>
            <a:off x="901700" y="2324100"/>
            <a:ext cx="10033000" cy="2997200"/>
          </a:xfrm>
          <a:prstGeom prst="rect">
            <a:avLst/>
          </a:prstGeom>
          <a:noFill/>
        </p:spPr>
        <p:txBody>
          <a:bodyPr vert="horz" wrap="square" lIns="101600" tIns="76200" rIns="101600" bIns="76200" numCol="2" spcCol="228600" rtlCol="0">
            <a:spAutoFit/>
          </a:bodyPr>
          <a:lstStyle/>
          <a:p>
            <a:r>
              <a:rPr lang="ru-RU" sz="1020" b="1">
                <a:solidFill>
                  <a:srgbClr val="0038B8"/>
                </a:solidFill>
                <a:latin typeface="Arial" panose="020B0604020202020204" pitchFamily="34" charset="0"/>
              </a:rPr>
              <a:t>Перед подачей сигнала</a:t>
            </a:r>
          </a:p>
          <a:p>
            <a:endParaRPr lang="ru-RU" sz="1020">
              <a:solidFill>
                <a:srgbClr val="111111"/>
              </a:solidFill>
              <a:latin typeface="Arial" panose="020B0604020202020204" pitchFamily="34" charset="0"/>
            </a:endParaRPr>
          </a:p>
          <a:p>
            <a:r>
              <a:rPr lang="ru-RU" sz="1020">
                <a:solidFill>
                  <a:srgbClr val="111111"/>
                </a:solidFill>
                <a:latin typeface="Arial" panose="020B0604020202020204" pitchFamily="34" charset="0"/>
              </a:rPr>
              <a:t>Перед каждой операцией по подъему и перемещению груза стропальщик подает соответствующий сигнал крановщику или сигнальщику. Если один кран обслуживают несколько стропальщиков, сигнал подает старший стропальщик.</a:t>
            </a:r>
          </a:p>
          <a:p>
            <a:endParaRPr lang="ru-RU" sz="1020">
              <a:solidFill>
                <a:srgbClr val="111111"/>
              </a:solidFill>
              <a:latin typeface="Arial" panose="020B0604020202020204" pitchFamily="34" charset="0"/>
            </a:endParaRPr>
          </a:p>
          <a:p>
            <a:r>
              <a:rPr lang="ru-RU" sz="1020" b="1">
                <a:solidFill>
                  <a:srgbClr val="0038B8"/>
                </a:solidFill>
                <a:latin typeface="Arial" panose="020B0604020202020204" pitchFamily="34" charset="0"/>
              </a:rPr>
              <a:t>Перед подачей сигнала о подъеме груза стропальщик должен:</a:t>
            </a:r>
          </a:p>
          <a:p>
            <a:r>
              <a:rPr lang="ru-RU" sz="1020" b="1">
                <a:solidFill>
                  <a:srgbClr val="111111"/>
                </a:solidFill>
                <a:latin typeface="Arial" panose="020B0604020202020204" pitchFamily="34" charset="0"/>
              </a:rPr>
              <a:t>• проверить, нет ли на грузе</a:t>
            </a:r>
            <a:r>
              <a:rPr lang="ru-RU" sz="1020">
                <a:solidFill>
                  <a:srgbClr val="111111"/>
                </a:solidFill>
                <a:latin typeface="Arial" panose="020B0604020202020204" pitchFamily="34" charset="0"/>
              </a:rPr>
              <a:t> незакрепленных деталей, инструмента, земли, льда или предметов, которые могут выпасть;</a:t>
            </a:r>
          </a:p>
          <a:p>
            <a:r>
              <a:rPr lang="ru-RU" sz="1020" b="1">
                <a:solidFill>
                  <a:srgbClr val="111111"/>
                </a:solidFill>
                <a:latin typeface="Arial" panose="020B0604020202020204" pitchFamily="34" charset="0"/>
              </a:rPr>
              <a:t>• убедиться, что во время подъема</a:t>
            </a:r>
            <a:r>
              <a:rPr lang="ru-RU" sz="1020">
                <a:solidFill>
                  <a:srgbClr val="111111"/>
                </a:solidFill>
                <a:latin typeface="Arial" panose="020B0604020202020204" pitchFamily="34" charset="0"/>
              </a:rPr>
              <a:t> груз ни за что не зацепится;</a:t>
            </a:r>
          </a:p>
          <a:p>
            <a:r>
              <a:rPr lang="ru-RU" sz="1020" b="1">
                <a:solidFill>
                  <a:srgbClr val="111111"/>
                </a:solidFill>
                <a:latin typeface="Arial" panose="020B0604020202020204" pitchFamily="34" charset="0"/>
              </a:rPr>
              <a:t>• убедиться в отсутствии людей</a:t>
            </a:r>
            <a:r>
              <a:rPr lang="ru-RU" sz="1020">
                <a:solidFill>
                  <a:srgbClr val="111111"/>
                </a:solidFill>
                <a:latin typeface="Arial" panose="020B0604020202020204" pitchFamily="34" charset="0"/>
              </a:rPr>
              <a:t> возле груза, между грузом и конструкциями, возле крана, на поворотной платформе и в зоне опускания стрелы;</a:t>
            </a:r>
          </a:p>
          <a:p>
            <a:r>
              <a:rPr lang="ru-RU" sz="1020" b="1">
                <a:solidFill>
                  <a:srgbClr val="111111"/>
                </a:solidFill>
                <a:latin typeface="Arial" panose="020B0604020202020204" pitchFamily="34" charset="0"/>
              </a:rPr>
              <a:t>• выйти из опасной зоны</a:t>
            </a:r>
            <a:r>
              <a:rPr lang="ru-RU" sz="1020">
                <a:solidFill>
                  <a:srgbClr val="111111"/>
                </a:solidFill>
                <a:latin typeface="Arial" panose="020B0604020202020204" pitchFamily="34" charset="0"/>
              </a:rPr>
              <a:t> до начала подъема.</a:t>
            </a:r>
          </a:p>
          <a:p>
            <a:endParaRPr lang="ru-RU" sz="1020">
              <a:solidFill>
                <a:srgbClr val="111111"/>
              </a:solidFill>
              <a:latin typeface="Arial" panose="020B0604020202020204" pitchFamily="34" charset="0"/>
            </a:endParaRPr>
          </a:p>
          <a:p>
            <a:r>
              <a:rPr lang="ru-RU" sz="1020" b="1">
                <a:solidFill>
                  <a:srgbClr val="0038B8"/>
                </a:solidFill>
                <a:latin typeface="Arial" panose="020B0604020202020204" pitchFamily="34" charset="0"/>
              </a:rPr>
              <a:t>Контрольный подъем и дальнейшие действия:</a:t>
            </a:r>
          </a:p>
          <a:p>
            <a:r>
              <a:rPr lang="ru-RU" sz="1020" b="1">
                <a:solidFill>
                  <a:srgbClr val="111111"/>
                </a:solidFill>
                <a:latin typeface="Arial" panose="020B0604020202020204" pitchFamily="34" charset="0"/>
              </a:rPr>
              <a:t>• сначала подать сигнал</a:t>
            </a:r>
            <a:r>
              <a:rPr lang="ru-RU" sz="1020">
                <a:solidFill>
                  <a:srgbClr val="111111"/>
                </a:solidFill>
                <a:latin typeface="Arial" panose="020B0604020202020204" pitchFamily="34" charset="0"/>
              </a:rPr>
              <a:t> на подъем груза на 200-300 мм;</a:t>
            </a:r>
          </a:p>
          <a:p>
            <a:r>
              <a:rPr lang="ru-RU" sz="1020" b="1">
                <a:solidFill>
                  <a:srgbClr val="111111"/>
                </a:solidFill>
                <a:latin typeface="Arial" panose="020B0604020202020204" pitchFamily="34" charset="0"/>
              </a:rPr>
              <a:t>• проверить правильность строповки</a:t>
            </a:r>
            <a:r>
              <a:rPr lang="ru-RU" sz="1020">
                <a:solidFill>
                  <a:srgbClr val="111111"/>
                </a:solidFill>
                <a:latin typeface="Arial" panose="020B0604020202020204" pitchFamily="34" charset="0"/>
              </a:rPr>
              <a:t>, равномерность натяжения стропов, устойчивость крана и работу тормозов;</a:t>
            </a:r>
          </a:p>
          <a:p>
            <a:r>
              <a:rPr lang="ru-RU" sz="1020" b="1">
                <a:solidFill>
                  <a:srgbClr val="111111"/>
                </a:solidFill>
                <a:latin typeface="Arial" panose="020B0604020202020204" pitchFamily="34" charset="0"/>
              </a:rPr>
              <a:t>• при необходимости перестроповки</a:t>
            </a:r>
            <a:r>
              <a:rPr lang="ru-RU" sz="1020">
                <a:solidFill>
                  <a:srgbClr val="111111"/>
                </a:solidFill>
                <a:latin typeface="Arial" panose="020B0604020202020204" pitchFamily="34" charset="0"/>
              </a:rPr>
              <a:t> немедленно опустить груз;</a:t>
            </a:r>
          </a:p>
          <a:p>
            <a:r>
              <a:rPr lang="ru-RU" sz="1020" b="1">
                <a:solidFill>
                  <a:srgbClr val="111111"/>
                </a:solidFill>
                <a:latin typeface="Arial" panose="020B0604020202020204" pitchFamily="34" charset="0"/>
              </a:rPr>
              <a:t>• перед горизонтальным перемещением</a:t>
            </a:r>
            <a:r>
              <a:rPr lang="ru-RU" sz="1020">
                <a:solidFill>
                  <a:srgbClr val="111111"/>
                </a:solidFill>
                <a:latin typeface="Arial" panose="020B0604020202020204" pitchFamily="34" charset="0"/>
              </a:rPr>
              <a:t> убедиться, что груз поднят не менее чем на 500 мм выше встречающихся предметов.</a:t>
            </a:r>
            <a:endParaRPr lang="ru-RU" sz="1020" dirty="0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35151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74320"/>
            <a:ext cx="1325880" cy="384048"/>
          </a:xfrm>
          <a:prstGeom prst="rect">
            <a:avLst/>
          </a:prstGeom>
          <a:noFill/>
        </p:spPr>
        <p:txBody>
          <a:bodyPr wrap="none" lIns="101600" tIns="76200" rIns="101600" bIns="76200">
            <a:spAutoFit/>
          </a:bodyPr>
          <a:lstStyle/>
          <a:p>
            <a:pPr algn="l"/>
            <a:r>
              <a:rPr sz="1000" b="1">
                <a:solidFill>
                  <a:srgbClr val="111111"/>
                </a:solidFill>
                <a:latin typeface="Arial"/>
              </a:rPr>
              <a:t>Тема 2.2</a:t>
            </a:r>
          </a:p>
          <a:p>
            <a:pPr algn="l"/>
            <a:r>
              <a:rPr sz="1000" b="1">
                <a:solidFill>
                  <a:srgbClr val="111111"/>
                </a:solidFill>
                <a:latin typeface="Arial"/>
              </a:rPr>
              <a:t>Технология работы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48672" y="310896"/>
            <a:ext cx="1207008" cy="310896"/>
          </a:xfrm>
          <a:prstGeom prst="round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r>
              <a:rPr lang="en-US" sz="1100" b="1">
                <a:solidFill>
                  <a:srgbClr val="111111"/>
                </a:solidFill>
                <a:latin typeface="Arial" panose="020B0604020202020204" pitchFamily="34" charset="0"/>
              </a:rPr>
              <a:t>S033-P04</a:t>
            </a:r>
            <a:endParaRPr sz="11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5216" y="850392"/>
            <a:ext cx="5669280" cy="492443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r>
              <a:rPr lang="ru-RU" sz="2200" b="1">
                <a:solidFill>
                  <a:srgbClr val="111111"/>
                </a:solidFill>
                <a:latin typeface="Arial" panose="020B0604020202020204" pitchFamily="34" charset="0"/>
              </a:rPr>
              <a:t>Подвал. После установки груза</a:t>
            </a:r>
            <a:endParaRPr sz="22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76910" y="1828800"/>
            <a:ext cx="10487660" cy="3914140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460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>
            <a:hlinkClick r:id="rId2" action="ppaction://hlinksldjump"/>
          </p:cNvPr>
          <p:cNvSpPr/>
          <p:nvPr/>
        </p:nvSpPr>
        <p:spPr>
          <a:xfrm>
            <a:off x="676656" y="5989320"/>
            <a:ext cx="16916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/>
            <a:r>
              <a:rPr lang="ru-RU" sz="1200" b="1">
                <a:solidFill>
                  <a:srgbClr val="4B5563"/>
                </a:solidFill>
                <a:latin typeface="Arial"/>
              </a:rPr>
              <a:t>Назад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12" name="Прямоугольник: скругленные углы 11">
            <a:hlinkClick r:id="rId3" action="ppaction://hlinksldjump"/>
            <a:extLst>
              <a:ext uri="{FF2B5EF4-FFF2-40B4-BE49-F238E27FC236}">
                <a16:creationId xmlns:a16="http://schemas.microsoft.com/office/drawing/2014/main" id="{47B5600D-ABEB-7396-BEFC-CB9060117184}"/>
              </a:ext>
            </a:extLst>
          </p:cNvPr>
          <p:cNvSpPr/>
          <p:nvPr/>
        </p:nvSpPr>
        <p:spPr>
          <a:xfrm>
            <a:off x="9281160" y="5989320"/>
            <a:ext cx="1901952" cy="347472"/>
          </a:xfrm>
          <a:prstGeom prst="round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/>
            <a:r>
              <a:rPr lang="ru-RU" sz="1200" b="1">
                <a:solidFill>
                  <a:srgbClr val="FFFFFF"/>
                </a:solidFill>
                <a:latin typeface="Arial"/>
              </a:rPr>
              <a:t>Далее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" y="676656"/>
            <a:ext cx="1024128" cy="45720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76910" y="1828800"/>
            <a:ext cx="10487660" cy="36830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86384" y="1920240"/>
            <a:ext cx="777240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/>
            <a:r>
              <a:rPr lang="ru-RU" sz="1000" b="1">
                <a:solidFill>
                  <a:srgbClr val="111111"/>
                </a:solidFill>
                <a:latin typeface="Arial" panose="020B0604020202020204" pitchFamily="34" charset="0"/>
              </a:rPr>
              <a:t>Шаг 02</a:t>
            </a:r>
            <a:endParaRPr sz="10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721608" y="1920240"/>
            <a:ext cx="91440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/>
            <a:r>
              <a:rPr lang="ru-RU" sz="1000" b="1">
                <a:solidFill>
                  <a:srgbClr val="111111"/>
                </a:solidFill>
                <a:latin typeface="Arial" panose="020B0604020202020204" pitchFamily="34" charset="0"/>
              </a:rPr>
              <a:t>Опора</a:t>
            </a:r>
            <a:endParaRPr sz="10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093208" y="1920240"/>
            <a:ext cx="1024128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r>
              <a:rPr lang="en-US" sz="1100" b="1">
                <a:solidFill>
                  <a:srgbClr val="111111"/>
                </a:solidFill>
                <a:latin typeface="Arial" panose="020B0604020202020204" pitchFamily="34" charset="0"/>
              </a:rPr>
              <a:t>S033-P04</a:t>
            </a:r>
            <a:endParaRPr sz="11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217920" y="1920240"/>
            <a:ext cx="77724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/>
            <a:r>
              <a:rPr lang="ru-RU" sz="1000" b="1">
                <a:solidFill>
                  <a:srgbClr val="111111"/>
                </a:solidFill>
                <a:latin typeface="Arial" panose="020B0604020202020204" pitchFamily="34" charset="0"/>
              </a:rPr>
              <a:t>Шаг 02</a:t>
            </a:r>
            <a:endParaRPr sz="10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0140696" y="1920240"/>
            <a:ext cx="914400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/>
            <a:r>
              <a:rPr lang="ru-RU" sz="1000" b="1">
                <a:solidFill>
                  <a:srgbClr val="111111"/>
                </a:solidFill>
                <a:latin typeface="Arial" panose="020B0604020202020204" pitchFamily="34" charset="0"/>
              </a:rPr>
              <a:t>Опора</a:t>
            </a:r>
            <a:endParaRPr sz="10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6B51D7-9970-D187-0403-565B4CF7DF5F}"/>
              </a:ext>
            </a:extLst>
          </p:cNvPr>
          <p:cNvSpPr txBox="1"/>
          <p:nvPr/>
        </p:nvSpPr>
        <p:spPr>
          <a:xfrm>
            <a:off x="901700" y="2324100"/>
            <a:ext cx="10033000" cy="2997200"/>
          </a:xfrm>
          <a:prstGeom prst="rect">
            <a:avLst/>
          </a:prstGeom>
          <a:noFill/>
        </p:spPr>
        <p:txBody>
          <a:bodyPr vert="horz" wrap="square" lIns="101600" tIns="76200" rIns="101600" bIns="76200" numCol="2" spcCol="228600" rtlCol="0">
            <a:spAutoFit/>
          </a:bodyPr>
          <a:lstStyle/>
          <a:p>
            <a:r>
              <a:rPr lang="ru-RU" sz="1020" b="1">
                <a:solidFill>
                  <a:srgbClr val="0038B8"/>
                </a:solidFill>
                <a:latin typeface="Arial" panose="020B0604020202020204" pitchFamily="34" charset="0"/>
              </a:rPr>
              <a:t>После установки груза</a:t>
            </a:r>
          </a:p>
          <a:p>
            <a:endParaRPr lang="ru-RU" sz="1020">
              <a:solidFill>
                <a:srgbClr val="111111"/>
              </a:solidFill>
              <a:latin typeface="Arial" panose="020B0604020202020204" pitchFamily="34" charset="0"/>
            </a:endParaRPr>
          </a:p>
          <a:p>
            <a:r>
              <a:rPr lang="ru-RU" sz="1020" b="1">
                <a:solidFill>
                  <a:srgbClr val="0038B8"/>
                </a:solidFill>
                <a:latin typeface="Arial" panose="020B0604020202020204" pitchFamily="34" charset="0"/>
              </a:rPr>
              <a:t>Перед опусканием и окончательной установкой груза стропальщик обязан:</a:t>
            </a:r>
          </a:p>
          <a:p>
            <a:r>
              <a:rPr lang="ru-RU" sz="1020" b="1">
                <a:solidFill>
                  <a:srgbClr val="111111"/>
                </a:solidFill>
                <a:latin typeface="Arial" panose="020B0604020202020204" pitchFamily="34" charset="0"/>
              </a:rPr>
              <a:t>• заранее осмотреть место установки</a:t>
            </a:r>
            <a:r>
              <a:rPr lang="ru-RU" sz="1020">
                <a:solidFill>
                  <a:srgbClr val="111111"/>
                </a:solidFill>
                <a:latin typeface="Arial" panose="020B0604020202020204" pitchFamily="34" charset="0"/>
              </a:rPr>
              <a:t> и убедиться, что исключены падение, опрокидывание и сползание груза;</a:t>
            </a:r>
          </a:p>
          <a:p>
            <a:r>
              <a:rPr lang="ru-RU" sz="1020" b="1">
                <a:solidFill>
                  <a:srgbClr val="111111"/>
                </a:solidFill>
                <a:latin typeface="Arial" panose="020B0604020202020204" pitchFamily="34" charset="0"/>
              </a:rPr>
              <a:t>• при необходимости уложить прочные подкладки</a:t>
            </a:r>
            <a:r>
              <a:rPr lang="ru-RU" sz="1020">
                <a:solidFill>
                  <a:srgbClr val="111111"/>
                </a:solidFill>
                <a:latin typeface="Arial" panose="020B0604020202020204" pitchFamily="34" charset="0"/>
              </a:rPr>
              <a:t>, чтобы затем безопасно извлечь стропы из-под груза;</a:t>
            </a:r>
          </a:p>
          <a:p>
            <a:r>
              <a:rPr lang="ru-RU" sz="1020" b="1">
                <a:solidFill>
                  <a:srgbClr val="111111"/>
                </a:solidFill>
                <a:latin typeface="Arial" panose="020B0604020202020204" pitchFamily="34" charset="0"/>
              </a:rPr>
              <a:t>• снимать стропы с груза</a:t>
            </a:r>
            <a:r>
              <a:rPr lang="ru-RU" sz="1020">
                <a:solidFill>
                  <a:srgbClr val="111111"/>
                </a:solidFill>
                <a:latin typeface="Arial" panose="020B0604020202020204" pitchFamily="34" charset="0"/>
              </a:rPr>
              <a:t> или крюка только после того, как груз надежно установлен, а при необходимости закреплен.</a:t>
            </a:r>
          </a:p>
          <a:p>
            <a:endParaRPr lang="ru-RU" sz="1020">
              <a:solidFill>
                <a:srgbClr val="111111"/>
              </a:solidFill>
              <a:latin typeface="Arial" panose="020B0604020202020204" pitchFamily="34" charset="0"/>
            </a:endParaRPr>
          </a:p>
          <a:p>
            <a:r>
              <a:rPr lang="ru-RU" sz="1020" b="1">
                <a:solidFill>
                  <a:srgbClr val="0038B8"/>
                </a:solidFill>
                <a:latin typeface="Arial" panose="020B0604020202020204" pitchFamily="34" charset="0"/>
              </a:rPr>
              <a:t>При укладке груза стропальщик должен:</a:t>
            </a:r>
          </a:p>
          <a:p>
            <a:r>
              <a:rPr lang="ru-RU" sz="1020" b="1">
                <a:solidFill>
                  <a:srgbClr val="111111"/>
                </a:solidFill>
                <a:latin typeface="Arial" panose="020B0604020202020204" pitchFamily="34" charset="0"/>
              </a:rPr>
              <a:t>• укладывать груз равномерно</a:t>
            </a:r>
            <a:r>
              <a:rPr lang="ru-RU" sz="1020">
                <a:solidFill>
                  <a:srgbClr val="111111"/>
                </a:solidFill>
                <a:latin typeface="Arial" panose="020B0604020202020204" pitchFamily="34" charset="0"/>
              </a:rPr>
              <a:t>, не нарушая габаритов складирования и не загромождая проходы и проезды;</a:t>
            </a:r>
          </a:p>
          <a:p>
            <a:r>
              <a:rPr lang="ru-RU" sz="1020" b="1">
                <a:solidFill>
                  <a:srgbClr val="111111"/>
                </a:solidFill>
                <a:latin typeface="Arial" panose="020B0604020202020204" pitchFamily="34" charset="0"/>
              </a:rPr>
              <a:t>• при укладке в вагонетки</a:t>
            </a:r>
            <a:r>
              <a:rPr lang="ru-RU" sz="1020">
                <a:solidFill>
                  <a:srgbClr val="111111"/>
                </a:solidFill>
                <a:latin typeface="Arial" panose="020B0604020202020204" pitchFamily="34" charset="0"/>
              </a:rPr>
              <a:t>, полувагоны и на платформы не нарушать равновесия транспортных средств и убеждаться, что они закреплены от самопроизвольного перемещения.</a:t>
            </a:r>
          </a:p>
          <a:p>
            <a:endParaRPr lang="ru-RU" sz="1020">
              <a:solidFill>
                <a:srgbClr val="111111"/>
              </a:solidFill>
              <a:latin typeface="Arial" panose="020B0604020202020204" pitchFamily="34" charset="0"/>
            </a:endParaRPr>
          </a:p>
          <a:p>
            <a:r>
              <a:rPr lang="ru-RU" sz="1020" b="1">
                <a:solidFill>
                  <a:srgbClr val="0038B8"/>
                </a:solidFill>
                <a:latin typeface="Arial" panose="020B0604020202020204" pitchFamily="34" charset="0"/>
              </a:rPr>
              <a:t>Запрещается:</a:t>
            </a:r>
          </a:p>
          <a:p>
            <a:r>
              <a:rPr lang="ru-RU" sz="1020" b="1">
                <a:solidFill>
                  <a:srgbClr val="111111"/>
                </a:solidFill>
                <a:latin typeface="Arial" panose="020B0604020202020204" pitchFamily="34" charset="0"/>
              </a:rPr>
              <a:t>• устанавливать груз на временные перекрытия</a:t>
            </a:r>
            <a:r>
              <a:rPr lang="ru-RU" sz="1020">
                <a:solidFill>
                  <a:srgbClr val="111111"/>
                </a:solidFill>
                <a:latin typeface="Arial" panose="020B0604020202020204" pitchFamily="34" charset="0"/>
              </a:rPr>
              <a:t>, трубы, кабели и другие места, не предназначенные для укладки;</a:t>
            </a:r>
          </a:p>
          <a:p>
            <a:r>
              <a:rPr lang="ru-RU" sz="1020" b="1">
                <a:solidFill>
                  <a:srgbClr val="111111"/>
                </a:solidFill>
                <a:latin typeface="Arial" panose="020B0604020202020204" pitchFamily="34" charset="0"/>
              </a:rPr>
              <a:t>• устанавливать груз наклонно</a:t>
            </a:r>
            <a:r>
              <a:rPr lang="ru-RU" sz="1020">
                <a:solidFill>
                  <a:srgbClr val="111111"/>
                </a:solidFill>
                <a:latin typeface="Arial" panose="020B0604020202020204" pitchFamily="34" charset="0"/>
              </a:rPr>
              <a:t> к стенам зданий, заборам и другим конструкциям.</a:t>
            </a:r>
            <a:endParaRPr lang="ru-RU" sz="1020" dirty="0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83111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74320"/>
            <a:ext cx="1325880" cy="384048"/>
          </a:xfrm>
          <a:prstGeom prst="rect">
            <a:avLst/>
          </a:prstGeom>
          <a:noFill/>
        </p:spPr>
        <p:txBody>
          <a:bodyPr wrap="none" lIns="101600" tIns="76200" rIns="101600" bIns="76200">
            <a:spAutoFit/>
          </a:bodyPr>
          <a:lstStyle/>
          <a:p>
            <a:pPr algn="l"/>
            <a:r>
              <a:rPr sz="1000" b="1">
                <a:solidFill>
                  <a:srgbClr val="111111"/>
                </a:solidFill>
                <a:latin typeface="Arial"/>
              </a:rPr>
              <a:t>Тема 2.2</a:t>
            </a:r>
          </a:p>
          <a:p>
            <a:pPr algn="l"/>
            <a:r>
              <a:rPr sz="1000" b="1">
                <a:solidFill>
                  <a:srgbClr val="111111"/>
                </a:solidFill>
                <a:latin typeface="Arial"/>
              </a:rPr>
              <a:t>Технология работы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04120" y="310896"/>
            <a:ext cx="1051560" cy="310896"/>
          </a:xfrm>
          <a:prstGeom prst="round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1600" tIns="76200" rIns="101600" bIns="7620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rial"/>
              </a:rPr>
              <a:t>S034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5216" y="850392"/>
            <a:ext cx="5669280" cy="523220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r>
              <a:rPr lang="ru-RU" sz="2400" b="1">
                <a:solidFill>
                  <a:srgbClr val="111111"/>
                </a:solidFill>
                <a:latin typeface="Arial" panose="020B0604020202020204" pitchFamily="34" charset="0"/>
              </a:rPr>
              <a:t>Технологический цикл работы</a:t>
            </a:r>
            <a:endParaRPr sz="24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76656" y="1828800"/>
            <a:ext cx="4663440" cy="3913632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76656" y="2066543"/>
            <a:ext cx="4663440" cy="365760"/>
          </a:xfrm>
          <a:prstGeom prst="roundRect">
            <a:avLst>
              <a:gd name="adj" fmla="val 193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l"/>
            <a:r>
              <a:rPr lang="ru-RU" sz="1300" b="1">
                <a:solidFill>
                  <a:srgbClr val="111111"/>
                </a:solidFill>
                <a:latin typeface="Arial"/>
              </a:rPr>
              <a:t>Укрупненный цикл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6112" y="2596896"/>
            <a:ext cx="4279392" cy="2761488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111111"/>
                </a:solidFill>
                <a:latin typeface="Arial"/>
              </a:rPr>
              <a:t>Ограждение</a:t>
            </a:r>
          </a:p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111111"/>
                </a:solidFill>
                <a:latin typeface="Arial"/>
              </a:rPr>
              <a:t>Подготовка груза и схемы</a:t>
            </a:r>
          </a:p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111111"/>
                </a:solidFill>
                <a:latin typeface="Arial"/>
              </a:rPr>
              <a:t>Строповка и сигнал</a:t>
            </a:r>
          </a:p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111111"/>
                </a:solidFill>
                <a:latin typeface="Arial"/>
              </a:rPr>
              <a:t>Контроль на 20-30 см</a:t>
            </a:r>
          </a:p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111111"/>
                </a:solidFill>
                <a:latin typeface="Arial"/>
              </a:rPr>
              <a:t>Перемещение и складирование</a:t>
            </a:r>
          </a:p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111111"/>
                </a:solidFill>
                <a:latin typeface="Arial"/>
              </a:rPr>
              <a:t>Снятие и хранение оснастки</a:t>
            </a:r>
            <a:endParaRPr dirty="0">
              <a:solidFill>
                <a:srgbClr val="212B36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603748" y="1828800"/>
            <a:ext cx="5449824" cy="3913632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742432" y="2688336"/>
            <a:ext cx="5084064" cy="1015663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 algn="l"/>
            <a:r>
              <a:rPr lang="ru-RU" sz="1400" b="0" dirty="0">
                <a:solidFill>
                  <a:srgbClr val="4B5563"/>
                </a:solidFill>
                <a:latin typeface="Arial"/>
              </a:rPr>
              <a:t>Видео: Схема процесса:</a:t>
            </a:r>
          </a:p>
          <a:p>
            <a:pPr algn="l"/>
            <a:r>
              <a:rPr lang="ru-RU" sz="1400" b="0" dirty="0">
                <a:solidFill>
                  <a:srgbClr val="4B5563"/>
                </a:solidFill>
                <a:latin typeface="Arial"/>
              </a:rPr>
              <a:t>от установки ограждения</a:t>
            </a:r>
          </a:p>
          <a:p>
            <a:pPr algn="l"/>
            <a:r>
              <a:rPr lang="ru-RU" sz="1400" b="0" dirty="0">
                <a:solidFill>
                  <a:srgbClr val="4B5563"/>
                </a:solidFill>
                <a:latin typeface="Arial"/>
              </a:rPr>
              <a:t>до уборки стропов и оснастки. Базовый набор действий. На каждом из разделы плашки слева. Сделать акцент. </a:t>
            </a:r>
            <a:endParaRPr sz="2000" dirty="0">
              <a:solidFill>
                <a:srgbClr val="212B36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76656" y="5989320"/>
            <a:ext cx="16916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/>
            <a:r>
              <a:rPr lang="ru-RU" sz="1200" b="1">
                <a:solidFill>
                  <a:srgbClr val="4B5563"/>
                </a:solidFill>
                <a:latin typeface="Arial"/>
              </a:rPr>
              <a:t>Назад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47B5600D-ABEB-7396-BEFC-CB9060117184}"/>
              </a:ext>
            </a:extLst>
          </p:cNvPr>
          <p:cNvSpPr/>
          <p:nvPr/>
        </p:nvSpPr>
        <p:spPr>
          <a:xfrm>
            <a:off x="9281160" y="5989320"/>
            <a:ext cx="1901952" cy="347472"/>
          </a:xfrm>
          <a:prstGeom prst="round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/>
            <a:r>
              <a:rPr lang="ru-RU" sz="1200" b="1">
                <a:solidFill>
                  <a:srgbClr val="FFFFFF"/>
                </a:solidFill>
                <a:latin typeface="Arial"/>
              </a:rPr>
              <a:t>Далее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" y="676656"/>
            <a:ext cx="1024128" cy="45720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76656" y="1828800"/>
            <a:ext cx="466344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86384" y="1920240"/>
            <a:ext cx="777240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850" b="1">
                <a:solidFill>
                  <a:srgbClr val="0038B8"/>
                </a:solidFill>
                <a:latin typeface="Arial"/>
              </a:rPr>
              <a:t>Шаг 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15968" y="1920240"/>
            <a:ext cx="91440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850" b="1">
                <a:solidFill>
                  <a:srgbClr val="4B5563"/>
                </a:solidFill>
                <a:latin typeface="Arial"/>
              </a:rPr>
              <a:t>Маршрут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59552" y="1828800"/>
            <a:ext cx="5449824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669280" y="1920240"/>
            <a:ext cx="868680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850" b="1">
                <a:solidFill>
                  <a:srgbClr val="0038B8"/>
                </a:solidFill>
                <a:latin typeface="Arial"/>
              </a:rPr>
              <a:t>S034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38544" y="1920240"/>
            <a:ext cx="77724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850" b="1">
                <a:solidFill>
                  <a:srgbClr val="4B5563"/>
                </a:solidFill>
                <a:latin typeface="Arial"/>
              </a:rPr>
              <a:t>Шаг 02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85248" y="1920240"/>
            <a:ext cx="914400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850" b="1">
                <a:solidFill>
                  <a:srgbClr val="0038B8"/>
                </a:solidFill>
                <a:latin typeface="Arial"/>
              </a:rPr>
              <a:t>Маршрут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2176272"/>
            <a:ext cx="5230368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11111"/>
                </a:solidFill>
                <a:latin typeface="Arial"/>
              </a:rPr>
              <a:t>Технический комментарий</a:t>
            </a:r>
          </a:p>
        </p:txBody>
      </p:sp>
    </p:spTree>
    <p:extLst>
      <p:ext uri="{BB962C8B-B14F-4D97-AF65-F5344CB8AC3E}">
        <p14:creationId xmlns:p14="http://schemas.microsoft.com/office/powerpoint/2010/main" val="13462594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74320"/>
            <a:ext cx="1325880" cy="384048"/>
          </a:xfrm>
          <a:prstGeom prst="rect">
            <a:avLst/>
          </a:prstGeom>
          <a:noFill/>
        </p:spPr>
        <p:txBody>
          <a:bodyPr wrap="none" lIns="101600" tIns="76200" rIns="101600" bIns="76200">
            <a:spAutoFit/>
          </a:bodyPr>
          <a:lstStyle/>
          <a:p>
            <a:pPr algn="l"/>
            <a:r>
              <a:rPr sz="1000" b="1">
                <a:solidFill>
                  <a:srgbClr val="111111"/>
                </a:solidFill>
                <a:latin typeface="Arial"/>
              </a:rPr>
              <a:t>Тема 2.2</a:t>
            </a:r>
          </a:p>
          <a:p>
            <a:pPr algn="l"/>
            <a:r>
              <a:rPr sz="1000" b="1">
                <a:solidFill>
                  <a:srgbClr val="111111"/>
                </a:solidFill>
                <a:latin typeface="Arial"/>
              </a:rPr>
              <a:t>Технология работы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04120" y="310896"/>
            <a:ext cx="1051560" cy="310896"/>
          </a:xfrm>
          <a:prstGeom prst="round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1600" tIns="76200" rIns="101600" bIns="7620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rial"/>
              </a:rPr>
              <a:t>S035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5216" y="850392"/>
            <a:ext cx="5669280" cy="523220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r>
              <a:rPr lang="ru-RU" sz="2400" b="1">
                <a:solidFill>
                  <a:srgbClr val="111111"/>
                </a:solidFill>
                <a:latin typeface="Arial" panose="020B0604020202020204" pitchFamily="34" charset="0"/>
              </a:rPr>
              <a:t>Сигнализация и взаимодействие</a:t>
            </a:r>
            <a:endParaRPr sz="24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76656" y="1828800"/>
            <a:ext cx="4069080" cy="3913632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76656" y="2139696"/>
            <a:ext cx="4069080" cy="310896"/>
          </a:xfrm>
          <a:prstGeom prst="roundRect">
            <a:avLst>
              <a:gd name="adj" fmla="val 193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r>
              <a:rPr lang="ru-RU" sz="1520" b="1">
                <a:solidFill>
                  <a:srgbClr val="111111"/>
                </a:solidFill>
                <a:latin typeface="Arial" panose="020B0604020202020204" pitchFamily="34" charset="0"/>
              </a:rPr>
              <a:t>До начала работ оговорите сигналы</a:t>
            </a:r>
            <a:endParaRPr sz="152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6112" y="2670048"/>
            <a:ext cx="3685032" cy="1598386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>
              <a:spcAft>
                <a:spcPts val="800"/>
              </a:spcAft>
            </a:pPr>
            <a:r>
              <a:rPr lang="ru-RU" sz="1120" b="1">
                <a:solidFill>
                  <a:srgbClr val="0038B8"/>
                </a:solidFill>
                <a:latin typeface="Arial" panose="020B0604020202020204" pitchFamily="34" charset="0"/>
              </a:rPr>
              <a:t>Общение между стропальщиком и машинистом крана:</a:t>
            </a:r>
          </a:p>
          <a:p>
            <a:pPr>
              <a:spcAft>
                <a:spcPts val="800"/>
              </a:spcAft>
            </a:pPr>
            <a:endParaRPr lang="ru-RU" sz="1120">
              <a:solidFill>
                <a:srgbClr val="111111"/>
              </a:solidFill>
              <a:latin typeface="Arial" panose="020B0604020202020204" pitchFamily="34" charset="0"/>
            </a:endParaRPr>
          </a:p>
          <a:p>
            <a:pPr>
              <a:spcAft>
                <a:spcPts val="800"/>
              </a:spcAft>
            </a:pPr>
            <a:r>
              <a:rPr lang="ru-RU" sz="1120">
                <a:solidFill>
                  <a:srgbClr val="111111"/>
                </a:solidFill>
                <a:latin typeface="Arial" panose="020B0604020202020204" pitchFamily="34" charset="0"/>
              </a:rPr>
              <a:t>• до 10 метров — голосом</a:t>
            </a:r>
          </a:p>
          <a:p>
            <a:pPr>
              <a:spcAft>
                <a:spcPts val="800"/>
              </a:spcAft>
            </a:pPr>
            <a:r>
              <a:rPr lang="ru-RU" sz="1120">
                <a:solidFill>
                  <a:srgbClr val="111111"/>
                </a:solidFill>
                <a:latin typeface="Arial" panose="020B0604020202020204" pitchFamily="34" charset="0"/>
              </a:rPr>
              <a:t>• до 22 метров — знаками</a:t>
            </a:r>
          </a:p>
          <a:p>
            <a:pPr>
              <a:spcAft>
                <a:spcPts val="800"/>
              </a:spcAft>
            </a:pPr>
            <a:r>
              <a:rPr lang="ru-RU" sz="1120">
                <a:solidFill>
                  <a:srgbClr val="111111"/>
                </a:solidFill>
                <a:latin typeface="Arial" panose="020B0604020202020204" pitchFamily="34" charset="0"/>
              </a:rPr>
              <a:t>• свыше 22 метров — по рации</a:t>
            </a:r>
            <a:endParaRPr sz="1120" dirty="0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736592" y="1828800"/>
            <a:ext cx="6428232" cy="3913632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919472" y="5394960"/>
            <a:ext cx="6062472" cy="301621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r>
              <a:rPr lang="ru-RU" sz="960">
                <a:solidFill>
                  <a:srgbClr val="4B5563"/>
                </a:solidFill>
                <a:latin typeface="Arial" panose="020B0604020202020204" pitchFamily="34" charset="0"/>
              </a:rPr>
              <a:t>Видео: вступительная фраза и последовательная демонстрация 7 знаковых команд с озвучкой.</a:t>
            </a:r>
            <a:endParaRPr sz="960">
              <a:solidFill>
                <a:srgbClr val="4B5563"/>
              </a:solidFill>
              <a:latin typeface="Arial" panose="020B0604020202020204" pitchFamily="34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76656" y="5989320"/>
            <a:ext cx="16916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/>
            <a:r>
              <a:rPr lang="ru-RU" sz="1200" b="1">
                <a:solidFill>
                  <a:srgbClr val="4B5563"/>
                </a:solidFill>
                <a:latin typeface="Arial"/>
              </a:rPr>
              <a:t>Назад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47B5600D-ABEB-7396-BEFC-CB9060117184}"/>
              </a:ext>
            </a:extLst>
          </p:cNvPr>
          <p:cNvSpPr/>
          <p:nvPr/>
        </p:nvSpPr>
        <p:spPr>
          <a:xfrm>
            <a:off x="9281160" y="5989320"/>
            <a:ext cx="1901952" cy="347472"/>
          </a:xfrm>
          <a:prstGeom prst="round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/>
            <a:r>
              <a:rPr lang="ru-RU" sz="1200" b="1">
                <a:solidFill>
                  <a:srgbClr val="FFFFFF"/>
                </a:solidFill>
                <a:latin typeface="Arial"/>
              </a:rPr>
              <a:t>Далее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" y="676656"/>
            <a:ext cx="1024128" cy="45720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76656" y="1828800"/>
            <a:ext cx="406908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86384" y="1920240"/>
            <a:ext cx="777240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850" b="1">
                <a:solidFill>
                  <a:srgbClr val="0038B8"/>
                </a:solidFill>
                <a:latin typeface="Arial"/>
              </a:rPr>
              <a:t>Шаг 03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21608" y="1920240"/>
            <a:ext cx="91440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850" b="1">
                <a:solidFill>
                  <a:srgbClr val="4B5563"/>
                </a:solidFill>
                <a:latin typeface="Arial"/>
              </a:rPr>
              <a:t>Сигнал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384" y="2359152"/>
            <a:ext cx="3849624" cy="16459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882896" y="2505456"/>
            <a:ext cx="6135624" cy="1097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736592" y="1828800"/>
            <a:ext cx="6428232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846320" y="1920240"/>
            <a:ext cx="868680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850" b="1">
                <a:solidFill>
                  <a:srgbClr val="0038B8"/>
                </a:solidFill>
                <a:latin typeface="Arial"/>
              </a:rPr>
              <a:t>S035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15584" y="1920240"/>
            <a:ext cx="77724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850" b="1">
                <a:solidFill>
                  <a:srgbClr val="4B5563"/>
                </a:solidFill>
                <a:latin typeface="Arial"/>
              </a:rPr>
              <a:t>Шаг 03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140696" y="1920240"/>
            <a:ext cx="914400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850" b="1">
                <a:solidFill>
                  <a:srgbClr val="0038B8"/>
                </a:solidFill>
                <a:latin typeface="Arial"/>
              </a:rPr>
              <a:t>Сигнал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2176272"/>
            <a:ext cx="6208776" cy="353943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r>
              <a:rPr lang="ru-RU" sz="1220" b="1">
                <a:solidFill>
                  <a:srgbClr val="111111"/>
                </a:solidFill>
                <a:latin typeface="Arial" panose="020B0604020202020204" pitchFamily="34" charset="0"/>
              </a:rPr>
              <a:t>Видеофрагмент</a:t>
            </a:r>
            <a:endParaRPr sz="122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4901184" y="5303520"/>
            <a:ext cx="6099048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Codex_S035_VideoFrame">
            <a:extLst>
              <a:ext uri="{FF2B5EF4-FFF2-40B4-BE49-F238E27FC236}">
                <a16:creationId xmlns:a16="http://schemas.microsoft.com/office/drawing/2014/main" id="{D4C9462A-B535-3B73-8A11-AADB88A728B9}"/>
              </a:ext>
            </a:extLst>
          </p:cNvPr>
          <p:cNvSpPr/>
          <p:nvPr/>
        </p:nvSpPr>
        <p:spPr>
          <a:xfrm>
            <a:off x="5016500" y="2590800"/>
            <a:ext cx="5740400" cy="2387600"/>
          </a:xfrm>
          <a:prstGeom prst="rect">
            <a:avLst/>
          </a:prstGeom>
          <a:solidFill>
            <a:srgbClr val="F4F5F7"/>
          </a:solidFill>
          <a:ln w="15240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Codex_S035_VideoFrameTop">
            <a:extLst>
              <a:ext uri="{FF2B5EF4-FFF2-40B4-BE49-F238E27FC236}">
                <a16:creationId xmlns:a16="http://schemas.microsoft.com/office/drawing/2014/main" id="{32174691-6C4A-A493-AF1E-D4350CAFC227}"/>
              </a:ext>
            </a:extLst>
          </p:cNvPr>
          <p:cNvSpPr/>
          <p:nvPr/>
        </p:nvSpPr>
        <p:spPr>
          <a:xfrm>
            <a:off x="5016500" y="2590800"/>
            <a:ext cx="5740400" cy="38100"/>
          </a:xfrm>
          <a:prstGeom prst="rect">
            <a:avLst/>
          </a:prstGeom>
          <a:solidFill>
            <a:srgbClr val="0038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Codex_S035_VideoText">
            <a:extLst>
              <a:ext uri="{FF2B5EF4-FFF2-40B4-BE49-F238E27FC236}">
                <a16:creationId xmlns:a16="http://schemas.microsoft.com/office/drawing/2014/main" id="{952E4F76-3785-8C8F-2F1B-CB26B9EF9626}"/>
              </a:ext>
            </a:extLst>
          </p:cNvPr>
          <p:cNvSpPr txBox="1"/>
          <p:nvPr/>
        </p:nvSpPr>
        <p:spPr>
          <a:xfrm>
            <a:off x="5334000" y="3022600"/>
            <a:ext cx="5105400" cy="800219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pPr algn="ctr"/>
            <a:r>
              <a:rPr lang="ru-RU" sz="1400" b="1">
                <a:solidFill>
                  <a:srgbClr val="111111"/>
                </a:solidFill>
                <a:latin typeface="Arial" panose="020B0604020202020204" pitchFamily="34" charset="0"/>
              </a:rPr>
              <a:t>МЕСТО ПОД ВИДЕО  Последовательно показываются 7 команд. Голос дублирует название каждого жеста. Вступление проговаривается перед первым сигналом.</a:t>
            </a:r>
          </a:p>
        </p:txBody>
      </p:sp>
      <p:sp>
        <p:nvSpPr>
          <p:cNvPr id="29" name="Codex_S035_VideoNote">
            <a:extLst>
              <a:ext uri="{FF2B5EF4-FFF2-40B4-BE49-F238E27FC236}">
                <a16:creationId xmlns:a16="http://schemas.microsoft.com/office/drawing/2014/main" id="{FB595A7E-7799-80EE-D558-80B19035E39C}"/>
              </a:ext>
            </a:extLst>
          </p:cNvPr>
          <p:cNvSpPr txBox="1"/>
          <p:nvPr/>
        </p:nvSpPr>
        <p:spPr>
          <a:xfrm>
            <a:off x="5207000" y="4483100"/>
            <a:ext cx="5359400" cy="418576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pPr algn="ctr"/>
            <a:r>
              <a:rPr lang="ru-RU" sz="860">
                <a:solidFill>
                  <a:srgbClr val="4B5563"/>
                </a:solidFill>
                <a:latin typeface="Arial" panose="020B0604020202020204" pitchFamily="34" charset="0"/>
              </a:rPr>
              <a:t>Стартовая фраза: «До начала работ стропальщик и машинист крана должны обязательно оговорить знаковую сигнализацию».</a:t>
            </a:r>
          </a:p>
        </p:txBody>
      </p:sp>
    </p:spTree>
    <p:extLst>
      <p:ext uri="{BB962C8B-B14F-4D97-AF65-F5344CB8AC3E}">
        <p14:creationId xmlns:p14="http://schemas.microsoft.com/office/powerpoint/2010/main" val="37127138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74320"/>
            <a:ext cx="1325880" cy="384048"/>
          </a:xfrm>
          <a:prstGeom prst="rect">
            <a:avLst/>
          </a:prstGeom>
          <a:noFill/>
        </p:spPr>
        <p:txBody>
          <a:bodyPr wrap="none" lIns="101600" tIns="76200" rIns="101600" bIns="76200">
            <a:spAutoFit/>
          </a:bodyPr>
          <a:lstStyle/>
          <a:p>
            <a:pPr algn="l"/>
            <a:r>
              <a:rPr sz="1000" b="1">
                <a:solidFill>
                  <a:srgbClr val="111111"/>
                </a:solidFill>
                <a:latin typeface="Arial"/>
              </a:rPr>
              <a:t>Тема 2.2</a:t>
            </a:r>
          </a:p>
          <a:p>
            <a:pPr algn="l"/>
            <a:r>
              <a:rPr sz="1000" b="1">
                <a:solidFill>
                  <a:srgbClr val="111111"/>
                </a:solidFill>
                <a:latin typeface="Arial"/>
              </a:rPr>
              <a:t>Технология работы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48672" y="310896"/>
            <a:ext cx="1207008" cy="310896"/>
          </a:xfrm>
          <a:prstGeom prst="round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1600" tIns="76200" rIns="101600" bIns="76200"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rial"/>
              </a:rPr>
              <a:t>S035-P01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5216" y="850392"/>
            <a:ext cx="5669280" cy="523220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r>
              <a:rPr lang="ru-RU" sz="2300" b="1">
                <a:solidFill>
                  <a:srgbClr val="111111"/>
                </a:solidFill>
                <a:latin typeface="Arial" panose="020B0604020202020204" pitchFamily="34" charset="0"/>
              </a:rPr>
              <a:t>Подвал. Знаковые команды</a:t>
            </a:r>
            <a:endParaRPr sz="23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76910" y="1828800"/>
            <a:ext cx="10487660" cy="3914140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460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76656" y="5989320"/>
            <a:ext cx="16916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/>
            <a:r>
              <a:rPr lang="ru-RU" sz="1200" b="1">
                <a:solidFill>
                  <a:srgbClr val="4B5563"/>
                </a:solidFill>
                <a:latin typeface="Arial"/>
              </a:rPr>
              <a:t>Назад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47B5600D-ABEB-7396-BEFC-CB9060117184}"/>
              </a:ext>
            </a:extLst>
          </p:cNvPr>
          <p:cNvSpPr/>
          <p:nvPr/>
        </p:nvSpPr>
        <p:spPr>
          <a:xfrm>
            <a:off x="9281160" y="5989320"/>
            <a:ext cx="1901952" cy="347472"/>
          </a:xfrm>
          <a:prstGeom prst="round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/>
            <a:r>
              <a:rPr lang="ru-RU" sz="1200" b="1">
                <a:solidFill>
                  <a:srgbClr val="FFFFFF"/>
                </a:solidFill>
                <a:latin typeface="Arial"/>
              </a:rPr>
              <a:t>Далее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" y="676656"/>
            <a:ext cx="1024128" cy="45720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76910" y="1828800"/>
            <a:ext cx="10487660" cy="36830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86384" y="1920240"/>
            <a:ext cx="777240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850" b="1">
                <a:solidFill>
                  <a:srgbClr val="0038B8"/>
                </a:solidFill>
                <a:latin typeface="Arial"/>
              </a:rPr>
              <a:t>Шаг 03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21608" y="1920240"/>
            <a:ext cx="91440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850" b="1">
                <a:solidFill>
                  <a:srgbClr val="4B5563"/>
                </a:solidFill>
                <a:latin typeface="Arial"/>
              </a:rPr>
              <a:t>Сигнал</a:t>
            </a:r>
          </a:p>
        </p:txBody>
      </p:sp>
      <p:sp>
        <p:nvSpPr>
          <p:cNvPr id="26" name="Codex_S035P01_Header">
            <a:extLst>
              <a:ext uri="{FF2B5EF4-FFF2-40B4-BE49-F238E27FC236}">
                <a16:creationId xmlns:a16="http://schemas.microsoft.com/office/drawing/2014/main" id="{BCC1287F-CA30-280B-7E42-7C00FE592CD9}"/>
              </a:ext>
            </a:extLst>
          </p:cNvPr>
          <p:cNvSpPr txBox="1"/>
          <p:nvPr/>
        </p:nvSpPr>
        <p:spPr>
          <a:xfrm>
            <a:off x="889000" y="2108200"/>
            <a:ext cx="9906000" cy="387798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ru-RU" sz="1520" b="1">
                <a:solidFill>
                  <a:srgbClr val="111111"/>
                </a:solidFill>
                <a:latin typeface="Arial" panose="020B0604020202020204" pitchFamily="34" charset="0"/>
              </a:rPr>
              <a:t>Каркас под изображения знаковых команд</a:t>
            </a:r>
          </a:p>
        </p:txBody>
      </p:sp>
      <p:sp>
        <p:nvSpPr>
          <p:cNvPr id="27" name="Codex_S035P01_Subtitle">
            <a:extLst>
              <a:ext uri="{FF2B5EF4-FFF2-40B4-BE49-F238E27FC236}">
                <a16:creationId xmlns:a16="http://schemas.microsoft.com/office/drawing/2014/main" id="{59F970DA-56B7-02C8-FD25-2A782790F545}"/>
              </a:ext>
            </a:extLst>
          </p:cNvPr>
          <p:cNvSpPr txBox="1"/>
          <p:nvPr/>
        </p:nvSpPr>
        <p:spPr>
          <a:xfrm>
            <a:off x="889000" y="2400300"/>
            <a:ext cx="9906000" cy="310854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ru-RU" sz="1020" b="1" dirty="0">
                <a:solidFill>
                  <a:srgbClr val="0038B8"/>
                </a:solidFill>
                <a:latin typeface="Arial" panose="020B0604020202020204" pitchFamily="34" charset="0"/>
              </a:rPr>
              <a:t>До старта стропальщик и машинист крана должны оговорить знаковую сигнализацию, чтобы разговаривать «на одном языке».</a:t>
            </a:r>
          </a:p>
        </p:txBody>
      </p:sp>
      <p:sp>
        <p:nvSpPr>
          <p:cNvPr id="28" name="Codex_S035P01_Card01_panel">
            <a:extLst>
              <a:ext uri="{FF2B5EF4-FFF2-40B4-BE49-F238E27FC236}">
                <a16:creationId xmlns:a16="http://schemas.microsoft.com/office/drawing/2014/main" id="{4059441C-E286-2765-00A8-4015ACD27E43}"/>
              </a:ext>
            </a:extLst>
          </p:cNvPr>
          <p:cNvSpPr/>
          <p:nvPr/>
        </p:nvSpPr>
        <p:spPr>
          <a:xfrm>
            <a:off x="889000" y="2844800"/>
            <a:ext cx="2336800" cy="1066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Codex_S035P01_Card01_strip">
            <a:extLst>
              <a:ext uri="{FF2B5EF4-FFF2-40B4-BE49-F238E27FC236}">
                <a16:creationId xmlns:a16="http://schemas.microsoft.com/office/drawing/2014/main" id="{0DC8B27F-ADC0-8AB9-0053-A71B0C4E1483}"/>
              </a:ext>
            </a:extLst>
          </p:cNvPr>
          <p:cNvSpPr/>
          <p:nvPr/>
        </p:nvSpPr>
        <p:spPr>
          <a:xfrm>
            <a:off x="889000" y="2844800"/>
            <a:ext cx="2336800" cy="38100"/>
          </a:xfrm>
          <a:prstGeom prst="rect">
            <a:avLst/>
          </a:prstGeom>
          <a:solidFill>
            <a:srgbClr val="0038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Codex_S035P01_Card01_title">
            <a:extLst>
              <a:ext uri="{FF2B5EF4-FFF2-40B4-BE49-F238E27FC236}">
                <a16:creationId xmlns:a16="http://schemas.microsoft.com/office/drawing/2014/main" id="{70E288CC-531A-7291-8DAD-5BEEBDA87D74}"/>
              </a:ext>
            </a:extLst>
          </p:cNvPr>
          <p:cNvSpPr txBox="1"/>
          <p:nvPr/>
        </p:nvSpPr>
        <p:spPr>
          <a:xfrm>
            <a:off x="990600" y="2971800"/>
            <a:ext cx="2133600" cy="326243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pPr algn="ctr"/>
            <a:r>
              <a:rPr lang="ru-RU" sz="1120" b="1">
                <a:solidFill>
                  <a:srgbClr val="111111"/>
                </a:solidFill>
                <a:latin typeface="Arial" panose="020B0604020202020204" pitchFamily="34" charset="0"/>
              </a:rPr>
              <a:t>Внимание</a:t>
            </a:r>
          </a:p>
        </p:txBody>
      </p:sp>
      <p:sp>
        <p:nvSpPr>
          <p:cNvPr id="31" name="Codex_S035P01_Card01_symbol">
            <a:extLst>
              <a:ext uri="{FF2B5EF4-FFF2-40B4-BE49-F238E27FC236}">
                <a16:creationId xmlns:a16="http://schemas.microsoft.com/office/drawing/2014/main" id="{8D6BD6F3-DAC1-2874-CB37-100368A45755}"/>
              </a:ext>
            </a:extLst>
          </p:cNvPr>
          <p:cNvSpPr txBox="1"/>
          <p:nvPr/>
        </p:nvSpPr>
        <p:spPr>
          <a:xfrm>
            <a:off x="1016000" y="3289300"/>
            <a:ext cx="2082800" cy="507831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pPr algn="ctr"/>
            <a:r>
              <a:rPr lang="ru-RU" sz="2300" b="1">
                <a:solidFill>
                  <a:srgbClr val="0038B8"/>
                </a:solidFill>
                <a:latin typeface="Arial" panose="020B0604020202020204" pitchFamily="34" charset="0"/>
              </a:rPr>
              <a:t>ЖЕСТ</a:t>
            </a:r>
          </a:p>
        </p:txBody>
      </p:sp>
      <p:sp>
        <p:nvSpPr>
          <p:cNvPr id="32" name="Codex_S035P01_Card01_note">
            <a:extLst>
              <a:ext uri="{FF2B5EF4-FFF2-40B4-BE49-F238E27FC236}">
                <a16:creationId xmlns:a16="http://schemas.microsoft.com/office/drawing/2014/main" id="{7C7F476B-49FE-9892-6C6E-D0D45742CFBA}"/>
              </a:ext>
            </a:extLst>
          </p:cNvPr>
          <p:cNvSpPr txBox="1"/>
          <p:nvPr/>
        </p:nvSpPr>
        <p:spPr>
          <a:xfrm>
            <a:off x="1016000" y="3581400"/>
            <a:ext cx="2082800" cy="284693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pPr algn="ctr"/>
            <a:r>
              <a:rPr lang="ru-RU" sz="850">
                <a:solidFill>
                  <a:srgbClr val="4B5563"/>
                </a:solidFill>
                <a:latin typeface="Arial" panose="020B0604020202020204" pitchFamily="34" charset="0"/>
              </a:rPr>
              <a:t>изображение будет добавлено</a:t>
            </a:r>
          </a:p>
        </p:txBody>
      </p:sp>
      <p:sp>
        <p:nvSpPr>
          <p:cNvPr id="33" name="Codex_S035P01_Card02_panel">
            <a:extLst>
              <a:ext uri="{FF2B5EF4-FFF2-40B4-BE49-F238E27FC236}">
                <a16:creationId xmlns:a16="http://schemas.microsoft.com/office/drawing/2014/main" id="{B35B34FF-1621-3065-FEBF-F069F12FF620}"/>
              </a:ext>
            </a:extLst>
          </p:cNvPr>
          <p:cNvSpPr/>
          <p:nvPr/>
        </p:nvSpPr>
        <p:spPr>
          <a:xfrm>
            <a:off x="3352800" y="2844800"/>
            <a:ext cx="2336800" cy="1066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Codex_S035P01_Card02_strip">
            <a:extLst>
              <a:ext uri="{FF2B5EF4-FFF2-40B4-BE49-F238E27FC236}">
                <a16:creationId xmlns:a16="http://schemas.microsoft.com/office/drawing/2014/main" id="{C1008E59-51A6-C44B-A666-0E35EBE5A4E5}"/>
              </a:ext>
            </a:extLst>
          </p:cNvPr>
          <p:cNvSpPr/>
          <p:nvPr/>
        </p:nvSpPr>
        <p:spPr>
          <a:xfrm>
            <a:off x="3352800" y="2844800"/>
            <a:ext cx="2336800" cy="38100"/>
          </a:xfrm>
          <a:prstGeom prst="rect">
            <a:avLst/>
          </a:prstGeom>
          <a:solidFill>
            <a:srgbClr val="0038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Codex_S035P01_Card02_title">
            <a:extLst>
              <a:ext uri="{FF2B5EF4-FFF2-40B4-BE49-F238E27FC236}">
                <a16:creationId xmlns:a16="http://schemas.microsoft.com/office/drawing/2014/main" id="{74F430BF-8386-A682-DD26-95A9E4D27AB5}"/>
              </a:ext>
            </a:extLst>
          </p:cNvPr>
          <p:cNvSpPr txBox="1"/>
          <p:nvPr/>
        </p:nvSpPr>
        <p:spPr>
          <a:xfrm>
            <a:off x="3454400" y="2971800"/>
            <a:ext cx="2133600" cy="326243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pPr algn="ctr"/>
            <a:r>
              <a:rPr lang="ru-RU" sz="1120" b="1">
                <a:solidFill>
                  <a:srgbClr val="111111"/>
                </a:solidFill>
                <a:latin typeface="Arial" panose="020B0604020202020204" pitchFamily="34" charset="0"/>
              </a:rPr>
              <a:t>Осторожно</a:t>
            </a:r>
          </a:p>
        </p:txBody>
      </p:sp>
      <p:sp>
        <p:nvSpPr>
          <p:cNvPr id="36" name="Codex_S035P01_Card02_symbol">
            <a:extLst>
              <a:ext uri="{FF2B5EF4-FFF2-40B4-BE49-F238E27FC236}">
                <a16:creationId xmlns:a16="http://schemas.microsoft.com/office/drawing/2014/main" id="{425EEEDC-9D33-6DE7-2CD2-EC0C19E6E517}"/>
              </a:ext>
            </a:extLst>
          </p:cNvPr>
          <p:cNvSpPr txBox="1"/>
          <p:nvPr/>
        </p:nvSpPr>
        <p:spPr>
          <a:xfrm>
            <a:off x="3479800" y="3289300"/>
            <a:ext cx="2082800" cy="507831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pPr algn="ctr"/>
            <a:r>
              <a:rPr lang="ru-RU" sz="2300" b="1">
                <a:solidFill>
                  <a:srgbClr val="0038B8"/>
                </a:solidFill>
                <a:latin typeface="Arial" panose="020B0604020202020204" pitchFamily="34" charset="0"/>
              </a:rPr>
              <a:t>ЖЕСТ</a:t>
            </a:r>
          </a:p>
        </p:txBody>
      </p:sp>
      <p:sp>
        <p:nvSpPr>
          <p:cNvPr id="37" name="Codex_S035P01_Card02_note">
            <a:extLst>
              <a:ext uri="{FF2B5EF4-FFF2-40B4-BE49-F238E27FC236}">
                <a16:creationId xmlns:a16="http://schemas.microsoft.com/office/drawing/2014/main" id="{72A3F538-3668-62C6-6B16-42AC12315DD0}"/>
              </a:ext>
            </a:extLst>
          </p:cNvPr>
          <p:cNvSpPr txBox="1"/>
          <p:nvPr/>
        </p:nvSpPr>
        <p:spPr>
          <a:xfrm>
            <a:off x="3479800" y="3581400"/>
            <a:ext cx="2082800" cy="284693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pPr algn="ctr"/>
            <a:r>
              <a:rPr lang="ru-RU" sz="850">
                <a:solidFill>
                  <a:srgbClr val="4B5563"/>
                </a:solidFill>
                <a:latin typeface="Arial" panose="020B0604020202020204" pitchFamily="34" charset="0"/>
              </a:rPr>
              <a:t>изображение будет добавлено</a:t>
            </a:r>
          </a:p>
        </p:txBody>
      </p:sp>
      <p:sp>
        <p:nvSpPr>
          <p:cNvPr id="38" name="Codex_S035P01_Card03_panel">
            <a:extLst>
              <a:ext uri="{FF2B5EF4-FFF2-40B4-BE49-F238E27FC236}">
                <a16:creationId xmlns:a16="http://schemas.microsoft.com/office/drawing/2014/main" id="{55D8ECF7-0827-9FF5-7AAB-128B6A8EFFC2}"/>
              </a:ext>
            </a:extLst>
          </p:cNvPr>
          <p:cNvSpPr/>
          <p:nvPr/>
        </p:nvSpPr>
        <p:spPr>
          <a:xfrm>
            <a:off x="5816600" y="2844800"/>
            <a:ext cx="2336800" cy="1066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Codex_S035P01_Card03_strip">
            <a:extLst>
              <a:ext uri="{FF2B5EF4-FFF2-40B4-BE49-F238E27FC236}">
                <a16:creationId xmlns:a16="http://schemas.microsoft.com/office/drawing/2014/main" id="{2051C7D2-2F38-0397-DB98-F8932E16B72E}"/>
              </a:ext>
            </a:extLst>
          </p:cNvPr>
          <p:cNvSpPr/>
          <p:nvPr/>
        </p:nvSpPr>
        <p:spPr>
          <a:xfrm>
            <a:off x="5816600" y="2844800"/>
            <a:ext cx="2336800" cy="38100"/>
          </a:xfrm>
          <a:prstGeom prst="rect">
            <a:avLst/>
          </a:prstGeom>
          <a:solidFill>
            <a:srgbClr val="0038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Codex_S035P01_Card03_title">
            <a:extLst>
              <a:ext uri="{FF2B5EF4-FFF2-40B4-BE49-F238E27FC236}">
                <a16:creationId xmlns:a16="http://schemas.microsoft.com/office/drawing/2014/main" id="{1EB7CBDC-18EF-F1DD-70E1-633761A4818C}"/>
              </a:ext>
            </a:extLst>
          </p:cNvPr>
          <p:cNvSpPr txBox="1"/>
          <p:nvPr/>
        </p:nvSpPr>
        <p:spPr>
          <a:xfrm>
            <a:off x="5918200" y="2971800"/>
            <a:ext cx="2133600" cy="326243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pPr algn="ctr"/>
            <a:r>
              <a:rPr lang="ru-RU" sz="1120" b="1">
                <a:solidFill>
                  <a:srgbClr val="111111"/>
                </a:solidFill>
                <a:latin typeface="Arial" panose="020B0604020202020204" pitchFamily="34" charset="0"/>
              </a:rPr>
              <a:t>Поднять груз</a:t>
            </a:r>
          </a:p>
        </p:txBody>
      </p:sp>
      <p:sp>
        <p:nvSpPr>
          <p:cNvPr id="41" name="Codex_S035P01_Card03_symbol">
            <a:extLst>
              <a:ext uri="{FF2B5EF4-FFF2-40B4-BE49-F238E27FC236}">
                <a16:creationId xmlns:a16="http://schemas.microsoft.com/office/drawing/2014/main" id="{402618E8-5996-268E-3C07-3E19FD4955C9}"/>
              </a:ext>
            </a:extLst>
          </p:cNvPr>
          <p:cNvSpPr txBox="1"/>
          <p:nvPr/>
        </p:nvSpPr>
        <p:spPr>
          <a:xfrm>
            <a:off x="5943600" y="3289300"/>
            <a:ext cx="2082800" cy="507831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pPr algn="ctr"/>
            <a:r>
              <a:rPr lang="ru-RU" sz="2300" b="1">
                <a:solidFill>
                  <a:srgbClr val="0038B8"/>
                </a:solidFill>
                <a:latin typeface="Arial" panose="020B0604020202020204" pitchFamily="34" charset="0"/>
              </a:rPr>
              <a:t>↑</a:t>
            </a:r>
          </a:p>
        </p:txBody>
      </p:sp>
      <p:sp>
        <p:nvSpPr>
          <p:cNvPr id="42" name="Codex_S035P01_Card03_note">
            <a:extLst>
              <a:ext uri="{FF2B5EF4-FFF2-40B4-BE49-F238E27FC236}">
                <a16:creationId xmlns:a16="http://schemas.microsoft.com/office/drawing/2014/main" id="{FADF86EA-443F-4618-93AC-A05738387E80}"/>
              </a:ext>
            </a:extLst>
          </p:cNvPr>
          <p:cNvSpPr txBox="1"/>
          <p:nvPr/>
        </p:nvSpPr>
        <p:spPr>
          <a:xfrm>
            <a:off x="5943600" y="3581400"/>
            <a:ext cx="2082800" cy="284693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pPr algn="ctr"/>
            <a:r>
              <a:rPr lang="ru-RU" sz="850">
                <a:solidFill>
                  <a:srgbClr val="4B5563"/>
                </a:solidFill>
                <a:latin typeface="Arial" panose="020B0604020202020204" pitchFamily="34" charset="0"/>
              </a:rPr>
              <a:t>направление вверх</a:t>
            </a:r>
          </a:p>
        </p:txBody>
      </p:sp>
      <p:sp>
        <p:nvSpPr>
          <p:cNvPr id="43" name="Codex_S035P01_Card04_panel">
            <a:extLst>
              <a:ext uri="{FF2B5EF4-FFF2-40B4-BE49-F238E27FC236}">
                <a16:creationId xmlns:a16="http://schemas.microsoft.com/office/drawing/2014/main" id="{E23C06E0-E568-521A-CFB8-5669039BD025}"/>
              </a:ext>
            </a:extLst>
          </p:cNvPr>
          <p:cNvSpPr/>
          <p:nvPr/>
        </p:nvSpPr>
        <p:spPr>
          <a:xfrm>
            <a:off x="8280400" y="2844800"/>
            <a:ext cx="2336800" cy="1066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Codex_S035P01_Card04_strip">
            <a:extLst>
              <a:ext uri="{FF2B5EF4-FFF2-40B4-BE49-F238E27FC236}">
                <a16:creationId xmlns:a16="http://schemas.microsoft.com/office/drawing/2014/main" id="{EB15ACEC-AADD-1DBF-2DE3-3C7880391766}"/>
              </a:ext>
            </a:extLst>
          </p:cNvPr>
          <p:cNvSpPr/>
          <p:nvPr/>
        </p:nvSpPr>
        <p:spPr>
          <a:xfrm>
            <a:off x="8280400" y="2844800"/>
            <a:ext cx="2336800" cy="38100"/>
          </a:xfrm>
          <a:prstGeom prst="rect">
            <a:avLst/>
          </a:prstGeom>
          <a:solidFill>
            <a:srgbClr val="0038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Codex_S035P01_Card04_title">
            <a:extLst>
              <a:ext uri="{FF2B5EF4-FFF2-40B4-BE49-F238E27FC236}">
                <a16:creationId xmlns:a16="http://schemas.microsoft.com/office/drawing/2014/main" id="{077B8FF4-5862-0E30-3FB6-164C9EBDB0E8}"/>
              </a:ext>
            </a:extLst>
          </p:cNvPr>
          <p:cNvSpPr txBox="1"/>
          <p:nvPr/>
        </p:nvSpPr>
        <p:spPr>
          <a:xfrm>
            <a:off x="8382000" y="2971800"/>
            <a:ext cx="2133600" cy="326243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pPr algn="ctr"/>
            <a:r>
              <a:rPr lang="ru-RU" sz="1120" b="1">
                <a:solidFill>
                  <a:srgbClr val="111111"/>
                </a:solidFill>
                <a:latin typeface="Arial" panose="020B0604020202020204" pitchFamily="34" charset="0"/>
              </a:rPr>
              <a:t>Опустить груз</a:t>
            </a:r>
          </a:p>
        </p:txBody>
      </p:sp>
      <p:sp>
        <p:nvSpPr>
          <p:cNvPr id="46" name="Codex_S035P01_Card04_symbol">
            <a:extLst>
              <a:ext uri="{FF2B5EF4-FFF2-40B4-BE49-F238E27FC236}">
                <a16:creationId xmlns:a16="http://schemas.microsoft.com/office/drawing/2014/main" id="{C5AE2B89-72E0-EF64-6899-4721F1453F18}"/>
              </a:ext>
            </a:extLst>
          </p:cNvPr>
          <p:cNvSpPr txBox="1"/>
          <p:nvPr/>
        </p:nvSpPr>
        <p:spPr>
          <a:xfrm>
            <a:off x="8407400" y="3289300"/>
            <a:ext cx="2082800" cy="507831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pPr algn="ctr"/>
            <a:r>
              <a:rPr lang="ru-RU" sz="2300" b="1">
                <a:solidFill>
                  <a:srgbClr val="0038B8"/>
                </a:solidFill>
                <a:latin typeface="Arial" panose="020B0604020202020204" pitchFamily="34" charset="0"/>
              </a:rPr>
              <a:t>↓</a:t>
            </a:r>
          </a:p>
        </p:txBody>
      </p:sp>
      <p:sp>
        <p:nvSpPr>
          <p:cNvPr id="47" name="Codex_S035P01_Card04_note">
            <a:extLst>
              <a:ext uri="{FF2B5EF4-FFF2-40B4-BE49-F238E27FC236}">
                <a16:creationId xmlns:a16="http://schemas.microsoft.com/office/drawing/2014/main" id="{8F34AEEA-1931-20DA-1FD3-6E4F5EA94E4D}"/>
              </a:ext>
            </a:extLst>
          </p:cNvPr>
          <p:cNvSpPr txBox="1"/>
          <p:nvPr/>
        </p:nvSpPr>
        <p:spPr>
          <a:xfrm>
            <a:off x="8407400" y="3581400"/>
            <a:ext cx="2082800" cy="284693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pPr algn="ctr"/>
            <a:r>
              <a:rPr lang="ru-RU" sz="850">
                <a:solidFill>
                  <a:srgbClr val="4B5563"/>
                </a:solidFill>
                <a:latin typeface="Arial" panose="020B0604020202020204" pitchFamily="34" charset="0"/>
              </a:rPr>
              <a:t>направление вниз</a:t>
            </a:r>
          </a:p>
        </p:txBody>
      </p:sp>
      <p:sp>
        <p:nvSpPr>
          <p:cNvPr id="48" name="Codex_S035P01_Card05_panel">
            <a:extLst>
              <a:ext uri="{FF2B5EF4-FFF2-40B4-BE49-F238E27FC236}">
                <a16:creationId xmlns:a16="http://schemas.microsoft.com/office/drawing/2014/main" id="{E1F4354D-D02D-89AC-4E94-6204336FCD89}"/>
              </a:ext>
            </a:extLst>
          </p:cNvPr>
          <p:cNvSpPr/>
          <p:nvPr/>
        </p:nvSpPr>
        <p:spPr>
          <a:xfrm>
            <a:off x="889000" y="4089400"/>
            <a:ext cx="3124200" cy="1066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9" name="Codex_S035P01_Card05_strip">
            <a:extLst>
              <a:ext uri="{FF2B5EF4-FFF2-40B4-BE49-F238E27FC236}">
                <a16:creationId xmlns:a16="http://schemas.microsoft.com/office/drawing/2014/main" id="{EB93B12A-7FAB-85BE-D0B7-FC17FF035966}"/>
              </a:ext>
            </a:extLst>
          </p:cNvPr>
          <p:cNvSpPr/>
          <p:nvPr/>
        </p:nvSpPr>
        <p:spPr>
          <a:xfrm>
            <a:off x="889000" y="4089400"/>
            <a:ext cx="3124200" cy="38100"/>
          </a:xfrm>
          <a:prstGeom prst="rect">
            <a:avLst/>
          </a:prstGeom>
          <a:solidFill>
            <a:srgbClr val="0038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0" name="Codex_S035P01_Card05_title">
            <a:extLst>
              <a:ext uri="{FF2B5EF4-FFF2-40B4-BE49-F238E27FC236}">
                <a16:creationId xmlns:a16="http://schemas.microsoft.com/office/drawing/2014/main" id="{2CD9C630-BBC1-8F95-B30F-FD8781EF7CC4}"/>
              </a:ext>
            </a:extLst>
          </p:cNvPr>
          <p:cNvSpPr txBox="1"/>
          <p:nvPr/>
        </p:nvSpPr>
        <p:spPr>
          <a:xfrm>
            <a:off x="990600" y="4216400"/>
            <a:ext cx="2921000" cy="326243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pPr algn="ctr"/>
            <a:r>
              <a:rPr lang="ru-RU" sz="1120" b="1">
                <a:solidFill>
                  <a:srgbClr val="111111"/>
                </a:solidFill>
                <a:latin typeface="Arial" panose="020B0604020202020204" pitchFamily="34" charset="0"/>
              </a:rPr>
              <a:t>Поднять / опустить стрелу</a:t>
            </a:r>
          </a:p>
        </p:txBody>
      </p:sp>
      <p:sp>
        <p:nvSpPr>
          <p:cNvPr id="51" name="Codex_S035P01_Card05_symbol">
            <a:extLst>
              <a:ext uri="{FF2B5EF4-FFF2-40B4-BE49-F238E27FC236}">
                <a16:creationId xmlns:a16="http://schemas.microsoft.com/office/drawing/2014/main" id="{34D547AF-714F-CAD4-9D65-4228E876AA13}"/>
              </a:ext>
            </a:extLst>
          </p:cNvPr>
          <p:cNvSpPr txBox="1"/>
          <p:nvPr/>
        </p:nvSpPr>
        <p:spPr>
          <a:xfrm>
            <a:off x="1016000" y="4533900"/>
            <a:ext cx="2870200" cy="507831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pPr algn="ctr"/>
            <a:r>
              <a:rPr lang="ru-RU" sz="2300" b="1">
                <a:solidFill>
                  <a:srgbClr val="0038B8"/>
                </a:solidFill>
                <a:latin typeface="Arial" panose="020B0604020202020204" pitchFamily="34" charset="0"/>
              </a:rPr>
              <a:t>↕</a:t>
            </a:r>
          </a:p>
        </p:txBody>
      </p:sp>
      <p:sp>
        <p:nvSpPr>
          <p:cNvPr id="52" name="Codex_S035P01_Card05_note">
            <a:extLst>
              <a:ext uri="{FF2B5EF4-FFF2-40B4-BE49-F238E27FC236}">
                <a16:creationId xmlns:a16="http://schemas.microsoft.com/office/drawing/2014/main" id="{0DA62BBB-7BDB-C45A-B2A0-A4EF1711D0E1}"/>
              </a:ext>
            </a:extLst>
          </p:cNvPr>
          <p:cNvSpPr txBox="1"/>
          <p:nvPr/>
        </p:nvSpPr>
        <p:spPr>
          <a:xfrm>
            <a:off x="1016000" y="4826000"/>
            <a:ext cx="2870200" cy="284693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pPr algn="ctr"/>
            <a:r>
              <a:rPr lang="ru-RU" sz="850">
                <a:solidFill>
                  <a:srgbClr val="4B5563"/>
                </a:solidFill>
                <a:latin typeface="Arial" panose="020B0604020202020204" pitchFamily="34" charset="0"/>
              </a:rPr>
              <a:t>вертикальное движение</a:t>
            </a:r>
          </a:p>
        </p:txBody>
      </p:sp>
      <p:sp>
        <p:nvSpPr>
          <p:cNvPr id="53" name="Codex_S035P01_Card06_panel">
            <a:extLst>
              <a:ext uri="{FF2B5EF4-FFF2-40B4-BE49-F238E27FC236}">
                <a16:creationId xmlns:a16="http://schemas.microsoft.com/office/drawing/2014/main" id="{A526B030-104F-7E56-771B-5FBBEB9659C7}"/>
              </a:ext>
            </a:extLst>
          </p:cNvPr>
          <p:cNvSpPr/>
          <p:nvPr/>
        </p:nvSpPr>
        <p:spPr>
          <a:xfrm>
            <a:off x="4203700" y="4089400"/>
            <a:ext cx="3124200" cy="1066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4" name="Codex_S035P01_Card06_strip">
            <a:extLst>
              <a:ext uri="{FF2B5EF4-FFF2-40B4-BE49-F238E27FC236}">
                <a16:creationId xmlns:a16="http://schemas.microsoft.com/office/drawing/2014/main" id="{B8E1FC85-9B3D-433F-F71A-C3F4F222B8B9}"/>
              </a:ext>
            </a:extLst>
          </p:cNvPr>
          <p:cNvSpPr/>
          <p:nvPr/>
        </p:nvSpPr>
        <p:spPr>
          <a:xfrm>
            <a:off x="4203700" y="4089400"/>
            <a:ext cx="3124200" cy="38100"/>
          </a:xfrm>
          <a:prstGeom prst="rect">
            <a:avLst/>
          </a:prstGeom>
          <a:solidFill>
            <a:srgbClr val="0038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5" name="Codex_S035P01_Card06_title">
            <a:extLst>
              <a:ext uri="{FF2B5EF4-FFF2-40B4-BE49-F238E27FC236}">
                <a16:creationId xmlns:a16="http://schemas.microsoft.com/office/drawing/2014/main" id="{932F788E-80B2-001D-58F0-DBD4D40C768F}"/>
              </a:ext>
            </a:extLst>
          </p:cNvPr>
          <p:cNvSpPr txBox="1"/>
          <p:nvPr/>
        </p:nvSpPr>
        <p:spPr>
          <a:xfrm>
            <a:off x="4305300" y="4216400"/>
            <a:ext cx="2921000" cy="326243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pPr algn="ctr"/>
            <a:r>
              <a:rPr lang="ru-RU" sz="1120" b="1">
                <a:solidFill>
                  <a:srgbClr val="111111"/>
                </a:solidFill>
                <a:latin typeface="Arial" panose="020B0604020202020204" pitchFamily="34" charset="0"/>
              </a:rPr>
              <a:t>Переместить стрелу</a:t>
            </a:r>
          </a:p>
        </p:txBody>
      </p:sp>
      <p:sp>
        <p:nvSpPr>
          <p:cNvPr id="56" name="Codex_S035P01_Card06_symbol">
            <a:extLst>
              <a:ext uri="{FF2B5EF4-FFF2-40B4-BE49-F238E27FC236}">
                <a16:creationId xmlns:a16="http://schemas.microsoft.com/office/drawing/2014/main" id="{1936C258-EFB9-A430-B0B0-D1D92F4AB188}"/>
              </a:ext>
            </a:extLst>
          </p:cNvPr>
          <p:cNvSpPr txBox="1"/>
          <p:nvPr/>
        </p:nvSpPr>
        <p:spPr>
          <a:xfrm>
            <a:off x="4330700" y="4533900"/>
            <a:ext cx="2870200" cy="507831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pPr algn="ctr"/>
            <a:r>
              <a:rPr lang="ru-RU" sz="2300" b="1">
                <a:solidFill>
                  <a:srgbClr val="0038B8"/>
                </a:solidFill>
                <a:latin typeface="Arial" panose="020B0604020202020204" pitchFamily="34" charset="0"/>
              </a:rPr>
              <a:t>↔</a:t>
            </a:r>
          </a:p>
        </p:txBody>
      </p:sp>
      <p:sp>
        <p:nvSpPr>
          <p:cNvPr id="57" name="Codex_S035P01_Card06_note">
            <a:extLst>
              <a:ext uri="{FF2B5EF4-FFF2-40B4-BE49-F238E27FC236}">
                <a16:creationId xmlns:a16="http://schemas.microsoft.com/office/drawing/2014/main" id="{B9E6F2CC-C000-9C82-7AC7-4BD173922B20}"/>
              </a:ext>
            </a:extLst>
          </p:cNvPr>
          <p:cNvSpPr txBox="1"/>
          <p:nvPr/>
        </p:nvSpPr>
        <p:spPr>
          <a:xfrm>
            <a:off x="4330700" y="4826000"/>
            <a:ext cx="2870200" cy="284693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pPr algn="ctr"/>
            <a:r>
              <a:rPr lang="ru-RU" sz="850">
                <a:solidFill>
                  <a:srgbClr val="4B5563"/>
                </a:solidFill>
                <a:latin typeface="Arial" panose="020B0604020202020204" pitchFamily="34" charset="0"/>
              </a:rPr>
              <a:t>влево / вправо</a:t>
            </a:r>
          </a:p>
        </p:txBody>
      </p:sp>
      <p:sp>
        <p:nvSpPr>
          <p:cNvPr id="58" name="Codex_S035P01_Card07_panel">
            <a:extLst>
              <a:ext uri="{FF2B5EF4-FFF2-40B4-BE49-F238E27FC236}">
                <a16:creationId xmlns:a16="http://schemas.microsoft.com/office/drawing/2014/main" id="{482028AE-CA5D-E1FB-CA5C-A2718773929B}"/>
              </a:ext>
            </a:extLst>
          </p:cNvPr>
          <p:cNvSpPr/>
          <p:nvPr/>
        </p:nvSpPr>
        <p:spPr>
          <a:xfrm>
            <a:off x="7518400" y="4089400"/>
            <a:ext cx="3124200" cy="1066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9" name="Codex_S035P01_Card07_strip">
            <a:extLst>
              <a:ext uri="{FF2B5EF4-FFF2-40B4-BE49-F238E27FC236}">
                <a16:creationId xmlns:a16="http://schemas.microsoft.com/office/drawing/2014/main" id="{2717EAD6-0161-C4DC-BF1F-02936AFF848F}"/>
              </a:ext>
            </a:extLst>
          </p:cNvPr>
          <p:cNvSpPr/>
          <p:nvPr/>
        </p:nvSpPr>
        <p:spPr>
          <a:xfrm>
            <a:off x="7518400" y="4089400"/>
            <a:ext cx="3124200" cy="38100"/>
          </a:xfrm>
          <a:prstGeom prst="rect">
            <a:avLst/>
          </a:prstGeom>
          <a:solidFill>
            <a:srgbClr val="0038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0" name="Codex_S035P01_Card07_title">
            <a:extLst>
              <a:ext uri="{FF2B5EF4-FFF2-40B4-BE49-F238E27FC236}">
                <a16:creationId xmlns:a16="http://schemas.microsoft.com/office/drawing/2014/main" id="{2FA2ADC2-2C73-CD12-9F4E-3B7D898FA5FF}"/>
              </a:ext>
            </a:extLst>
          </p:cNvPr>
          <p:cNvSpPr txBox="1"/>
          <p:nvPr/>
        </p:nvSpPr>
        <p:spPr>
          <a:xfrm>
            <a:off x="7620000" y="4216400"/>
            <a:ext cx="2921000" cy="326243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pPr algn="ctr"/>
            <a:r>
              <a:rPr lang="ru-RU" sz="1120" b="1">
                <a:solidFill>
                  <a:srgbClr val="111111"/>
                </a:solidFill>
                <a:latin typeface="Arial" panose="020B0604020202020204" pitchFamily="34" charset="0"/>
              </a:rPr>
              <a:t>Переместить тележку / кран</a:t>
            </a:r>
          </a:p>
        </p:txBody>
      </p:sp>
      <p:sp>
        <p:nvSpPr>
          <p:cNvPr id="61" name="Codex_S035P01_Card07_symbol">
            <a:extLst>
              <a:ext uri="{FF2B5EF4-FFF2-40B4-BE49-F238E27FC236}">
                <a16:creationId xmlns:a16="http://schemas.microsoft.com/office/drawing/2014/main" id="{78885DC2-F5FC-5FF2-D6C6-36D1BBD8D9EF}"/>
              </a:ext>
            </a:extLst>
          </p:cNvPr>
          <p:cNvSpPr txBox="1"/>
          <p:nvPr/>
        </p:nvSpPr>
        <p:spPr>
          <a:xfrm>
            <a:off x="7645400" y="4533900"/>
            <a:ext cx="2870200" cy="507831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pPr algn="ctr"/>
            <a:r>
              <a:rPr lang="ru-RU" sz="2300" b="1">
                <a:solidFill>
                  <a:srgbClr val="0038B8"/>
                </a:solidFill>
                <a:latin typeface="Arial" panose="020B0604020202020204" pitchFamily="34" charset="0"/>
              </a:rPr>
              <a:t>↔</a:t>
            </a:r>
          </a:p>
        </p:txBody>
      </p:sp>
      <p:sp>
        <p:nvSpPr>
          <p:cNvPr id="62" name="Codex_S035P01_Card07_note">
            <a:extLst>
              <a:ext uri="{FF2B5EF4-FFF2-40B4-BE49-F238E27FC236}">
                <a16:creationId xmlns:a16="http://schemas.microsoft.com/office/drawing/2014/main" id="{9F917EA5-2910-2A99-8331-77CF9EA77E93}"/>
              </a:ext>
            </a:extLst>
          </p:cNvPr>
          <p:cNvSpPr txBox="1"/>
          <p:nvPr/>
        </p:nvSpPr>
        <p:spPr>
          <a:xfrm>
            <a:off x="7645400" y="4826000"/>
            <a:ext cx="2870200" cy="284693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pPr algn="ctr"/>
            <a:r>
              <a:rPr lang="ru-RU" sz="850">
                <a:solidFill>
                  <a:srgbClr val="4B5563"/>
                </a:solidFill>
                <a:latin typeface="Arial" panose="020B0604020202020204" pitchFamily="34" charset="0"/>
              </a:rPr>
              <a:t>влево / вправо</a:t>
            </a:r>
          </a:p>
        </p:txBody>
      </p:sp>
      <p:sp>
        <p:nvSpPr>
          <p:cNvPr id="63" name="Codex_S035P01_Note">
            <a:extLst>
              <a:ext uri="{FF2B5EF4-FFF2-40B4-BE49-F238E27FC236}">
                <a16:creationId xmlns:a16="http://schemas.microsoft.com/office/drawing/2014/main" id="{D11789FD-337C-2C6D-D831-A81941713B3D}"/>
              </a:ext>
            </a:extLst>
          </p:cNvPr>
          <p:cNvSpPr txBox="1"/>
          <p:nvPr/>
        </p:nvSpPr>
        <p:spPr>
          <a:xfrm>
            <a:off x="889000" y="5308600"/>
            <a:ext cx="10033000" cy="289310"/>
          </a:xfrm>
          <a:prstGeom prst="rect">
            <a:avLst/>
          </a:prstGeom>
          <a:noFill/>
        </p:spPr>
        <p:txBody>
          <a:bodyPr vert="horz" wrap="square" lIns="101600" tIns="76200" rIns="101600" bIns="76200" rtlCol="0">
            <a:spAutoFit/>
          </a:bodyPr>
          <a:lstStyle/>
          <a:p>
            <a:r>
              <a:rPr lang="ru-RU" sz="880">
                <a:solidFill>
                  <a:srgbClr val="4B5563"/>
                </a:solidFill>
                <a:latin typeface="Arial" panose="020B0604020202020204" pitchFamily="34" charset="0"/>
              </a:rPr>
              <a:t>Карточки готовы под будущие изображения жестов и стрелки направления.</a:t>
            </a:r>
          </a:p>
        </p:txBody>
      </p:sp>
    </p:spTree>
    <p:extLst>
      <p:ext uri="{BB962C8B-B14F-4D97-AF65-F5344CB8AC3E}">
        <p14:creationId xmlns:p14="http://schemas.microsoft.com/office/powerpoint/2010/main" val="41719468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74320"/>
            <a:ext cx="1325880" cy="384048"/>
          </a:xfrm>
          <a:prstGeom prst="rect">
            <a:avLst/>
          </a:prstGeom>
          <a:noFill/>
        </p:spPr>
        <p:txBody>
          <a:bodyPr wrap="none" lIns="101600" tIns="76200" rIns="101600" bIns="76200">
            <a:spAutoFit/>
          </a:bodyPr>
          <a:lstStyle/>
          <a:p>
            <a:pPr algn="l"/>
            <a:r>
              <a:rPr sz="1000" b="1">
                <a:solidFill>
                  <a:srgbClr val="111111"/>
                </a:solidFill>
                <a:latin typeface="Arial"/>
              </a:rPr>
              <a:t>Тема 2.2</a:t>
            </a:r>
          </a:p>
          <a:p>
            <a:pPr algn="l"/>
            <a:r>
              <a:rPr sz="1000" b="1">
                <a:solidFill>
                  <a:srgbClr val="111111"/>
                </a:solidFill>
                <a:latin typeface="Arial"/>
              </a:rPr>
              <a:t>Технология работы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04120" y="310896"/>
            <a:ext cx="1051560" cy="310896"/>
          </a:xfrm>
          <a:prstGeom prst="round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1600" tIns="76200" rIns="101600" bIns="7620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rial"/>
              </a:rPr>
              <a:t>S036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5216" y="850392"/>
            <a:ext cx="5669280" cy="523220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r>
              <a:rPr lang="ru-RU" sz="2400" b="1">
                <a:solidFill>
                  <a:srgbClr val="111111"/>
                </a:solidFill>
                <a:latin typeface="Arial" panose="020B0604020202020204" pitchFamily="34" charset="0"/>
              </a:rPr>
              <a:t>Команда Стоп и неясные сигналы</a:t>
            </a:r>
            <a:endParaRPr sz="24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76656" y="1828800"/>
            <a:ext cx="4069080" cy="3913632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76656" y="2139696"/>
            <a:ext cx="4069080" cy="310896"/>
          </a:xfrm>
          <a:prstGeom prst="roundRect">
            <a:avLst>
              <a:gd name="adj" fmla="val 193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l"/>
            <a:r>
              <a:rPr lang="ru-RU" sz="1300" b="1">
                <a:solidFill>
                  <a:srgbClr val="111111"/>
                </a:solidFill>
                <a:latin typeface="Arial"/>
              </a:rPr>
              <a:t>Когда работу останавливают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6112" y="2670048"/>
            <a:ext cx="3685032" cy="2706624"/>
          </a:xfrm>
          <a:prstGeom prst="rect">
            <a:avLst/>
          </a:prstGeom>
          <a:noFill/>
        </p:spPr>
        <p:txBody>
          <a:bodyPr wrap="square" lIns="127000" tIns="76200" rIns="101600" bIns="76200">
            <a:spAutoFit/>
          </a:bodyPr>
          <a:lstStyle/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111111"/>
                </a:solidFill>
                <a:latin typeface="Arial"/>
              </a:rPr>
              <a:t>Стоп обязателен к исполнению</a:t>
            </a:r>
          </a:p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111111"/>
                </a:solidFill>
                <a:latin typeface="Arial"/>
              </a:rPr>
              <a:t>Неясный сигнал — остановка</a:t>
            </a:r>
          </a:p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111111"/>
                </a:solidFill>
                <a:latin typeface="Arial"/>
              </a:rPr>
              <a:t>Плохая видимость — остановка</a:t>
            </a:r>
          </a:p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111111"/>
                </a:solidFill>
                <a:latin typeface="Arial"/>
              </a:rPr>
              <a:t>Нет уверенного взаимодействия — остановка</a:t>
            </a:r>
            <a:endParaRPr dirty="0">
              <a:solidFill>
                <a:srgbClr val="212B36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736592" y="1828800"/>
            <a:ext cx="6428232" cy="3913632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919472" y="5394960"/>
            <a:ext cx="6062472" cy="219456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r>
              <a:t>Команда «Стоп» имеет безусловный приоритет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5989320"/>
            <a:ext cx="16916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/>
            <a:r>
              <a:rPr lang="ru-RU" sz="1200" b="1">
                <a:solidFill>
                  <a:srgbClr val="4B5563"/>
                </a:solidFill>
                <a:latin typeface="Arial"/>
              </a:rPr>
              <a:t>Назад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47B5600D-ABEB-7396-BEFC-CB9060117184}"/>
              </a:ext>
            </a:extLst>
          </p:cNvPr>
          <p:cNvSpPr/>
          <p:nvPr/>
        </p:nvSpPr>
        <p:spPr>
          <a:xfrm>
            <a:off x="9281160" y="5989320"/>
            <a:ext cx="1901952" cy="347472"/>
          </a:xfrm>
          <a:prstGeom prst="round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/>
            <a:r>
              <a:rPr lang="ru-RU" sz="1200" b="1">
                <a:solidFill>
                  <a:srgbClr val="FFFFFF"/>
                </a:solidFill>
                <a:latin typeface="Arial"/>
              </a:rPr>
              <a:t>Далее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" y="676656"/>
            <a:ext cx="1024128" cy="45720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76656" y="1828800"/>
            <a:ext cx="406908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86384" y="1920240"/>
            <a:ext cx="777240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850" b="1">
                <a:solidFill>
                  <a:srgbClr val="0038B8"/>
                </a:solidFill>
                <a:latin typeface="Arial"/>
              </a:rPr>
              <a:t>Шаг 03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21608" y="1920240"/>
            <a:ext cx="914400" cy="201168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850" b="1">
                <a:solidFill>
                  <a:srgbClr val="C51F1F"/>
                </a:solidFill>
                <a:latin typeface="Arial"/>
              </a:rPr>
              <a:t>Критично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384" y="2359152"/>
            <a:ext cx="3849624" cy="16459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882896" y="2505456"/>
            <a:ext cx="6135624" cy="1097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736592" y="1828800"/>
            <a:ext cx="6428232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846320" y="1920240"/>
            <a:ext cx="868680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850" b="1">
                <a:solidFill>
                  <a:srgbClr val="0038B8"/>
                </a:solidFill>
                <a:latin typeface="Arial"/>
              </a:rPr>
              <a:t>S036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15584" y="1920240"/>
            <a:ext cx="77724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850" b="1">
                <a:solidFill>
                  <a:srgbClr val="4B5563"/>
                </a:solidFill>
                <a:latin typeface="Arial"/>
              </a:rPr>
              <a:t>Шаг 03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140696" y="1920240"/>
            <a:ext cx="914400" cy="201168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850" b="1">
                <a:solidFill>
                  <a:srgbClr val="C51F1F"/>
                </a:solidFill>
                <a:latin typeface="Arial"/>
              </a:rPr>
              <a:t>Критично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2176272"/>
            <a:ext cx="6208776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11111"/>
                </a:solidFill>
                <a:latin typeface="Arial"/>
              </a:rPr>
              <a:t>Приоритет остановки</a:t>
            </a:r>
          </a:p>
        </p:txBody>
      </p:sp>
      <p:pic>
        <p:nvPicPr>
          <p:cNvPr id="24" name="Picture 23" descr="S031-P05_stop-prioritet_po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8564" y="2633472"/>
            <a:ext cx="4844288" cy="2724912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4901184" y="5303520"/>
            <a:ext cx="6099048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1318326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74320"/>
            <a:ext cx="1325880" cy="384048"/>
          </a:xfrm>
          <a:prstGeom prst="rect">
            <a:avLst/>
          </a:prstGeom>
          <a:noFill/>
        </p:spPr>
        <p:txBody>
          <a:bodyPr wrap="none" lIns="101600" tIns="76200" rIns="101600" bIns="76200">
            <a:spAutoFit/>
          </a:bodyPr>
          <a:lstStyle/>
          <a:p>
            <a:pPr algn="l"/>
            <a:r>
              <a:rPr sz="1000" b="1">
                <a:solidFill>
                  <a:srgbClr val="111111"/>
                </a:solidFill>
                <a:latin typeface="Arial"/>
              </a:rPr>
              <a:t>Тема 2.2</a:t>
            </a:r>
          </a:p>
          <a:p>
            <a:pPr algn="l"/>
            <a:r>
              <a:rPr sz="1000" b="1">
                <a:solidFill>
                  <a:srgbClr val="111111"/>
                </a:solidFill>
                <a:latin typeface="Arial"/>
              </a:rPr>
              <a:t>Технология работы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04120" y="310896"/>
            <a:ext cx="1051560" cy="310896"/>
          </a:xfrm>
          <a:prstGeom prst="round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1600" tIns="76200" rIns="101600" bIns="7620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rial"/>
              </a:rPr>
              <a:t>S037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5216" y="850392"/>
            <a:ext cx="5669280" cy="892552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r>
              <a:rPr lang="ru-RU" sz="2400" b="1">
                <a:solidFill>
                  <a:srgbClr val="111111"/>
                </a:solidFill>
                <a:latin typeface="Arial" panose="020B0604020202020204" pitchFamily="34" charset="0"/>
              </a:rPr>
              <a:t>Перемещение и сопровождение груза</a:t>
            </a:r>
            <a:endParaRPr sz="24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76656" y="1828800"/>
            <a:ext cx="4069080" cy="3913632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76656" y="2139696"/>
            <a:ext cx="4069080" cy="310896"/>
          </a:xfrm>
          <a:prstGeom prst="roundRect">
            <a:avLst>
              <a:gd name="adj" fmla="val 193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l"/>
            <a:r>
              <a:rPr lang="ru-RU" sz="1300" b="1">
                <a:solidFill>
                  <a:srgbClr val="111111"/>
                </a:solidFill>
                <a:latin typeface="Arial"/>
              </a:rPr>
              <a:t>Безопасная траектория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6112" y="2670048"/>
            <a:ext cx="3685032" cy="2706624"/>
          </a:xfrm>
          <a:prstGeom prst="rect">
            <a:avLst/>
          </a:prstGeom>
          <a:noFill/>
        </p:spPr>
        <p:txBody>
          <a:bodyPr wrap="square" lIns="127000" tIns="76200" rIns="101600" bIns="76200">
            <a:spAutoFit/>
          </a:bodyPr>
          <a:lstStyle/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111111"/>
                </a:solidFill>
                <a:latin typeface="Arial"/>
              </a:rPr>
              <a:t>Контролируй траекторию</a:t>
            </a:r>
          </a:p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111111"/>
                </a:solidFill>
                <a:latin typeface="Arial"/>
              </a:rPr>
              <a:t>Не заходи в опасную зону</a:t>
            </a:r>
          </a:p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111111"/>
                </a:solidFill>
                <a:latin typeface="Arial"/>
              </a:rPr>
              <a:t>Работай с оттяжкой при необходимости</a:t>
            </a:r>
          </a:p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111111"/>
                </a:solidFill>
                <a:latin typeface="Arial"/>
              </a:rPr>
              <a:t>Не находись под грузом</a:t>
            </a:r>
          </a:p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111111"/>
                </a:solidFill>
                <a:latin typeface="Arial"/>
              </a:rPr>
              <a:t>Удерживай груз безопасно</a:t>
            </a:r>
            <a:endParaRPr dirty="0">
              <a:solidFill>
                <a:srgbClr val="212B36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736592" y="1828800"/>
            <a:ext cx="6428232" cy="3913632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919472" y="5394960"/>
            <a:ext cx="6062472" cy="219456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r>
              <a:t>Опасная зона и безопасная позиция при перемещении груза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5989320"/>
            <a:ext cx="16916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/>
            <a:r>
              <a:rPr lang="ru-RU" sz="1200" b="1">
                <a:solidFill>
                  <a:srgbClr val="4B5563"/>
                </a:solidFill>
                <a:latin typeface="Arial"/>
              </a:rPr>
              <a:t>Назад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47B5600D-ABEB-7396-BEFC-CB9060117184}"/>
              </a:ext>
            </a:extLst>
          </p:cNvPr>
          <p:cNvSpPr/>
          <p:nvPr/>
        </p:nvSpPr>
        <p:spPr>
          <a:xfrm>
            <a:off x="9281160" y="5989320"/>
            <a:ext cx="1901952" cy="347472"/>
          </a:xfrm>
          <a:prstGeom prst="round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/>
            <a:r>
              <a:rPr lang="ru-RU" sz="1200" b="1">
                <a:solidFill>
                  <a:srgbClr val="FFFFFF"/>
                </a:solidFill>
                <a:latin typeface="Arial"/>
              </a:rPr>
              <a:t>Далее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" y="676656"/>
            <a:ext cx="1024128" cy="45720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76656" y="1828800"/>
            <a:ext cx="406908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86384" y="1920240"/>
            <a:ext cx="777240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850" b="1">
                <a:solidFill>
                  <a:srgbClr val="0038B8"/>
                </a:solidFill>
                <a:latin typeface="Arial"/>
              </a:rPr>
              <a:t>Шаг 04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21608" y="1920240"/>
            <a:ext cx="91440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850" b="1">
                <a:solidFill>
                  <a:srgbClr val="4B5563"/>
                </a:solidFill>
                <a:latin typeface="Arial"/>
              </a:rPr>
              <a:t>Контроль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384" y="2359152"/>
            <a:ext cx="3849624" cy="16459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882896" y="2505456"/>
            <a:ext cx="6135624" cy="1097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736592" y="1828800"/>
            <a:ext cx="6428232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846320" y="1920240"/>
            <a:ext cx="868680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850" b="1">
                <a:solidFill>
                  <a:srgbClr val="0038B8"/>
                </a:solidFill>
                <a:latin typeface="Arial"/>
              </a:rPr>
              <a:t>S037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15584" y="1920240"/>
            <a:ext cx="77724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850" b="1">
                <a:solidFill>
                  <a:srgbClr val="4B5563"/>
                </a:solidFill>
                <a:latin typeface="Arial"/>
              </a:rPr>
              <a:t>Шаг 04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140696" y="1920240"/>
            <a:ext cx="914400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850" b="1">
                <a:solidFill>
                  <a:srgbClr val="0038B8"/>
                </a:solidFill>
                <a:latin typeface="Arial"/>
              </a:rPr>
              <a:t>Контроль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2176272"/>
            <a:ext cx="6208776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11111"/>
                </a:solidFill>
                <a:latin typeface="Arial"/>
              </a:rPr>
              <a:t>Опасная зона</a:t>
            </a:r>
          </a:p>
        </p:txBody>
      </p:sp>
      <p:pic>
        <p:nvPicPr>
          <p:cNvPr id="24" name="Picture 23" descr="S031-P08_opasnaia-zona_movement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8564" y="2633472"/>
            <a:ext cx="4844288" cy="2724912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4901184" y="5303520"/>
            <a:ext cx="6099048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2683974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74320"/>
            <a:ext cx="1325880" cy="384048"/>
          </a:xfrm>
          <a:prstGeom prst="rect">
            <a:avLst/>
          </a:prstGeom>
          <a:noFill/>
        </p:spPr>
        <p:txBody>
          <a:bodyPr wrap="none" lIns="101600" tIns="76200" rIns="101600" bIns="76200">
            <a:spAutoFit/>
          </a:bodyPr>
          <a:lstStyle/>
          <a:p>
            <a:pPr algn="l"/>
            <a:r>
              <a:rPr sz="1000" b="1">
                <a:solidFill>
                  <a:srgbClr val="111111"/>
                </a:solidFill>
                <a:latin typeface="Arial"/>
              </a:rPr>
              <a:t>Тема 2.2</a:t>
            </a:r>
          </a:p>
          <a:p>
            <a:pPr algn="l"/>
            <a:r>
              <a:rPr sz="1000" b="1">
                <a:solidFill>
                  <a:srgbClr val="111111"/>
                </a:solidFill>
                <a:latin typeface="Arial"/>
              </a:rPr>
              <a:t>Технология работы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48672" y="310896"/>
            <a:ext cx="1207008" cy="310896"/>
          </a:xfrm>
          <a:prstGeom prst="round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1600" tIns="76200" rIns="101600" bIns="76200"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rial"/>
              </a:rPr>
              <a:t>S037-P01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5216" y="850392"/>
            <a:ext cx="5669280" cy="731520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 algn="l"/>
            <a:r>
              <a:rPr lang="ru-RU" sz="2400" b="1">
                <a:solidFill>
                  <a:srgbClr val="111111"/>
                </a:solidFill>
                <a:latin typeface="Arial"/>
              </a:rPr>
              <a:t>Подвал. Опасная зона при перемещении груза</a:t>
            </a:r>
            <a:endParaRPr>
              <a:solidFill>
                <a:srgbClr val="6E7A86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76656" y="1828800"/>
            <a:ext cx="4069080" cy="3913632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76656" y="2139696"/>
            <a:ext cx="4069080" cy="310896"/>
          </a:xfrm>
          <a:prstGeom prst="roundRect">
            <a:avLst>
              <a:gd name="adj" fmla="val 193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l"/>
            <a:r>
              <a:rPr lang="ru-RU" sz="1300" b="1">
                <a:solidFill>
                  <a:srgbClr val="111111"/>
                </a:solidFill>
                <a:latin typeface="Arial"/>
              </a:rPr>
              <a:t>Что нужно показать отдельно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6112" y="2670048"/>
            <a:ext cx="3685032" cy="2706624"/>
          </a:xfrm>
          <a:prstGeom prst="rect">
            <a:avLst/>
          </a:prstGeom>
          <a:noFill/>
        </p:spPr>
        <p:txBody>
          <a:bodyPr wrap="square" lIns="127000" tIns="76200" rIns="101600" bIns="76200">
            <a:spAutoFit/>
          </a:bodyPr>
          <a:lstStyle/>
          <a:p>
            <a:pPr algn="l">
              <a:spcAft>
                <a:spcPts val="800"/>
              </a:spcAft>
            </a:pPr>
            <a:r>
              <a:rPr lang="ru-RU" sz="1300" b="0">
                <a:solidFill>
                  <a:srgbClr val="111111"/>
                </a:solidFill>
                <a:latin typeface="Arial"/>
              </a:rPr>
              <a:t>Опасная зона:</a:t>
            </a:r>
          </a:p>
          <a:p>
            <a:pPr algn="l">
              <a:spcAft>
                <a:spcPts val="800"/>
              </a:spcAft>
            </a:pPr>
            <a:r>
              <a:rPr lang="ru-RU" sz="1300" b="0">
                <a:solidFill>
                  <a:srgbClr val="111111"/>
                </a:solidFill>
                <a:latin typeface="Arial"/>
              </a:rPr>
              <a:t>- траектория груза</a:t>
            </a:r>
          </a:p>
          <a:p>
            <a:pPr algn="l">
              <a:spcAft>
                <a:spcPts val="800"/>
              </a:spcAft>
            </a:pPr>
            <a:r>
              <a:rPr lang="ru-RU" sz="1300" b="0">
                <a:solidFill>
                  <a:srgbClr val="111111"/>
                </a:solidFill>
                <a:latin typeface="Arial"/>
              </a:rPr>
              <a:t>- возможное раскачивание</a:t>
            </a:r>
          </a:p>
          <a:p>
            <a:pPr algn="l">
              <a:spcAft>
                <a:spcPts val="800"/>
              </a:spcAft>
            </a:pPr>
            <a:r>
              <a:rPr lang="ru-RU" sz="1300" b="0">
                <a:solidFill>
                  <a:srgbClr val="111111"/>
                </a:solidFill>
                <a:latin typeface="Arial"/>
              </a:rPr>
              <a:t>- зона падения</a:t>
            </a:r>
          </a:p>
          <a:p>
            <a:pPr algn="l">
              <a:spcAft>
                <a:spcPts val="800"/>
              </a:spcAft>
            </a:pPr>
            <a:r>
              <a:rPr lang="ru-RU" sz="1300" b="0">
                <a:solidFill>
                  <a:srgbClr val="111111"/>
                </a:solidFill>
                <a:latin typeface="Arial"/>
              </a:rPr>
              <a:t>- запрещенные позиции людей</a:t>
            </a:r>
            <a:endParaRPr dirty="0">
              <a:solidFill>
                <a:srgbClr val="212B36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736592" y="1828800"/>
            <a:ext cx="6428232" cy="3913632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919472" y="5394960"/>
            <a:ext cx="6062472" cy="219456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r>
              <a:t>Схема опасной зоны для отдельного разбора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5989320"/>
            <a:ext cx="16916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/>
            <a:r>
              <a:rPr lang="ru-RU" sz="1200" b="1">
                <a:solidFill>
                  <a:srgbClr val="4B5563"/>
                </a:solidFill>
                <a:latin typeface="Arial"/>
              </a:rPr>
              <a:t>Назад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47B5600D-ABEB-7396-BEFC-CB9060117184}"/>
              </a:ext>
            </a:extLst>
          </p:cNvPr>
          <p:cNvSpPr/>
          <p:nvPr/>
        </p:nvSpPr>
        <p:spPr>
          <a:xfrm>
            <a:off x="9281160" y="5989320"/>
            <a:ext cx="1901952" cy="347472"/>
          </a:xfrm>
          <a:prstGeom prst="round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/>
            <a:r>
              <a:rPr lang="ru-RU" sz="1200" b="1">
                <a:solidFill>
                  <a:srgbClr val="FFFFFF"/>
                </a:solidFill>
                <a:latin typeface="Arial"/>
              </a:rPr>
              <a:t>Далее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" y="676656"/>
            <a:ext cx="1024128" cy="45720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76656" y="1828800"/>
            <a:ext cx="406908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86384" y="1920240"/>
            <a:ext cx="777240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850" b="1">
                <a:solidFill>
                  <a:srgbClr val="0038B8"/>
                </a:solidFill>
                <a:latin typeface="Arial"/>
              </a:rPr>
              <a:t>Шаг 04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21608" y="1920240"/>
            <a:ext cx="914400" cy="201168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850" b="1">
                <a:solidFill>
                  <a:srgbClr val="C51F1F"/>
                </a:solidFill>
                <a:latin typeface="Arial"/>
              </a:rPr>
              <a:t>Критично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384" y="2359152"/>
            <a:ext cx="3849624" cy="16459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882896" y="2505456"/>
            <a:ext cx="6135624" cy="1097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736592" y="1828800"/>
            <a:ext cx="6428232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846320" y="1920240"/>
            <a:ext cx="1024128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850" b="1">
                <a:solidFill>
                  <a:srgbClr val="0038B8"/>
                </a:solidFill>
                <a:latin typeface="Arial"/>
              </a:rPr>
              <a:t>S037-P01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71032" y="1920240"/>
            <a:ext cx="77724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850" b="1">
                <a:solidFill>
                  <a:srgbClr val="4B5563"/>
                </a:solidFill>
                <a:latin typeface="Arial"/>
              </a:rPr>
              <a:t>Шаг 04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140696" y="1920240"/>
            <a:ext cx="914400" cy="201168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850" b="1">
                <a:solidFill>
                  <a:srgbClr val="C51F1F"/>
                </a:solidFill>
                <a:latin typeface="Arial"/>
              </a:rPr>
              <a:t>Критично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2176272"/>
            <a:ext cx="6208776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11111"/>
                </a:solidFill>
                <a:latin typeface="Arial"/>
              </a:rPr>
              <a:t>Контур опасной зоны</a:t>
            </a:r>
          </a:p>
        </p:txBody>
      </p:sp>
      <p:pic>
        <p:nvPicPr>
          <p:cNvPr id="24" name="Picture 23" descr="S031-P08_opasnaia-zona_movement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8564" y="2633472"/>
            <a:ext cx="4844288" cy="2724912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4901184" y="5303520"/>
            <a:ext cx="6099048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3269242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74320"/>
            <a:ext cx="1325880" cy="384048"/>
          </a:xfrm>
          <a:prstGeom prst="rect">
            <a:avLst/>
          </a:prstGeom>
          <a:noFill/>
        </p:spPr>
        <p:txBody>
          <a:bodyPr wrap="none" lIns="101600" tIns="76200" rIns="101600" bIns="76200">
            <a:spAutoFit/>
          </a:bodyPr>
          <a:lstStyle/>
          <a:p>
            <a:pPr algn="l"/>
            <a:r>
              <a:rPr sz="1000" b="1">
                <a:solidFill>
                  <a:srgbClr val="111111"/>
                </a:solidFill>
                <a:latin typeface="Arial"/>
              </a:rPr>
              <a:t>Тема 2.2</a:t>
            </a:r>
          </a:p>
          <a:p>
            <a:pPr algn="l"/>
            <a:r>
              <a:rPr sz="1000" b="1">
                <a:solidFill>
                  <a:srgbClr val="111111"/>
                </a:solidFill>
                <a:latin typeface="Arial"/>
              </a:rPr>
              <a:t>Технология работы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02368" y="310896"/>
            <a:ext cx="1353312" cy="310896"/>
          </a:xfrm>
          <a:prstGeom prst="round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1600" tIns="76200" rIns="101600" bIns="76200"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rial"/>
              </a:rPr>
              <a:t>S037-PP01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5216" y="850392"/>
            <a:ext cx="5669280" cy="731520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 algn="l"/>
            <a:r>
              <a:rPr lang="ru-RU" sz="2700" b="1">
                <a:solidFill>
                  <a:srgbClr val="111111"/>
                </a:solidFill>
                <a:latin typeface="Arial"/>
              </a:rPr>
              <a:t>Подподвал. Работа с оттяжкой</a:t>
            </a:r>
            <a:endParaRPr>
              <a:solidFill>
                <a:srgbClr val="6E7A86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76656" y="1828800"/>
            <a:ext cx="4069080" cy="3913632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76656" y="2139696"/>
            <a:ext cx="4069080" cy="310896"/>
          </a:xfrm>
          <a:prstGeom prst="roundRect">
            <a:avLst>
              <a:gd name="adj" fmla="val 193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l"/>
            <a:r>
              <a:rPr lang="ru-RU" sz="1300" b="1">
                <a:solidFill>
                  <a:srgbClr val="111111"/>
                </a:solidFill>
                <a:latin typeface="Arial"/>
              </a:rPr>
              <a:t>Как использовать оттяжку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6112" y="2670048"/>
            <a:ext cx="3685032" cy="2706624"/>
          </a:xfrm>
          <a:prstGeom prst="rect">
            <a:avLst/>
          </a:prstGeom>
          <a:noFill/>
        </p:spPr>
        <p:txBody>
          <a:bodyPr wrap="square" lIns="127000" tIns="76200" rIns="101600" bIns="76200">
            <a:spAutoFit/>
          </a:bodyPr>
          <a:lstStyle/>
          <a:p>
            <a:pPr algn="l">
              <a:spcAft>
                <a:spcPts val="800"/>
              </a:spcAft>
            </a:pPr>
            <a:r>
              <a:rPr lang="ru-RU" sz="1300" b="0">
                <a:solidFill>
                  <a:srgbClr val="111111"/>
                </a:solidFill>
                <a:latin typeface="Arial"/>
              </a:rPr>
              <a:t>Оттяжка нужна:</a:t>
            </a:r>
          </a:p>
          <a:p>
            <a:pPr algn="l">
              <a:spcAft>
                <a:spcPts val="800"/>
              </a:spcAft>
            </a:pPr>
            <a:r>
              <a:rPr lang="ru-RU" sz="1300" b="0">
                <a:solidFill>
                  <a:srgbClr val="111111"/>
                </a:solidFill>
                <a:latin typeface="Arial"/>
              </a:rPr>
              <a:t>- чтобы удерживать груз от разворота</a:t>
            </a:r>
          </a:p>
          <a:p>
            <a:pPr algn="l">
              <a:spcAft>
                <a:spcPts val="800"/>
              </a:spcAft>
            </a:pPr>
            <a:r>
              <a:rPr lang="ru-RU" sz="1300" b="0">
                <a:solidFill>
                  <a:srgbClr val="111111"/>
                </a:solidFill>
                <a:latin typeface="Arial"/>
              </a:rPr>
              <a:t>- чтобы уменьшать раскачивание</a:t>
            </a:r>
          </a:p>
          <a:p>
            <a:pPr algn="l">
              <a:spcAft>
                <a:spcPts val="800"/>
              </a:spcAft>
            </a:pPr>
            <a:r>
              <a:rPr lang="ru-RU" sz="1300" b="0">
                <a:solidFill>
                  <a:srgbClr val="111111"/>
                </a:solidFill>
                <a:latin typeface="Arial"/>
              </a:rPr>
              <a:t>- чтобы сопровождать груз на дистанции</a:t>
            </a:r>
            <a:endParaRPr dirty="0">
              <a:solidFill>
                <a:srgbClr val="212B36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736592" y="1828800"/>
            <a:ext cx="6428232" cy="3913632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919472" y="5394960"/>
            <a:ext cx="6062472" cy="219456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r>
              <a:t>Работа с оттяжкой только на безопасной дистанции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5989320"/>
            <a:ext cx="16916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/>
            <a:r>
              <a:rPr lang="ru-RU" sz="1200" b="1">
                <a:solidFill>
                  <a:srgbClr val="4B5563"/>
                </a:solidFill>
                <a:latin typeface="Arial"/>
              </a:rPr>
              <a:t>Назад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47B5600D-ABEB-7396-BEFC-CB9060117184}"/>
              </a:ext>
            </a:extLst>
          </p:cNvPr>
          <p:cNvSpPr/>
          <p:nvPr/>
        </p:nvSpPr>
        <p:spPr>
          <a:xfrm>
            <a:off x="9281160" y="5989320"/>
            <a:ext cx="1901952" cy="347472"/>
          </a:xfrm>
          <a:prstGeom prst="round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/>
            <a:r>
              <a:rPr lang="ru-RU" sz="1200" b="1">
                <a:solidFill>
                  <a:srgbClr val="FFFFFF"/>
                </a:solidFill>
                <a:latin typeface="Arial"/>
              </a:rPr>
              <a:t>Далее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" y="676656"/>
            <a:ext cx="1024128" cy="45720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76656" y="1828800"/>
            <a:ext cx="406908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86384" y="1920240"/>
            <a:ext cx="777240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850" b="1">
                <a:solidFill>
                  <a:srgbClr val="0038B8"/>
                </a:solidFill>
                <a:latin typeface="Arial"/>
              </a:rPr>
              <a:t>Шаг 04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21608" y="1920240"/>
            <a:ext cx="91440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850" b="1">
                <a:solidFill>
                  <a:srgbClr val="4B5563"/>
                </a:solidFill>
                <a:latin typeface="Arial"/>
              </a:rPr>
              <a:t>Опора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384" y="2359152"/>
            <a:ext cx="3849624" cy="16459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882896" y="2505456"/>
            <a:ext cx="6135624" cy="1097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736592" y="1828800"/>
            <a:ext cx="6428232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846320" y="1920240"/>
            <a:ext cx="1024128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850" b="1">
                <a:solidFill>
                  <a:srgbClr val="0038B8"/>
                </a:solidFill>
                <a:latin typeface="Arial"/>
              </a:rPr>
              <a:t>S037-PP01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71032" y="1920240"/>
            <a:ext cx="77724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850" b="1">
                <a:solidFill>
                  <a:srgbClr val="4B5563"/>
                </a:solidFill>
                <a:latin typeface="Arial"/>
              </a:rPr>
              <a:t>Шаг 04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140696" y="1920240"/>
            <a:ext cx="914400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850" b="1">
                <a:solidFill>
                  <a:srgbClr val="0038B8"/>
                </a:solidFill>
                <a:latin typeface="Arial"/>
              </a:rPr>
              <a:t>Опора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2176272"/>
            <a:ext cx="6208776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11111"/>
                </a:solidFill>
                <a:latin typeface="Arial"/>
              </a:rPr>
              <a:t>Сопровождение груза</a:t>
            </a:r>
          </a:p>
        </p:txBody>
      </p:sp>
      <p:pic>
        <p:nvPicPr>
          <p:cNvPr id="24" name="Picture 23" descr="S031-P07_ottiagka_safe-guiding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8564" y="2633472"/>
            <a:ext cx="4844288" cy="2724912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4901184" y="5303520"/>
            <a:ext cx="6099048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42696739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74320"/>
            <a:ext cx="1325880" cy="384048"/>
          </a:xfrm>
          <a:prstGeom prst="rect">
            <a:avLst/>
          </a:prstGeom>
          <a:noFill/>
        </p:spPr>
        <p:txBody>
          <a:bodyPr wrap="none" lIns="101600" tIns="76200" rIns="101600" bIns="76200">
            <a:spAutoFit/>
          </a:bodyPr>
          <a:lstStyle/>
          <a:p>
            <a:pPr algn="l"/>
            <a:r>
              <a:rPr sz="1000" b="1">
                <a:solidFill>
                  <a:srgbClr val="111111"/>
                </a:solidFill>
                <a:latin typeface="Arial"/>
              </a:rPr>
              <a:t>Тема 2.2</a:t>
            </a:r>
          </a:p>
          <a:p>
            <a:pPr algn="l"/>
            <a:r>
              <a:rPr sz="1000" b="1">
                <a:solidFill>
                  <a:srgbClr val="111111"/>
                </a:solidFill>
                <a:latin typeface="Arial"/>
              </a:rPr>
              <a:t>Технология работы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04120" y="310896"/>
            <a:ext cx="1051560" cy="310896"/>
          </a:xfrm>
          <a:prstGeom prst="round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1600" tIns="76200" rIns="101600" bIns="7620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rial"/>
              </a:rPr>
              <a:t>S038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5216" y="850392"/>
            <a:ext cx="5669280" cy="892552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r>
              <a:rPr lang="ru-RU" sz="2400" b="1">
                <a:solidFill>
                  <a:srgbClr val="111111"/>
                </a:solidFill>
                <a:latin typeface="Arial" panose="020B0604020202020204" pitchFamily="34" charset="0"/>
              </a:rPr>
              <a:t>Когда груз нужно немедленно опустить</a:t>
            </a:r>
            <a:endParaRPr sz="24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76656" y="1828800"/>
            <a:ext cx="4069080" cy="3913632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76656" y="2139696"/>
            <a:ext cx="4069080" cy="310896"/>
          </a:xfrm>
          <a:prstGeom prst="roundRect">
            <a:avLst>
              <a:gd name="adj" fmla="val 193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l"/>
            <a:r>
              <a:rPr lang="ru-RU" sz="1300" b="1">
                <a:solidFill>
                  <a:srgbClr val="111111"/>
                </a:solidFill>
                <a:latin typeface="Arial"/>
              </a:rPr>
              <a:t>Нужно остановить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6112" y="2670048"/>
            <a:ext cx="3685032" cy="2706624"/>
          </a:xfrm>
          <a:prstGeom prst="rect">
            <a:avLst/>
          </a:prstGeom>
          <a:noFill/>
        </p:spPr>
        <p:txBody>
          <a:bodyPr wrap="square" lIns="127000" tIns="76200" rIns="101600" bIns="76200">
            <a:spAutoFit/>
          </a:bodyPr>
          <a:lstStyle/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111111"/>
                </a:solidFill>
                <a:latin typeface="Arial"/>
              </a:rPr>
              <a:t>Груз раскачивается</a:t>
            </a:r>
          </a:p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111111"/>
                </a:solidFill>
                <a:latin typeface="Arial"/>
              </a:rPr>
              <a:t>Есть риск перекоса</a:t>
            </a:r>
          </a:p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111111"/>
                </a:solidFill>
                <a:latin typeface="Arial"/>
              </a:rPr>
              <a:t>Люди в опасной зоне</a:t>
            </a:r>
          </a:p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111111"/>
                </a:solidFill>
                <a:latin typeface="Arial"/>
              </a:rPr>
              <a:t>Ситуация стала неуправляемой</a:t>
            </a:r>
            <a:endParaRPr dirty="0">
              <a:solidFill>
                <a:srgbClr val="212B36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736592" y="1828800"/>
            <a:ext cx="6428232" cy="3913632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919472" y="5394960"/>
            <a:ext cx="6062472" cy="219456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r>
              <a:t>Нештатная ситуация: перемещение нужно остановить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5989320"/>
            <a:ext cx="16916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/>
            <a:r>
              <a:rPr lang="ru-RU" sz="1200" b="1">
                <a:solidFill>
                  <a:srgbClr val="4B5563"/>
                </a:solidFill>
                <a:latin typeface="Arial"/>
              </a:rPr>
              <a:t>Назад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47B5600D-ABEB-7396-BEFC-CB9060117184}"/>
              </a:ext>
            </a:extLst>
          </p:cNvPr>
          <p:cNvSpPr/>
          <p:nvPr/>
        </p:nvSpPr>
        <p:spPr>
          <a:xfrm>
            <a:off x="9281160" y="5989320"/>
            <a:ext cx="1901952" cy="347472"/>
          </a:xfrm>
          <a:prstGeom prst="round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/>
            <a:r>
              <a:rPr lang="ru-RU" sz="1200" b="1">
                <a:solidFill>
                  <a:srgbClr val="FFFFFF"/>
                </a:solidFill>
                <a:latin typeface="Arial"/>
              </a:rPr>
              <a:t>Далее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" y="676656"/>
            <a:ext cx="1024128" cy="45720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76656" y="1828800"/>
            <a:ext cx="406908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86384" y="1920240"/>
            <a:ext cx="777240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850" b="1">
                <a:solidFill>
                  <a:srgbClr val="0038B8"/>
                </a:solidFill>
                <a:latin typeface="Arial"/>
              </a:rPr>
              <a:t>Шаг 04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21608" y="1920240"/>
            <a:ext cx="914400" cy="201168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850" b="1">
                <a:solidFill>
                  <a:srgbClr val="C51F1F"/>
                </a:solidFill>
                <a:latin typeface="Arial"/>
              </a:rPr>
              <a:t>Критично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384" y="2359152"/>
            <a:ext cx="3849624" cy="16459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882896" y="2505456"/>
            <a:ext cx="6135624" cy="1097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736592" y="1828800"/>
            <a:ext cx="6428232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846320" y="1920240"/>
            <a:ext cx="868680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850" b="1">
                <a:solidFill>
                  <a:srgbClr val="0038B8"/>
                </a:solidFill>
                <a:latin typeface="Arial"/>
              </a:rPr>
              <a:t>S038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15584" y="1920240"/>
            <a:ext cx="77724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850" b="1">
                <a:solidFill>
                  <a:srgbClr val="4B5563"/>
                </a:solidFill>
                <a:latin typeface="Arial"/>
              </a:rPr>
              <a:t>Шаг 04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140696" y="1920240"/>
            <a:ext cx="914400" cy="201168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850" b="1">
                <a:solidFill>
                  <a:srgbClr val="C51F1F"/>
                </a:solidFill>
                <a:latin typeface="Arial"/>
              </a:rPr>
              <a:t>Критично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2176272"/>
            <a:ext cx="6208776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11111"/>
                </a:solidFill>
                <a:latin typeface="Arial"/>
              </a:rPr>
              <a:t>Нештатная ситуация</a:t>
            </a:r>
          </a:p>
        </p:txBody>
      </p:sp>
      <p:pic>
        <p:nvPicPr>
          <p:cNvPr id="24" name="Picture 23" descr="S031-P11_raskachivanie-liudi_case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8564" y="2633472"/>
            <a:ext cx="4844288" cy="2724912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4901184" y="5303520"/>
            <a:ext cx="6099048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9776014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74320"/>
            <a:ext cx="1325880" cy="384048"/>
          </a:xfrm>
          <a:prstGeom prst="rect">
            <a:avLst/>
          </a:prstGeom>
          <a:noFill/>
        </p:spPr>
        <p:txBody>
          <a:bodyPr wrap="none" lIns="101600" tIns="76200" rIns="101600" bIns="76200">
            <a:spAutoFit/>
          </a:bodyPr>
          <a:lstStyle/>
          <a:p>
            <a:pPr algn="l"/>
            <a:r>
              <a:rPr sz="1000" b="1">
                <a:solidFill>
                  <a:srgbClr val="111111"/>
                </a:solidFill>
                <a:latin typeface="Arial"/>
              </a:rPr>
              <a:t>Тема 2.2</a:t>
            </a:r>
          </a:p>
          <a:p>
            <a:pPr algn="l"/>
            <a:r>
              <a:rPr sz="1000" b="1">
                <a:solidFill>
                  <a:srgbClr val="111111"/>
                </a:solidFill>
                <a:latin typeface="Arial"/>
              </a:rPr>
              <a:t>Технология работы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04120" y="310896"/>
            <a:ext cx="1051560" cy="310896"/>
          </a:xfrm>
          <a:prstGeom prst="round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1600" tIns="76200" rIns="101600" bIns="7620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rial"/>
              </a:rPr>
              <a:t>S039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5216" y="850392"/>
            <a:ext cx="5669280" cy="523220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r>
              <a:rPr lang="ru-RU" sz="2400" b="1">
                <a:solidFill>
                  <a:srgbClr val="111111"/>
                </a:solidFill>
                <a:latin typeface="Arial" panose="020B0604020202020204" pitchFamily="34" charset="0"/>
              </a:rPr>
              <a:t>Складирование и расстроповка</a:t>
            </a:r>
            <a:endParaRPr sz="24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76656" y="1828800"/>
            <a:ext cx="4069080" cy="3913632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76656" y="2139696"/>
            <a:ext cx="4069080" cy="310896"/>
          </a:xfrm>
          <a:prstGeom prst="roundRect">
            <a:avLst>
              <a:gd name="adj" fmla="val 193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l"/>
            <a:r>
              <a:rPr lang="ru-RU" sz="1300" b="1">
                <a:solidFill>
                  <a:srgbClr val="111111"/>
                </a:solidFill>
                <a:latin typeface="Arial"/>
              </a:rPr>
              <a:t>Как завершить операцию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6112" y="2670048"/>
            <a:ext cx="3685032" cy="2706624"/>
          </a:xfrm>
          <a:prstGeom prst="rect">
            <a:avLst/>
          </a:prstGeom>
          <a:noFill/>
        </p:spPr>
        <p:txBody>
          <a:bodyPr wrap="square" lIns="127000" tIns="76200" rIns="101600" bIns="76200">
            <a:spAutoFit/>
          </a:bodyPr>
          <a:lstStyle/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111111"/>
                </a:solidFill>
                <a:latin typeface="Arial"/>
              </a:rPr>
              <a:t>Подготовь место укладки</a:t>
            </a:r>
          </a:p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111111"/>
                </a:solidFill>
                <a:latin typeface="Arial"/>
              </a:rPr>
              <a:t>Проверь устойчивость груза</a:t>
            </a:r>
          </a:p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111111"/>
                </a:solidFill>
                <a:latin typeface="Arial"/>
              </a:rPr>
              <a:t>Используй подкладки и прокладки</a:t>
            </a:r>
          </a:p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111111"/>
                </a:solidFill>
                <a:latin typeface="Arial"/>
              </a:rPr>
              <a:t>Не загромождай проходы и проезды</a:t>
            </a:r>
          </a:p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111111"/>
                </a:solidFill>
                <a:latin typeface="Arial"/>
              </a:rPr>
              <a:t>Снимай стропы только после устойчивой установки</a:t>
            </a:r>
            <a:endParaRPr dirty="0">
              <a:solidFill>
                <a:srgbClr val="212B36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736592" y="1828800"/>
            <a:ext cx="6428232" cy="3913632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919472" y="5394960"/>
            <a:ext cx="6062472" cy="219456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r>
              <a:t>Подкладки и устойчивое положение перед расстроповкой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5989320"/>
            <a:ext cx="16916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/>
            <a:r>
              <a:rPr lang="ru-RU" sz="1200" b="1">
                <a:solidFill>
                  <a:srgbClr val="4B5563"/>
                </a:solidFill>
                <a:latin typeface="Arial"/>
              </a:rPr>
              <a:t>Назад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47B5600D-ABEB-7396-BEFC-CB9060117184}"/>
              </a:ext>
            </a:extLst>
          </p:cNvPr>
          <p:cNvSpPr/>
          <p:nvPr/>
        </p:nvSpPr>
        <p:spPr>
          <a:xfrm>
            <a:off x="9281160" y="5989320"/>
            <a:ext cx="1901952" cy="347472"/>
          </a:xfrm>
          <a:prstGeom prst="round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/>
            <a:r>
              <a:rPr lang="ru-RU" sz="1200" b="1">
                <a:solidFill>
                  <a:srgbClr val="FFFFFF"/>
                </a:solidFill>
                <a:latin typeface="Arial"/>
              </a:rPr>
              <a:t>Далее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" y="676656"/>
            <a:ext cx="1024128" cy="45720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76656" y="1828800"/>
            <a:ext cx="406908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86384" y="1920240"/>
            <a:ext cx="777240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850" b="1">
                <a:solidFill>
                  <a:srgbClr val="0038B8"/>
                </a:solidFill>
                <a:latin typeface="Arial"/>
              </a:rPr>
              <a:t>Шаг 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21608" y="1920240"/>
            <a:ext cx="91440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850" b="1">
                <a:solidFill>
                  <a:srgbClr val="4B5563"/>
                </a:solidFill>
                <a:latin typeface="Arial"/>
              </a:rPr>
              <a:t>Контроль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384" y="2359152"/>
            <a:ext cx="3849624" cy="16459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882896" y="2505456"/>
            <a:ext cx="6135624" cy="1097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736592" y="1828800"/>
            <a:ext cx="6428232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846320" y="1920240"/>
            <a:ext cx="868680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850" b="1">
                <a:solidFill>
                  <a:srgbClr val="0038B8"/>
                </a:solidFill>
                <a:latin typeface="Arial"/>
              </a:rPr>
              <a:t>S039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15584" y="1920240"/>
            <a:ext cx="77724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850" b="1">
                <a:solidFill>
                  <a:srgbClr val="4B5563"/>
                </a:solidFill>
                <a:latin typeface="Arial"/>
              </a:rPr>
              <a:t>Шаг 05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140696" y="1920240"/>
            <a:ext cx="914400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850" b="1">
                <a:solidFill>
                  <a:srgbClr val="0038B8"/>
                </a:solidFill>
                <a:latin typeface="Arial"/>
              </a:rPr>
              <a:t>Контроль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2176272"/>
            <a:ext cx="6208776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11111"/>
                </a:solidFill>
                <a:latin typeface="Arial"/>
              </a:rPr>
              <a:t>Устойчивое основание</a:t>
            </a:r>
          </a:p>
        </p:txBody>
      </p:sp>
      <p:pic>
        <p:nvPicPr>
          <p:cNvPr id="24" name="Picture 23" descr="S031-P09_skladovanie_podkladki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8564" y="2633472"/>
            <a:ext cx="4844288" cy="2724912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4901184" y="5303520"/>
            <a:ext cx="6099048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52907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74320"/>
            <a:ext cx="1325880" cy="384048"/>
          </a:xfrm>
          <a:prstGeom prst="rect">
            <a:avLst/>
          </a:prstGeom>
          <a:noFill/>
        </p:spPr>
        <p:txBody>
          <a:bodyPr wrap="none" lIns="101600" tIns="76200" rIns="101600" bIns="76200">
            <a:spAutoFit/>
          </a:bodyPr>
          <a:lstStyle/>
          <a:p>
            <a:pPr algn="l"/>
            <a:r>
              <a:rPr sz="1000" b="1">
                <a:solidFill>
                  <a:srgbClr val="111111"/>
                </a:solidFill>
                <a:latin typeface="Arial"/>
              </a:rPr>
              <a:t>Тема 2.2</a:t>
            </a:r>
          </a:p>
          <a:p>
            <a:pPr algn="l"/>
            <a:r>
              <a:rPr sz="1000" b="1">
                <a:solidFill>
                  <a:srgbClr val="111111"/>
                </a:solidFill>
                <a:latin typeface="Arial"/>
              </a:rPr>
              <a:t>Технология работы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48672" y="310896"/>
            <a:ext cx="1207008" cy="310896"/>
          </a:xfrm>
          <a:prstGeom prst="round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1600" tIns="76200" rIns="101600" bIns="76200"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rial"/>
              </a:rPr>
              <a:t>S039-P01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5216" y="850392"/>
            <a:ext cx="5669280" cy="731520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 algn="l"/>
            <a:r>
              <a:rPr lang="ru-RU" sz="2400" b="1">
                <a:solidFill>
                  <a:srgbClr val="111111"/>
                </a:solidFill>
                <a:latin typeface="Arial"/>
              </a:rPr>
              <a:t>Подвал. Подготовка места и момент расстроповки</a:t>
            </a:r>
            <a:endParaRPr>
              <a:solidFill>
                <a:srgbClr val="6E7A86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76656" y="1828800"/>
            <a:ext cx="4069080" cy="3913632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76656" y="2139696"/>
            <a:ext cx="4069080" cy="310896"/>
          </a:xfrm>
          <a:prstGeom prst="roundRect">
            <a:avLst>
              <a:gd name="adj" fmla="val 193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l"/>
            <a:r>
              <a:rPr lang="ru-RU" sz="1300" b="1">
                <a:solidFill>
                  <a:srgbClr val="111111"/>
                </a:solidFill>
                <a:latin typeface="Arial"/>
              </a:rPr>
              <a:t>Как безопасно завершить работу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6112" y="2670048"/>
            <a:ext cx="3685032" cy="2706624"/>
          </a:xfrm>
          <a:prstGeom prst="rect">
            <a:avLst/>
          </a:prstGeom>
          <a:noFill/>
        </p:spPr>
        <p:txBody>
          <a:bodyPr wrap="square" lIns="127000" tIns="76200" rIns="101600" bIns="76200">
            <a:spAutoFit/>
          </a:bodyPr>
          <a:lstStyle/>
          <a:p>
            <a:pPr algn="l">
              <a:spcAft>
                <a:spcPts val="800"/>
              </a:spcAft>
            </a:pPr>
            <a:r>
              <a:rPr lang="ru-RU" sz="1200" b="0">
                <a:solidFill>
                  <a:srgbClr val="111111"/>
                </a:solidFill>
                <a:latin typeface="Arial"/>
              </a:rPr>
              <a:t>Подготовка места:</a:t>
            </a:r>
          </a:p>
          <a:p>
            <a:pPr algn="l">
              <a:spcAft>
                <a:spcPts val="800"/>
              </a:spcAft>
            </a:pPr>
            <a:r>
              <a:rPr lang="ru-RU" sz="1200" b="0">
                <a:solidFill>
                  <a:srgbClr val="111111"/>
                </a:solidFill>
                <a:latin typeface="Arial"/>
              </a:rPr>
              <a:t>- ровное основание</a:t>
            </a:r>
          </a:p>
          <a:p>
            <a:pPr algn="l">
              <a:spcAft>
                <a:spcPts val="800"/>
              </a:spcAft>
            </a:pPr>
            <a:r>
              <a:rPr lang="ru-RU" sz="1200" b="0">
                <a:solidFill>
                  <a:srgbClr val="111111"/>
                </a:solidFill>
                <a:latin typeface="Arial"/>
              </a:rPr>
              <a:t>- подкладки и прокладки</a:t>
            </a:r>
          </a:p>
          <a:p>
            <a:pPr algn="l">
              <a:spcAft>
                <a:spcPts val="800"/>
              </a:spcAft>
            </a:pPr>
            <a:r>
              <a:rPr lang="ru-RU" sz="1200" b="0">
                <a:solidFill>
                  <a:srgbClr val="111111"/>
                </a:solidFill>
                <a:latin typeface="Arial"/>
              </a:rPr>
              <a:t>- свободные проходы и проезды</a:t>
            </a:r>
          </a:p>
          <a:p>
            <a:pPr algn="l">
              <a:spcAft>
                <a:spcPts val="800"/>
              </a:spcAft>
            </a:pPr>
            <a:r>
              <a:rPr lang="ru-RU" sz="1200" b="0">
                <a:solidFill>
                  <a:srgbClr val="111111"/>
                </a:solidFill>
                <a:latin typeface="Arial"/>
              </a:rPr>
              <a:t>- понятная точка установки</a:t>
            </a:r>
            <a:endParaRPr dirty="0">
              <a:solidFill>
                <a:srgbClr val="212B36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736592" y="1828800"/>
            <a:ext cx="6428232" cy="3913632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919472" y="5394960"/>
            <a:ext cx="6062472" cy="219456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r>
              <a:t>Расстроповка допустима только после устойчивой установки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5989320"/>
            <a:ext cx="16916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/>
            <a:r>
              <a:rPr lang="ru-RU" sz="1200" b="1">
                <a:solidFill>
                  <a:srgbClr val="4B5563"/>
                </a:solidFill>
                <a:latin typeface="Arial"/>
              </a:rPr>
              <a:t>Назад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47B5600D-ABEB-7396-BEFC-CB9060117184}"/>
              </a:ext>
            </a:extLst>
          </p:cNvPr>
          <p:cNvSpPr/>
          <p:nvPr/>
        </p:nvSpPr>
        <p:spPr>
          <a:xfrm>
            <a:off x="9281160" y="5989320"/>
            <a:ext cx="1901952" cy="347472"/>
          </a:xfrm>
          <a:prstGeom prst="round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/>
            <a:r>
              <a:rPr lang="ru-RU" sz="1200" b="1">
                <a:solidFill>
                  <a:srgbClr val="FFFFFF"/>
                </a:solidFill>
                <a:latin typeface="Arial"/>
              </a:rPr>
              <a:t>Далее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" y="676656"/>
            <a:ext cx="1024128" cy="45720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76656" y="1828800"/>
            <a:ext cx="406908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86384" y="1920240"/>
            <a:ext cx="777240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850" b="1">
                <a:solidFill>
                  <a:srgbClr val="0038B8"/>
                </a:solidFill>
                <a:latin typeface="Arial"/>
              </a:rPr>
              <a:t>Шаг 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21608" y="1920240"/>
            <a:ext cx="914400" cy="201168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850" b="1">
                <a:solidFill>
                  <a:srgbClr val="C51F1F"/>
                </a:solidFill>
                <a:latin typeface="Arial"/>
              </a:rPr>
              <a:t>Критично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384" y="2359152"/>
            <a:ext cx="3849624" cy="16459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882896" y="2505456"/>
            <a:ext cx="6135624" cy="1097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736592" y="1828800"/>
            <a:ext cx="6428232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846320" y="1920240"/>
            <a:ext cx="1024128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850" b="1">
                <a:solidFill>
                  <a:srgbClr val="0038B8"/>
                </a:solidFill>
                <a:latin typeface="Arial"/>
              </a:rPr>
              <a:t>S039-P01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71032" y="1920240"/>
            <a:ext cx="77724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850" b="1">
                <a:solidFill>
                  <a:srgbClr val="4B5563"/>
                </a:solidFill>
                <a:latin typeface="Arial"/>
              </a:rPr>
              <a:t>Шаг 05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140696" y="1920240"/>
            <a:ext cx="914400" cy="201168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850" b="1">
                <a:solidFill>
                  <a:srgbClr val="C51F1F"/>
                </a:solidFill>
                <a:latin typeface="Arial"/>
              </a:rPr>
              <a:t>Критично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2176272"/>
            <a:ext cx="6208776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11111"/>
                </a:solidFill>
                <a:latin typeface="Arial"/>
              </a:rPr>
              <a:t>Финальная проверка</a:t>
            </a:r>
          </a:p>
        </p:txBody>
      </p:sp>
      <p:pic>
        <p:nvPicPr>
          <p:cNvPr id="24" name="Picture 23" descr="S031-P10_rasstropovka_rano-pravil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8564" y="2633472"/>
            <a:ext cx="4844288" cy="2724912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4901184" y="5303520"/>
            <a:ext cx="6099048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40298244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74320"/>
            <a:ext cx="1325880" cy="384048"/>
          </a:xfrm>
          <a:prstGeom prst="rect">
            <a:avLst/>
          </a:prstGeom>
          <a:noFill/>
        </p:spPr>
        <p:txBody>
          <a:bodyPr wrap="none" lIns="101600" tIns="76200" rIns="101600" bIns="76200">
            <a:spAutoFit/>
          </a:bodyPr>
          <a:lstStyle/>
          <a:p>
            <a:pPr algn="l"/>
            <a:r>
              <a:rPr sz="1000" b="1">
                <a:solidFill>
                  <a:srgbClr val="111111"/>
                </a:solidFill>
                <a:latin typeface="Arial"/>
              </a:rPr>
              <a:t>Тема 2.2</a:t>
            </a:r>
          </a:p>
          <a:p>
            <a:pPr algn="l"/>
            <a:r>
              <a:rPr sz="1000" b="1">
                <a:solidFill>
                  <a:srgbClr val="111111"/>
                </a:solidFill>
                <a:latin typeface="Arial"/>
              </a:rPr>
              <a:t>Технология работы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02368" y="310896"/>
            <a:ext cx="1353312" cy="310896"/>
          </a:xfrm>
          <a:prstGeom prst="round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1600" tIns="76200" rIns="101600" bIns="76200"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rial"/>
              </a:rPr>
              <a:t>S039-PP01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5216" y="850392"/>
            <a:ext cx="5669280" cy="731520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 algn="l"/>
            <a:r>
              <a:rPr lang="ru-RU" sz="2400" b="1">
                <a:solidFill>
                  <a:srgbClr val="111111"/>
                </a:solidFill>
                <a:latin typeface="Arial"/>
              </a:rPr>
              <a:t>Подподвал. Схемы безопасного складирования</a:t>
            </a:r>
            <a:endParaRPr>
              <a:solidFill>
                <a:srgbClr val="6E7A86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76656" y="1828800"/>
            <a:ext cx="4069080" cy="3913632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76656" y="2139696"/>
            <a:ext cx="4069080" cy="310896"/>
          </a:xfrm>
          <a:prstGeom prst="roundRect">
            <a:avLst>
              <a:gd name="adj" fmla="val 193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l"/>
            <a:r>
              <a:rPr lang="ru-RU" sz="1300" b="1">
                <a:solidFill>
                  <a:srgbClr val="111111"/>
                </a:solidFill>
                <a:latin typeface="Arial"/>
              </a:rPr>
              <a:t>Что раскрываем дополнительно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6112" y="2670048"/>
            <a:ext cx="3685032" cy="2706624"/>
          </a:xfrm>
          <a:prstGeom prst="rect">
            <a:avLst/>
          </a:prstGeom>
          <a:noFill/>
        </p:spPr>
        <p:txBody>
          <a:bodyPr wrap="square" lIns="127000" tIns="76200" rIns="101600" bIns="76200">
            <a:spAutoFit/>
          </a:bodyPr>
          <a:lstStyle/>
          <a:p>
            <a:pPr algn="l">
              <a:spcAft>
                <a:spcPts val="800"/>
              </a:spcAft>
            </a:pPr>
            <a:r>
              <a:rPr lang="ru-RU" sz="1200" b="0">
                <a:solidFill>
                  <a:srgbClr val="111111"/>
                </a:solidFill>
                <a:latin typeface="Arial"/>
              </a:rPr>
              <a:t>Варианты для показа:</a:t>
            </a:r>
          </a:p>
          <a:p>
            <a:pPr algn="l">
              <a:spcAft>
                <a:spcPts val="800"/>
              </a:spcAft>
            </a:pPr>
            <a:r>
              <a:rPr lang="ru-RU" sz="1200" b="0">
                <a:solidFill>
                  <a:srgbClr val="111111"/>
                </a:solidFill>
                <a:latin typeface="Arial"/>
              </a:rPr>
              <a:t>- длинномер</a:t>
            </a:r>
          </a:p>
          <a:p>
            <a:pPr algn="l">
              <a:spcAft>
                <a:spcPts val="800"/>
              </a:spcAft>
            </a:pPr>
            <a:r>
              <a:rPr lang="ru-RU" sz="1200" b="0">
                <a:solidFill>
                  <a:srgbClr val="111111"/>
                </a:solidFill>
                <a:latin typeface="Arial"/>
              </a:rPr>
              <a:t>- пакет листов</a:t>
            </a:r>
          </a:p>
          <a:p>
            <a:pPr algn="l">
              <a:spcAft>
                <a:spcPts val="800"/>
              </a:spcAft>
            </a:pPr>
            <a:r>
              <a:rPr lang="ru-RU" sz="1200" b="0">
                <a:solidFill>
                  <a:srgbClr val="111111"/>
                </a:solidFill>
                <a:latin typeface="Arial"/>
              </a:rPr>
              <a:t>- цилиндрический груз</a:t>
            </a:r>
          </a:p>
          <a:p>
            <a:pPr algn="l">
              <a:spcAft>
                <a:spcPts val="800"/>
              </a:spcAft>
            </a:pPr>
            <a:r>
              <a:rPr lang="ru-RU" sz="1200" b="0">
                <a:solidFill>
                  <a:srgbClr val="111111"/>
                </a:solidFill>
                <a:latin typeface="Arial"/>
              </a:rPr>
              <a:t>- груз на подкладках</a:t>
            </a:r>
            <a:endParaRPr dirty="0">
              <a:solidFill>
                <a:srgbClr val="212B36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736592" y="1828800"/>
            <a:ext cx="6428232" cy="3913632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919472" y="5394960"/>
            <a:ext cx="6062472" cy="219456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r>
              <a:t>Варианты безопасного складирования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5989320"/>
            <a:ext cx="16916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/>
            <a:r>
              <a:rPr lang="ru-RU" sz="1200" b="1">
                <a:solidFill>
                  <a:srgbClr val="4B5563"/>
                </a:solidFill>
                <a:latin typeface="Arial"/>
              </a:rPr>
              <a:t>Назад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47B5600D-ABEB-7396-BEFC-CB9060117184}"/>
              </a:ext>
            </a:extLst>
          </p:cNvPr>
          <p:cNvSpPr/>
          <p:nvPr/>
        </p:nvSpPr>
        <p:spPr>
          <a:xfrm>
            <a:off x="9281160" y="5989320"/>
            <a:ext cx="1901952" cy="347472"/>
          </a:xfrm>
          <a:prstGeom prst="round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/>
            <a:r>
              <a:rPr lang="ru-RU" sz="1200" b="1">
                <a:solidFill>
                  <a:srgbClr val="FFFFFF"/>
                </a:solidFill>
                <a:latin typeface="Arial"/>
              </a:rPr>
              <a:t>Далее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" y="676656"/>
            <a:ext cx="1024128" cy="45720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76656" y="1828800"/>
            <a:ext cx="406908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86384" y="1920240"/>
            <a:ext cx="777240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850" b="1">
                <a:solidFill>
                  <a:srgbClr val="0038B8"/>
                </a:solidFill>
                <a:latin typeface="Arial"/>
              </a:rPr>
              <a:t>Шаг 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21608" y="1920240"/>
            <a:ext cx="91440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850" b="1">
                <a:solidFill>
                  <a:srgbClr val="4B5563"/>
                </a:solidFill>
                <a:latin typeface="Arial"/>
              </a:rPr>
              <a:t>Опора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384" y="2359152"/>
            <a:ext cx="3849624" cy="16459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882896" y="2505456"/>
            <a:ext cx="6135624" cy="1097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736592" y="1828800"/>
            <a:ext cx="6428232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846320" y="1920240"/>
            <a:ext cx="1024128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850" b="1">
                <a:solidFill>
                  <a:srgbClr val="0038B8"/>
                </a:solidFill>
                <a:latin typeface="Arial"/>
              </a:rPr>
              <a:t>S039-PP01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71032" y="1920240"/>
            <a:ext cx="77724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850" b="1">
                <a:solidFill>
                  <a:srgbClr val="4B5563"/>
                </a:solidFill>
                <a:latin typeface="Arial"/>
              </a:rPr>
              <a:t>Шаг 05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140696" y="1920240"/>
            <a:ext cx="914400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850" b="1">
                <a:solidFill>
                  <a:srgbClr val="0038B8"/>
                </a:solidFill>
                <a:latin typeface="Arial"/>
              </a:rPr>
              <a:t>Опора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2176272"/>
            <a:ext cx="6208776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11111"/>
                </a:solidFill>
                <a:latin typeface="Arial"/>
              </a:rPr>
              <a:t>Безопасное складирование</a:t>
            </a:r>
          </a:p>
        </p:txBody>
      </p:sp>
      <p:pic>
        <p:nvPicPr>
          <p:cNvPr id="24" name="Picture 23" descr="S031-P09_skladovanie_podkladki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8564" y="2633472"/>
            <a:ext cx="4844288" cy="2724912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4901184" y="5303520"/>
            <a:ext cx="6099048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9898247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74320"/>
            <a:ext cx="1325880" cy="384048"/>
          </a:xfrm>
          <a:prstGeom prst="rect">
            <a:avLst/>
          </a:prstGeom>
          <a:noFill/>
        </p:spPr>
        <p:txBody>
          <a:bodyPr wrap="none" lIns="101600" tIns="76200" rIns="101600" bIns="76200">
            <a:spAutoFit/>
          </a:bodyPr>
          <a:lstStyle/>
          <a:p>
            <a:pPr algn="l"/>
            <a:r>
              <a:rPr sz="1000" b="1">
                <a:solidFill>
                  <a:srgbClr val="111111"/>
                </a:solidFill>
                <a:latin typeface="Arial"/>
              </a:rPr>
              <a:t>Тема 2.2</a:t>
            </a:r>
          </a:p>
          <a:p>
            <a:pPr algn="l"/>
            <a:r>
              <a:rPr sz="1000" b="1">
                <a:solidFill>
                  <a:srgbClr val="111111"/>
                </a:solidFill>
                <a:latin typeface="Arial"/>
              </a:rPr>
              <a:t>Технология работы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04120" y="310896"/>
            <a:ext cx="1051560" cy="310896"/>
          </a:xfrm>
          <a:prstGeom prst="round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1600" tIns="76200" rIns="101600" bIns="7620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rial"/>
              </a:rPr>
              <a:t>S040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5216" y="850392"/>
            <a:ext cx="5669280" cy="731520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 algn="l"/>
            <a:r>
              <a:rPr lang="ru-RU" sz="2700" b="1">
                <a:solidFill>
                  <a:srgbClr val="111111"/>
                </a:solidFill>
                <a:latin typeface="Arial"/>
              </a:rPr>
              <a:t>Промежуточный тест</a:t>
            </a:r>
            <a:endParaRPr>
              <a:solidFill>
                <a:srgbClr val="6E7A86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76656" y="1828800"/>
            <a:ext cx="4663440" cy="3913632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76656" y="2066543"/>
            <a:ext cx="4663440" cy="365760"/>
          </a:xfrm>
          <a:prstGeom prst="roundRect">
            <a:avLst>
              <a:gd name="adj" fmla="val 193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l"/>
            <a:r>
              <a:rPr lang="ru-RU" sz="1300" b="1">
                <a:solidFill>
                  <a:srgbClr val="111111"/>
                </a:solidFill>
                <a:latin typeface="Arial"/>
              </a:rPr>
              <a:t>Проверка по теме 2.2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6112" y="2596896"/>
            <a:ext cx="4279392" cy="2761488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111111"/>
                </a:solidFill>
                <a:latin typeface="Arial"/>
              </a:rPr>
              <a:t>Что делать до начала работ</a:t>
            </a:r>
          </a:p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111111"/>
                </a:solidFill>
                <a:latin typeface="Arial"/>
              </a:rPr>
              <a:t>Кто подает сигнал</a:t>
            </a:r>
          </a:p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111111"/>
                </a:solidFill>
                <a:latin typeface="Arial"/>
              </a:rPr>
              <a:t>Когда остановить перемещение</a:t>
            </a:r>
          </a:p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111111"/>
                </a:solidFill>
                <a:latin typeface="Arial"/>
              </a:rPr>
              <a:t>Как складировать безопасно</a:t>
            </a:r>
            <a:endParaRPr dirty="0">
              <a:solidFill>
                <a:srgbClr val="212B36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559552" y="1828800"/>
            <a:ext cx="5449824" cy="3913632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742432" y="2688336"/>
            <a:ext cx="5084064" cy="2788920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 algn="l"/>
            <a:r>
              <a:rPr lang="ru-RU" sz="1400" b="0">
                <a:solidFill>
                  <a:srgbClr val="4B5563"/>
                </a:solidFill>
                <a:latin typeface="Arial"/>
              </a:rPr>
              <a:t>Тестовый экран:</a:t>
            </a:r>
          </a:p>
          <a:p>
            <a:pPr algn="l"/>
            <a:r>
              <a:rPr lang="ru-RU" sz="1400" b="0">
                <a:solidFill>
                  <a:srgbClr val="4B5563"/>
                </a:solidFill>
                <a:latin typeface="Arial"/>
              </a:rPr>
              <a:t>вопросы по подготовке</a:t>
            </a:r>
          </a:p>
          <a:p>
            <a:pPr algn="l"/>
            <a:r>
              <a:rPr lang="ru-RU" sz="1400" b="0">
                <a:solidFill>
                  <a:srgbClr val="4B5563"/>
                </a:solidFill>
                <a:latin typeface="Arial"/>
              </a:rPr>
              <a:t>сигналам</a:t>
            </a:r>
          </a:p>
          <a:p>
            <a:pPr algn="l"/>
            <a:r>
              <a:rPr lang="ru-RU" sz="1400" b="0">
                <a:solidFill>
                  <a:srgbClr val="4B5563"/>
                </a:solidFill>
                <a:latin typeface="Arial"/>
              </a:rPr>
              <a:t>сопровождению</a:t>
            </a:r>
          </a:p>
          <a:p>
            <a:pPr algn="l"/>
            <a:r>
              <a:rPr lang="ru-RU" sz="1400" b="0">
                <a:solidFill>
                  <a:srgbClr val="4B5563"/>
                </a:solidFill>
                <a:latin typeface="Arial"/>
              </a:rPr>
              <a:t>складированию</a:t>
            </a:r>
            <a:endParaRPr sz="2000" dirty="0">
              <a:solidFill>
                <a:srgbClr val="212B36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76656" y="5989320"/>
            <a:ext cx="16916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/>
            <a:r>
              <a:rPr lang="ru-RU" sz="1200" b="1">
                <a:solidFill>
                  <a:srgbClr val="4B5563"/>
                </a:solidFill>
                <a:latin typeface="Arial"/>
              </a:rPr>
              <a:t>Назад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47B5600D-ABEB-7396-BEFC-CB9060117184}"/>
              </a:ext>
            </a:extLst>
          </p:cNvPr>
          <p:cNvSpPr/>
          <p:nvPr/>
        </p:nvSpPr>
        <p:spPr>
          <a:xfrm>
            <a:off x="9281160" y="5989320"/>
            <a:ext cx="1901952" cy="347472"/>
          </a:xfrm>
          <a:prstGeom prst="round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/>
            <a:r>
              <a:rPr lang="ru-RU" sz="1200" b="1">
                <a:solidFill>
                  <a:srgbClr val="FFFFFF"/>
                </a:solidFill>
                <a:latin typeface="Arial"/>
              </a:rPr>
              <a:t>Далее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" y="676656"/>
            <a:ext cx="1024128" cy="45720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76656" y="1828800"/>
            <a:ext cx="466344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86384" y="1920240"/>
            <a:ext cx="777240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850" b="1">
                <a:solidFill>
                  <a:srgbClr val="0038B8"/>
                </a:solidFill>
                <a:latin typeface="Arial"/>
              </a:rPr>
              <a:t>Шаг 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15968" y="1920240"/>
            <a:ext cx="91440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850" b="1">
                <a:solidFill>
                  <a:srgbClr val="4B5563"/>
                </a:solidFill>
                <a:latin typeface="Arial"/>
              </a:rPr>
              <a:t>Проверка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59552" y="1828800"/>
            <a:ext cx="5449824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669280" y="1920240"/>
            <a:ext cx="868680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850" b="1">
                <a:solidFill>
                  <a:srgbClr val="0038B8"/>
                </a:solidFill>
                <a:latin typeface="Arial"/>
              </a:rPr>
              <a:t>S040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38544" y="1920240"/>
            <a:ext cx="77724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850" b="1">
                <a:solidFill>
                  <a:srgbClr val="4B5563"/>
                </a:solidFill>
                <a:latin typeface="Arial"/>
              </a:rPr>
              <a:t>Шаг 05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85248" y="1920240"/>
            <a:ext cx="914400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850" b="1">
                <a:solidFill>
                  <a:srgbClr val="0038B8"/>
                </a:solidFill>
                <a:latin typeface="Arial"/>
              </a:rPr>
              <a:t>Проверка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2176272"/>
            <a:ext cx="5230368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11111"/>
                </a:solidFill>
                <a:latin typeface="Arial"/>
              </a:rPr>
              <a:t>Технический комментарий</a:t>
            </a:r>
          </a:p>
        </p:txBody>
      </p:sp>
    </p:spTree>
    <p:extLst>
      <p:ext uri="{BB962C8B-B14F-4D97-AF65-F5344CB8AC3E}">
        <p14:creationId xmlns:p14="http://schemas.microsoft.com/office/powerpoint/2010/main" val="400532766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74320"/>
            <a:ext cx="1325880" cy="384048"/>
          </a:xfrm>
          <a:prstGeom prst="rect">
            <a:avLst/>
          </a:prstGeom>
          <a:noFill/>
        </p:spPr>
        <p:txBody>
          <a:bodyPr wrap="none" lIns="101600" tIns="76200" rIns="101600" bIns="76200">
            <a:spAutoFit/>
          </a:bodyPr>
          <a:lstStyle/>
          <a:p>
            <a:pPr algn="l"/>
            <a:r>
              <a:rPr sz="1000" b="1">
                <a:solidFill>
                  <a:srgbClr val="111111"/>
                </a:solidFill>
                <a:latin typeface="Arial"/>
              </a:rPr>
              <a:t>Тема 2.2</a:t>
            </a:r>
          </a:p>
          <a:p>
            <a:pPr algn="l"/>
            <a:r>
              <a:rPr sz="1000" b="1">
                <a:solidFill>
                  <a:srgbClr val="111111"/>
                </a:solidFill>
                <a:latin typeface="Arial"/>
              </a:rPr>
              <a:t>Технология работы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04120" y="310896"/>
            <a:ext cx="1051560" cy="310896"/>
          </a:xfrm>
          <a:prstGeom prst="round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1600" tIns="76200" rIns="101600" bIns="7620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rial"/>
              </a:rPr>
              <a:t>S041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5216" y="850392"/>
            <a:ext cx="5669280" cy="731520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 algn="l"/>
            <a:r>
              <a:rPr lang="ru-RU" sz="2700" b="1">
                <a:solidFill>
                  <a:srgbClr val="111111"/>
                </a:solidFill>
                <a:latin typeface="Arial"/>
              </a:rPr>
              <a:t>Финальный вывод по подтеме</a:t>
            </a:r>
            <a:endParaRPr>
              <a:solidFill>
                <a:srgbClr val="6E7A86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76656" y="1828800"/>
            <a:ext cx="4663440" cy="3913632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76656" y="2066543"/>
            <a:ext cx="4663440" cy="365760"/>
          </a:xfrm>
          <a:prstGeom prst="roundRect">
            <a:avLst>
              <a:gd name="adj" fmla="val 193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l"/>
            <a:r>
              <a:rPr lang="ru-RU" sz="1300" b="1">
                <a:solidFill>
                  <a:srgbClr val="111111"/>
                </a:solidFill>
                <a:latin typeface="Arial"/>
              </a:rPr>
              <a:t>Что должен уметь слушатель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6112" y="2596896"/>
            <a:ext cx="4279392" cy="2761488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111111"/>
                </a:solidFill>
                <a:latin typeface="Arial"/>
              </a:rPr>
              <a:t>Работай по порядку</a:t>
            </a:r>
          </a:p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111111"/>
                </a:solidFill>
                <a:latin typeface="Arial"/>
              </a:rPr>
              <a:t>Не пропускай проверку</a:t>
            </a:r>
          </a:p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111111"/>
                </a:solidFill>
                <a:latin typeface="Arial"/>
              </a:rPr>
              <a:t>Держи связь с крановщиком</a:t>
            </a:r>
          </a:p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111111"/>
                </a:solidFill>
                <a:latin typeface="Arial"/>
              </a:rPr>
              <a:t>Не сопровождай груз с риском</a:t>
            </a:r>
          </a:p>
          <a:p>
            <a:pPr algn="l">
              <a:spcAft>
                <a:spcPts val="800"/>
              </a:spcAft>
            </a:pPr>
            <a:r>
              <a:rPr lang="ru-RU" sz="1600" b="0">
                <a:solidFill>
                  <a:srgbClr val="111111"/>
                </a:solidFill>
                <a:latin typeface="Arial"/>
              </a:rPr>
              <a:t>Завершай работу только после устойчивой установки</a:t>
            </a:r>
            <a:endParaRPr dirty="0">
              <a:solidFill>
                <a:srgbClr val="212B36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559552" y="1828800"/>
            <a:ext cx="5449824" cy="3913632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587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742432" y="2688336"/>
            <a:ext cx="5084064" cy="2788920"/>
          </a:xfrm>
          <a:prstGeom prst="rect">
            <a:avLst/>
          </a:prstGeom>
          <a:noFill/>
        </p:spPr>
        <p:txBody>
          <a:bodyPr wrap="square" lIns="101600" tIns="76200" rIns="101600" bIns="76200">
            <a:spAutoFit/>
          </a:bodyPr>
          <a:lstStyle/>
          <a:p>
            <a:pPr algn="l"/>
            <a:r>
              <a:rPr lang="ru-RU" sz="1400" b="0">
                <a:solidFill>
                  <a:srgbClr val="4B5563"/>
                </a:solidFill>
                <a:latin typeface="Arial"/>
              </a:rPr>
              <a:t>Итоговый экран-памятка:</a:t>
            </a:r>
          </a:p>
          <a:p>
            <a:pPr algn="l"/>
            <a:r>
              <a:rPr lang="ru-RU" sz="1400" b="0">
                <a:solidFill>
                  <a:srgbClr val="4B5563"/>
                </a:solidFill>
                <a:latin typeface="Arial"/>
              </a:rPr>
              <a:t>подготовка</a:t>
            </a:r>
          </a:p>
          <a:p>
            <a:pPr algn="l"/>
            <a:r>
              <a:rPr lang="ru-RU" sz="1400" b="0">
                <a:solidFill>
                  <a:srgbClr val="4B5563"/>
                </a:solidFill>
                <a:latin typeface="Arial"/>
              </a:rPr>
              <a:t>сигналы</a:t>
            </a:r>
          </a:p>
          <a:p>
            <a:pPr algn="l"/>
            <a:r>
              <a:rPr lang="ru-RU" sz="1400" b="0">
                <a:solidFill>
                  <a:srgbClr val="4B5563"/>
                </a:solidFill>
                <a:latin typeface="Arial"/>
              </a:rPr>
              <a:t>сопровождение</a:t>
            </a:r>
          </a:p>
          <a:p>
            <a:pPr algn="l"/>
            <a:r>
              <a:rPr lang="ru-RU" sz="1400" b="0">
                <a:solidFill>
                  <a:srgbClr val="4B5563"/>
                </a:solidFill>
                <a:latin typeface="Arial"/>
              </a:rPr>
              <a:t>завершение работы</a:t>
            </a:r>
            <a:endParaRPr sz="2000" dirty="0">
              <a:solidFill>
                <a:srgbClr val="212B36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76656" y="5989320"/>
            <a:ext cx="16916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/>
            <a:r>
              <a:rPr lang="ru-RU" sz="1200" b="1">
                <a:solidFill>
                  <a:srgbClr val="4B5563"/>
                </a:solidFill>
                <a:latin typeface="Arial"/>
              </a:rPr>
              <a:t>Назад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47B5600D-ABEB-7396-BEFC-CB9060117184}"/>
              </a:ext>
            </a:extLst>
          </p:cNvPr>
          <p:cNvSpPr/>
          <p:nvPr/>
        </p:nvSpPr>
        <p:spPr>
          <a:xfrm>
            <a:off x="9281160" y="5989320"/>
            <a:ext cx="1901952" cy="347472"/>
          </a:xfrm>
          <a:prstGeom prst="round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/>
            <a:r>
              <a:rPr lang="ru-RU" sz="1200" b="1">
                <a:solidFill>
                  <a:srgbClr val="FFFFFF"/>
                </a:solidFill>
                <a:latin typeface="Arial"/>
              </a:rPr>
              <a:t>Далее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" y="676656"/>
            <a:ext cx="1024128" cy="45720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76656" y="1828800"/>
            <a:ext cx="466344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86384" y="1920240"/>
            <a:ext cx="777240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850" b="1">
                <a:solidFill>
                  <a:srgbClr val="0038B8"/>
                </a:solidFill>
                <a:latin typeface="Arial"/>
              </a:rPr>
              <a:t>Шаг 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15968" y="1920240"/>
            <a:ext cx="91440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850" b="1">
                <a:solidFill>
                  <a:srgbClr val="4B5563"/>
                </a:solidFill>
                <a:latin typeface="Arial"/>
              </a:rPr>
              <a:t>Итог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59552" y="1828800"/>
            <a:ext cx="5449824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669280" y="1920240"/>
            <a:ext cx="868680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850" b="1">
                <a:solidFill>
                  <a:srgbClr val="0038B8"/>
                </a:solidFill>
                <a:latin typeface="Arial"/>
              </a:rPr>
              <a:t>S041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38544" y="1920240"/>
            <a:ext cx="77724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850" b="1">
                <a:solidFill>
                  <a:srgbClr val="4B5563"/>
                </a:solidFill>
                <a:latin typeface="Arial"/>
              </a:rPr>
              <a:t>Шаг 05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85248" y="1920240"/>
            <a:ext cx="914400" cy="20116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850" b="1">
                <a:solidFill>
                  <a:srgbClr val="0038B8"/>
                </a:solidFill>
                <a:latin typeface="Arial"/>
              </a:rPr>
              <a:t>Итог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2176272"/>
            <a:ext cx="5230368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11111"/>
                </a:solidFill>
                <a:latin typeface="Arial"/>
              </a:rPr>
              <a:t>Технический комментарий</a:t>
            </a:r>
          </a:p>
        </p:txBody>
      </p:sp>
    </p:spTree>
    <p:extLst>
      <p:ext uri="{BB962C8B-B14F-4D97-AF65-F5344CB8AC3E}">
        <p14:creationId xmlns:p14="http://schemas.microsoft.com/office/powerpoint/2010/main" val="78031051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2748</Words>
  <Application>Microsoft Office PowerPoint</Application>
  <PresentationFormat>Широкоэкранный</PresentationFormat>
  <Paragraphs>671</Paragraphs>
  <Slides>32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32</vt:i4>
      </vt:variant>
    </vt:vector>
  </HeadingPairs>
  <TitlesOfParts>
    <vt:vector size="36" baseType="lpstr">
      <vt:lpstr>Aptos</vt:lpstr>
      <vt:lpstr>Aptos Display</vt:lpstr>
      <vt:lpstr>Arial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Дмитрий</dc:creator>
  <cp:lastModifiedBy>Дмитрий</cp:lastModifiedBy>
  <cp:revision>32</cp:revision>
  <dcterms:created xsi:type="dcterms:W3CDTF">2026-06-29T18:19:40Z</dcterms:created>
  <dcterms:modified xsi:type="dcterms:W3CDTF">2026-06-30T16:44:50Z</dcterms:modified>
</cp:coreProperties>
</file>