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71" r:id="rId15"/>
    <p:sldId id="267" r:id="rId16"/>
    <p:sldId id="268" r:id="rId17"/>
    <p:sldId id="272" r:id="rId18"/>
    <p:sldId id="273" r:id="rId19"/>
    <p:sldId id="274" r:id="rId20"/>
    <p:sldId id="289" r:id="rId21"/>
    <p:sldId id="288" r:id="rId22"/>
    <p:sldId id="290" r:id="rId23"/>
    <p:sldId id="291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3.xml"/><Relationship Id="rId1" Type="http://schemas.openxmlformats.org/officeDocument/2006/relationships/slideLayout" Target="../slideLayouts/slideLayout7.xml"/><Relationship Id="rId5" Type="http://schemas.openxmlformats.org/officeDocument/2006/relationships/slide" Target="slide5.xml"/><Relationship Id="rId4" Type="http://schemas.openxmlformats.org/officeDocument/2006/relationships/slide" Target="sl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10.xml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slide" Target="slide13.xml"/><Relationship Id="rId7" Type="http://schemas.openxmlformats.org/officeDocument/2006/relationships/slide" Target="slide10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slide" Target="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9.xml"/><Relationship Id="rId2" Type="http://schemas.openxmlformats.org/officeDocument/2006/relationships/slide" Target="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slide" Target="slide18.xml"/><Relationship Id="rId4" Type="http://schemas.openxmlformats.org/officeDocument/2006/relationships/slide" Target="slide2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slide" Target="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slide" Target="slide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slide" Target="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9.xml"/><Relationship Id="rId2" Type="http://schemas.openxmlformats.org/officeDocument/2006/relationships/slide" Target="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slide" Target="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0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slide" Target="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slide" Target="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Титульный экран курса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5156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12B36"/>
                </a:solidFill>
              </a:rPr>
              <a:t>ЭВ Стропальщик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783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65A89"/>
                </a:solidFill>
              </a:rPr>
              <a:t>Стропальщик 2-4 разряда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084831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E7436"/>
                </a:solidFill>
              </a:rPr>
              <a:t>Стропальщик 5-6 разряда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60604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Практический курс по безопасной работе с грузами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218688"/>
            <a:ext cx="5669280" cy="98755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>
                <a:solidFill>
                  <a:srgbClr val="212B36"/>
                </a:solidFill>
              </a:rPr>
              <a:t>Базовая часть курса - для 2-4 разряда. Для 5-6 разряда открывайте дополнительные блоки.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658368"/>
            <a:ext cx="4965192" cy="6199632"/>
          </a:xfrm>
          <a:prstGeom prst="rect">
            <a:avLst/>
          </a:prstGeom>
          <a:solidFill>
            <a:srgbClr val="5377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35240" y="109728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Живая demo-сборка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1645920"/>
            <a:ext cx="4069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Сейчас можно посмотреть:
• S001 титул
• S002 экран выбора
• S002-P01 видеоинструкция
• S002-P02 словарь терминов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612648" y="4709160"/>
            <a:ext cx="2377440" cy="566928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НАЧАТЬ КУРС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 и глосарий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вводный экран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14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Выберите, что открыть:</a:t>
            </a:r>
          </a:p>
        </p:txBody>
      </p:sp>
      <p:sp>
        <p:nvSpPr>
          <p:cNvPr id="7" name="Rounded Rectangle 6">
            <a:hlinkClick r:id="rId2" action="ppaction://hlinksldjump"/>
          </p:cNvPr>
          <p:cNvSpPr/>
          <p:nvPr/>
        </p:nvSpPr>
        <p:spPr>
          <a:xfrm>
            <a:off x="640080" y="1508760"/>
            <a:ext cx="5212080" cy="356616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521208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Видеоинструкция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навигация по курсу.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ознакомьтесь.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S002-P01.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6309360" y="1508760"/>
            <a:ext cx="5212080" cy="356616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65836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2423160"/>
            <a:ext cx="4700016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Откройте и прочтите.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Термины вынесены в отдельный подвал.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Переход в подвал S002-P02.</a:t>
            </a:r>
          </a:p>
        </p:txBody>
      </p:sp>
      <p:sp>
        <p:nvSpPr>
          <p:cNvPr id="13" name="Rounded Rectangle 12">
            <a:hlinkClick r:id="rId2" action="ppaction://hlinksldjump"/>
          </p:cNvPr>
          <p:cNvSpPr/>
          <p:nvPr/>
        </p:nvSpPr>
        <p:spPr>
          <a:xfrm>
            <a:off x="1600200" y="4572000"/>
            <a:ext cx="3246120" cy="56692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S002-P01</a:t>
            </a:r>
          </a:p>
        </p:txBody>
      </p:sp>
      <p:sp>
        <p:nvSpPr>
          <p:cNvPr id="14" name="Rounded Rectangle 13">
            <a:hlinkClick r:id="rId3" action="ppaction://hlinksldjump"/>
          </p:cNvPr>
          <p:cNvSpPr/>
          <p:nvPr/>
        </p:nvSpPr>
        <p:spPr>
          <a:xfrm>
            <a:off x="7269480" y="4572000"/>
            <a:ext cx="3246120" cy="56692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S002-P02</a:t>
            </a:r>
          </a:p>
        </p:txBody>
      </p:sp>
      <p:sp>
        <p:nvSpPr>
          <p:cNvPr id="15" name="Rounded Rectangle 14">
            <a:hlinkClick r:id="rId4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6" name="Rounded Rectangle 15">
            <a:hlinkClick r:id="rId5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Видеоинструкция по курсу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4389120" cy="3520440"/>
          </a:xfrm>
          <a:prstGeom prst="roundRect">
            <a:avLst>
              <a:gd name="adj" fmla="val 3050"/>
            </a:avLst>
          </a:prstGeom>
          <a:solidFill>
            <a:srgbClr val="E0E8EF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44475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22B42"/>
                </a:solidFill>
              </a:rPr>
              <a:t>Здесь будет видеоролик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3886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12B36"/>
                </a:solidFill>
              </a:rPr>
              <a:t>Рабочая озвучка уже подготовлена:
S002-P01_ozvuchka_55_sec_stress_2026-06-20.mp3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096512"/>
            <a:ext cx="3749039" cy="530352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ОТКРЫТЬ ВИДЕОИНСТРУКЦИЮ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B36"/>
                </a:solidFill>
              </a:rPr>
              <a:t>Что должен понять слушатель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645920"/>
            <a:ext cx="5486400" cy="32461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94960" y="1645920"/>
            <a:ext cx="548640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Коротко о логике курса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560320"/>
            <a:ext cx="4974336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Курс интерактивный.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Темы идут по порядку.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тем и блоков будут тесты.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 кнопкам открывайте пояснения.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После просмотра вернитесь в курс.</a:t>
            </a:r>
          </a:p>
        </p:txBody>
      </p:sp>
      <p:sp>
        <p:nvSpPr>
          <p:cNvPr id="14" name="Rounded Rectangle 13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Словарь терминов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S002-P02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43000"/>
            <a:ext cx="11045952" cy="46177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4754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Термины расположены по алфавиту</a:t>
            </a:r>
          </a:p>
        </p:txBody>
      </p:sp>
      <p:sp>
        <p:nvSpPr>
          <p:cNvPr id="8" name="Rectangle 7"/>
          <p:cNvSpPr/>
          <p:nvPr/>
        </p:nvSpPr>
        <p:spPr>
          <a:xfrm>
            <a:off x="6071616" y="1627632"/>
            <a:ext cx="18288" cy="3794760"/>
          </a:xfrm>
          <a:prstGeom prst="rect">
            <a:avLst/>
          </a:prstGeom>
          <a:solidFill>
            <a:srgbClr val="D2DA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Гак</a:t>
            </a:r>
            <a:r>
              <a:rPr sz="1100">
                <a:solidFill>
                  <a:srgbClr val="212B36"/>
                </a:solidFill>
              </a:rPr>
              <a:t> - крюк грузоподъёмного механизма.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</a:t>
            </a:r>
            <a:r>
              <a:rPr sz="1100">
                <a:solidFill>
                  <a:srgbClr val="212B36"/>
                </a:solidFill>
              </a:rPr>
              <a:t> - предмет или конструкция для подъёма.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Грузозахватное приспособление</a:t>
            </a:r>
            <a:r>
              <a:rPr sz="1100">
                <a:solidFill>
                  <a:srgbClr val="212B36"/>
                </a:solidFill>
              </a:rPr>
              <a:t> - устройство для захвата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Зажимы</a:t>
            </a:r>
            <a:r>
              <a:rPr sz="1100">
                <a:solidFill>
                  <a:srgbClr val="212B36"/>
                </a:solidFill>
              </a:rPr>
              <a:t> - устройства для закрепления концов каната.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Коуш</a:t>
            </a:r>
            <a:r>
              <a:rPr sz="1100">
                <a:solidFill>
                  <a:srgbClr val="212B36"/>
                </a:solidFill>
              </a:rPr>
              <a:t> - металлическая вставка, защищающая петлю каната от залома и износа.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Магнитные зажимы</a:t>
            </a:r>
            <a:r>
              <a:rPr sz="1100">
                <a:solidFill>
                  <a:srgbClr val="212B36"/>
                </a:solidFill>
              </a:rPr>
              <a:t> - устройства, удерживающие металлический груз с помощью магнита.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Мёртвый груз</a:t>
            </a:r>
            <a:r>
              <a:rPr sz="1100">
                <a:solidFill>
                  <a:srgbClr val="212B36"/>
                </a:solidFill>
              </a:rPr>
              <a:t> - груз, массу которого определить невозможно.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Оттяжка</a:t>
            </a:r>
            <a:r>
              <a:rPr sz="1100">
                <a:solidFill>
                  <a:srgbClr val="212B36"/>
                </a:solidFill>
              </a:rPr>
              <a:t> - канат или верёвка для управления положением груза и предотвращения его раскачивания.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Рым</a:t>
            </a:r>
            <a:r>
              <a:rPr sz="1100">
                <a:solidFill>
                  <a:srgbClr val="212B36"/>
                </a:solidFill>
              </a:rPr>
              <a:t> - кольцо или проушина для крепления стропа к грузу.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19072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Сигнальщик</a:t>
            </a:r>
            <a:r>
              <a:rPr sz="1100">
                <a:solidFill>
                  <a:srgbClr val="212B36"/>
                </a:solidFill>
              </a:rPr>
              <a:t> - работник, который подаёт команды крановщику при перемещении груза, если между стропальщиком и крановщиком контакт отсутствует.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СИЗ</a:t>
            </a:r>
            <a:r>
              <a:rPr sz="1100">
                <a:solidFill>
                  <a:srgbClr val="212B36"/>
                </a:solidFill>
              </a:rPr>
              <a:t> - средства индивидуальной защиты.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</a:t>
            </a:r>
            <a:r>
              <a:rPr sz="1100">
                <a:solidFill>
                  <a:srgbClr val="212B36"/>
                </a:solidFill>
              </a:rPr>
              <a:t> - грузозахватное средство.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Стропальщик</a:t>
            </a:r>
            <a:r>
              <a:rPr sz="1100">
                <a:solidFill>
                  <a:srgbClr val="212B36"/>
                </a:solidFill>
              </a:rPr>
              <a:t> - рабочий, который выполняет строповку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Строповка</a:t>
            </a:r>
            <a:r>
              <a:rPr sz="1100">
                <a:solidFill>
                  <a:srgbClr val="212B36"/>
                </a:solidFill>
              </a:rPr>
              <a:t> - способ обвязки и зацепки.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Тара</a:t>
            </a:r>
            <a:r>
              <a:rPr sz="1100">
                <a:solidFill>
                  <a:srgbClr val="212B36"/>
                </a:solidFill>
              </a:rPr>
              <a:t> - ёмкость или приспособление для размещения и перемещения груза.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Траверса</a:t>
            </a:r>
            <a:r>
              <a:rPr sz="1100">
                <a:solidFill>
                  <a:srgbClr val="212B36"/>
                </a:solidFill>
              </a:rPr>
              <a:t> - грузозахватная балка для подъёма длинных или крупногабаритных грузов.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265A89"/>
                </a:solidFill>
              </a:rPr>
              <a:t>Цапфа</a:t>
            </a:r>
            <a:r>
              <a:rPr sz="1100">
                <a:solidFill>
                  <a:srgbClr val="212B36"/>
                </a:solidFill>
              </a:rPr>
              <a:t> - выступающая часть груза или оборудования, используемая как опора или место строповки.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8366760" y="5989320"/>
            <a:ext cx="2788920" cy="457200"/>
          </a:xfrm>
          <a:prstGeom prst="roundRect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 К КУРСУ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Какие документы регулируют работу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932688"/>
            <a:ext cx="7863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22B42"/>
                </a:solidFill>
              </a:rPr>
              <a:t>Это основные правовые акты, регулирующие работу стропальщика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56235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Закон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691640"/>
            <a:ext cx="150876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Дата принятия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1691640"/>
            <a:ext cx="3063240" cy="512064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Кто издал</a:t>
            </a:r>
          </a:p>
        </p:txBody>
      </p:sp>
      <p:sp>
        <p:nvSpPr>
          <p:cNvPr id="10" name="Rectangle 9">
            <a:hlinkClick r:id="rId2" action="ppaction://hlinksldjump"/>
          </p:cNvPr>
          <p:cNvSpPr/>
          <p:nvPr/>
        </p:nvSpPr>
        <p:spPr>
          <a:xfrm>
            <a:off x="640080" y="2203704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203704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30.12.2001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203704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3" name="Rectangle 12">
            <a:hlinkClick r:id="rId3" action="ppaction://hlinksldjump"/>
          </p:cNvPr>
          <p:cNvSpPr/>
          <p:nvPr/>
        </p:nvSpPr>
        <p:spPr>
          <a:xfrm>
            <a:off x="640080" y="2953512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953512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24.12.2021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2953512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Правительство РФ</a:t>
            </a:r>
          </a:p>
        </p:txBody>
      </p:sp>
      <p:sp>
        <p:nvSpPr>
          <p:cNvPr id="16" name="Rectangle 15">
            <a:hlinkClick r:id="rId4" action="ppaction://hlinksldjump"/>
          </p:cNvPr>
          <p:cNvSpPr/>
          <p:nvPr/>
        </p:nvSpPr>
        <p:spPr>
          <a:xfrm>
            <a:off x="640080" y="3703320"/>
            <a:ext cx="56235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703320"/>
            <a:ext cx="150876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21.07.1997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0" y="3703320"/>
            <a:ext cx="3063240" cy="749808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Федеральное Собрание РФ,
Президент РФ</a:t>
            </a:r>
          </a:p>
        </p:txBody>
      </p:sp>
      <p:sp>
        <p:nvSpPr>
          <p:cNvPr id="19" name="Rectangle 18">
            <a:hlinkClick r:id="rId5" action="ppaction://hlinksldjump"/>
          </p:cNvPr>
          <p:cNvSpPr/>
          <p:nvPr/>
        </p:nvSpPr>
        <p:spPr>
          <a:xfrm>
            <a:off x="640080" y="4453128"/>
            <a:ext cx="56235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500" b="1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4453128"/>
            <a:ext cx="150876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212B36"/>
                </a:solidFill>
              </a:rPr>
              <a:t>26.11.2020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0" y="4453128"/>
            <a:ext cx="3063240" cy="749808"/>
          </a:xfrm>
          <a:prstGeom prst="rect">
            <a:avLst/>
          </a:prstGeom>
          <a:solidFill>
            <a:srgbClr val="F8FAFC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300" b="0">
                <a:solidFill>
                  <a:srgbClr val="212B36"/>
                </a:solidFill>
              </a:rPr>
              <a:t>Ростехнадзор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55480" y="1691640"/>
            <a:ext cx="196596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55480" y="1691640"/>
            <a:ext cx="1965960" cy="566928"/>
          </a:xfrm>
          <a:prstGeom prst="round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</a:rPr>
              <a:t>Интерактив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84080" y="2478024"/>
            <a:ext cx="1508760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12B36"/>
                </a:solidFill>
              </a:rPr>
              <a:t>Нажмите на название документа.</a:t>
            </a:r>
          </a:p>
        </p:txBody>
      </p:sp>
      <p:sp>
        <p:nvSpPr>
          <p:cNvPr id="25" name="Rounded Rectangle 24">
            <a:hlinkClick r:id="rId6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Rounded Rectangle 25">
            <a:hlinkClick r:id="rId7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Трудовой кодекс РФ № 197-ФЗ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Трудовой кодекс РФ № 197-ФЗ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Общая рамка по охране труда и допуску к работе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Раздел X "Охрана труда": обязанности работодателя и работника, СИЗ, безопасные условия труда, расследование несчастных случаев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Постановление Правительства РФ № 2464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Постановление Правительства РФ № 2464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Обучение по охране труда и проверка знаний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Инструктажи, стажировка, обучение, первая помощь, проверка знаний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Федеральный закон № 116-ФЗ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Федеральный закон № 116-ФЗ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требования безопасной работы на опасных производственных объектах, подготовки работников, предупреждения аварий и производственного контроля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Нужен при работе на ОПО: подготовка работников, требования промбезопасности, производственный контроль. Для стропальщика важен тем, что требует проходить обучение, соблюдать правила безопасности, выполнять инструкции и сообщать о неисправностях и опасных ситуациях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Приказ Ростехнадзора № 461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S003-P04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0584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22B42"/>
                </a:solidFill>
              </a:rPr>
              <a:t>Короткая справка по документу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3774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Поле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1600200"/>
            <a:ext cx="6720840" cy="502920"/>
          </a:xfrm>
          <a:prstGeom prst="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Содержание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03120"/>
            <a:ext cx="2377440" cy="73152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Документ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2103120"/>
            <a:ext cx="67208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Приказ Ростехнадзора № 461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40"/>
            <a:ext cx="2377440" cy="9144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О чем документ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834640"/>
            <a:ext cx="67208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Устанавливает правила безопасной эксплуатации кранов и других подъемных сооружений на опасных производственных объектах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40"/>
            <a:ext cx="2377440" cy="1600200"/>
          </a:xfrm>
          <a:prstGeom prst="rect">
            <a:avLst/>
          </a:prstGeom>
          <a:solidFill>
            <a:srgbClr val="F0F4F7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1">
                <a:solidFill>
                  <a:srgbClr val="212B36"/>
                </a:solidFill>
              </a:rPr>
              <a:t>Чем важно для стропальщика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3749040"/>
            <a:ext cx="6720840" cy="1600200"/>
          </a:xfrm>
          <a:prstGeom prst="rect">
            <a:avLst/>
          </a:prstGeom>
          <a:solidFill>
            <a:srgbClr val="FFFFFF"/>
          </a:solidFill>
          <a:ln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/>
            <a:r>
              <a:rPr sz="1400" b="0">
                <a:solidFill>
                  <a:srgbClr val="212B36"/>
                </a:solidFill>
              </a:rPr>
              <a:t>п. 19, п. 98-99, п. 155-163: персонал, сигналы, ППР/ТК, строповка, ПРР, складирование. Для стропальщика важен тем, что определяет правила строповки и перемещения грузов, проверки стропов и тары, подачи сигналов и прекращения работы при опасности</a:t>
            </a:r>
          </a:p>
        </p:txBody>
      </p:sp>
      <p:sp>
        <p:nvSpPr>
          <p:cNvPr id="15" name="Rounded Rectangle 14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такой стропальщик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6400800" cy="45262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004_avatar-1_signal-podnyat-gruz_white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463040"/>
            <a:ext cx="5989320" cy="3995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69480" y="1261872"/>
            <a:ext cx="4343400" cy="388620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69480" y="1261872"/>
            <a:ext cx="4343400" cy="621792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Определение профессии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2088" y="2157984"/>
            <a:ext cx="3758184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22B42"/>
                </a:solidFill>
              </a:rPr>
              <a:t>Стропальщик</a:t>
            </a:r>
            <a:r>
              <a:rPr sz="1800">
                <a:solidFill>
                  <a:srgbClr val="212B36"/>
                </a:solidFill>
              </a:rPr>
              <a:t> — рабочая профессия, связанная с подготовкой, обвязкой, зацепкой и безопасным перемещением грузов с помощью грузоподъёмных механизмов.</a:t>
            </a:r>
          </a:p>
        </p:txBody>
      </p:sp>
      <p:sp>
        <p:nvSpPr>
          <p:cNvPr id="11" name="Rounded Rectangle 10">
            <a:hlinkClick r:id="rId3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Кто может работать стропальщиком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170432"/>
            <a:ext cx="10771632" cy="46177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524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417320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E7A86"/>
                </a:solidFill>
              </a:rPr>
              <a:t>К работе допускаются работники, которые:</a:t>
            </a:r>
          </a:p>
        </p:txBody>
      </p:sp>
      <p:sp>
        <p:nvSpPr>
          <p:cNvPr id="8" name="Rounded Rectangle 7">
            <a:hlinkClick r:id="rId2" action="ppaction://hlinksldjump"/>
          </p:cNvPr>
          <p:cNvSpPr/>
          <p:nvPr/>
        </p:nvSpPr>
        <p:spPr>
          <a:xfrm>
            <a:off x="969264" y="1810512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Прошел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обучение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109472" y="1882902"/>
            <a:ext cx="402336" cy="402336"/>
          </a:xfrm>
          <a:prstGeom prst="ellipse">
            <a:avLst/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ounded Rectangle 9">
            <a:hlinkClick r:id="rId3" action="ppaction://hlinksldjump"/>
          </p:cNvPr>
          <p:cNvSpPr/>
          <p:nvPr/>
        </p:nvSpPr>
        <p:spPr>
          <a:xfrm>
            <a:off x="969264" y="2468880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Прошел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инструктаж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09472" y="2530222"/>
            <a:ext cx="402336" cy="402336"/>
          </a:xfrm>
          <a:prstGeom prst="ellipse">
            <a:avLst/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ounded Rectangle 11">
            <a:hlinkClick r:id="rId4" action="ppaction://hlinksldjump"/>
          </p:cNvPr>
          <p:cNvSpPr/>
          <p:nvPr/>
        </p:nvSpPr>
        <p:spPr>
          <a:xfrm>
            <a:off x="969264" y="3127248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Прошел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проверку</a:t>
            </a:r>
            <a:r>
              <a:rPr sz="1600" b="1" dirty="0">
                <a:solidFill>
                  <a:srgbClr val="212B36"/>
                </a:solidFill>
              </a:rPr>
              <a:t> </a:t>
            </a:r>
            <a:r>
              <a:rPr sz="1600" b="1" dirty="0" err="1">
                <a:solidFill>
                  <a:srgbClr val="212B36"/>
                </a:solidFill>
              </a:rPr>
              <a:t>знаний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09472" y="3154680"/>
            <a:ext cx="402336" cy="402336"/>
          </a:xfrm>
          <a:prstGeom prst="ellipse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Rounded Rectangle 13">
            <a:hlinkClick r:id="rId5" action="ppaction://hlinksldjump"/>
          </p:cNvPr>
          <p:cNvSpPr/>
          <p:nvPr/>
        </p:nvSpPr>
        <p:spPr>
          <a:xfrm>
            <a:off x="969264" y="3785616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Допущен</a:t>
            </a:r>
            <a:r>
              <a:rPr sz="1600" b="1" dirty="0">
                <a:solidFill>
                  <a:srgbClr val="212B36"/>
                </a:solidFill>
              </a:rPr>
              <a:t> к </a:t>
            </a:r>
            <a:r>
              <a:rPr sz="1600" b="1" dirty="0" err="1">
                <a:solidFill>
                  <a:srgbClr val="212B36"/>
                </a:solidFill>
              </a:rPr>
              <a:t>работе</a:t>
            </a:r>
            <a:endParaRPr sz="1600" b="1" dirty="0">
              <a:solidFill>
                <a:srgbClr val="212B36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124331" y="3867912"/>
            <a:ext cx="402336" cy="402336"/>
          </a:xfrm>
          <a:prstGeom prst="ellipse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Rounded Rectangle 15">
            <a:hlinkClick r:id="rId6" action="ppaction://hlinksldjump"/>
          </p:cNvPr>
          <p:cNvSpPr/>
          <p:nvPr/>
        </p:nvSpPr>
        <p:spPr>
          <a:xfrm>
            <a:off x="969264" y="4443983"/>
            <a:ext cx="10012680" cy="548640"/>
          </a:xfrm>
          <a:prstGeom prst="roundRect">
            <a:avLst>
              <a:gd name="adj" fmla="val 19300"/>
            </a:avLst>
          </a:prstGeom>
          <a:solidFill>
            <a:srgbClr val="FFFFFF"/>
          </a:solidFill>
          <a:ln w="1778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l"/>
            <a:r>
              <a:rPr lang="ru-RU" sz="1600" b="1" dirty="0">
                <a:solidFill>
                  <a:srgbClr val="212B36"/>
                </a:solidFill>
              </a:rPr>
              <a:t>            </a:t>
            </a:r>
            <a:r>
              <a:rPr sz="1600" b="1" dirty="0" err="1">
                <a:solidFill>
                  <a:srgbClr val="212B36"/>
                </a:solidFill>
              </a:rPr>
              <a:t>Использует</a:t>
            </a:r>
            <a:r>
              <a:rPr sz="1600" b="1" dirty="0">
                <a:solidFill>
                  <a:srgbClr val="212B36"/>
                </a:solidFill>
              </a:rPr>
              <a:t> СИЗ</a:t>
            </a:r>
          </a:p>
        </p:txBody>
      </p:sp>
      <p:sp>
        <p:nvSpPr>
          <p:cNvPr id="17" name="Oval 16"/>
          <p:cNvSpPr/>
          <p:nvPr/>
        </p:nvSpPr>
        <p:spPr>
          <a:xfrm>
            <a:off x="1141095" y="4507611"/>
            <a:ext cx="402336" cy="402336"/>
          </a:xfrm>
          <a:prstGeom prst="ellipse">
            <a:avLst/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" y="5230368"/>
            <a:ext cx="10012680" cy="640080"/>
          </a:xfrm>
          <a:prstGeom prst="roundRect">
            <a:avLst>
              <a:gd name="adj" fmla="val 19300"/>
            </a:avLst>
          </a:prstGeom>
          <a:solidFill>
            <a:srgbClr val="FAF2EC"/>
          </a:solidFill>
          <a:ln w="1524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5413248"/>
            <a:ext cx="9555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DE7436"/>
                </a:solidFill>
              </a:rPr>
              <a:t>Допуск — это не формальность, а условие безопасной работы.</a:t>
            </a:r>
          </a:p>
        </p:txBody>
      </p:sp>
      <p:sp>
        <p:nvSpPr>
          <p:cNvPr id="20" name="Rounded Rectangle 19">
            <a:hlinkClick r:id="rId7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1" name="Rounded Rectangle 20">
            <a:hlinkClick r:id="rId8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пройти обучение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75000"/>
            <a:ext cx="4050000" cy="446000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275000"/>
            <a:ext cx="4050000" cy="600000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Профессиональное обучение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5800" y="2010000"/>
            <a:ext cx="3710000" cy="3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60" b="0">
                <a:solidFill>
                  <a:srgbClr val="212B36"/>
                </a:solidFill>
                <a:latin typeface="Arial"/>
              </a:rPr>
              <a:t>Профессиональное обучение по профессии «стропальщик» может проводить учебный центр или работодатель непосредственно на производстве.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60" b="1">
                <a:solidFill>
                  <a:srgbClr val="212B36"/>
                </a:solidFill>
                <a:latin typeface="Arial"/>
              </a:rPr>
              <a:t>Обязательное условие — наличие лицензии на образовательную деятельность по программам профессионального обучения.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75800" y="1275000"/>
            <a:ext cx="6510000" cy="446000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975800" y="1275000"/>
            <a:ext cx="6510000" cy="600000"/>
          </a:xfrm>
          <a:prstGeom prst="roundRect">
            <a:avLst>
              <a:gd name="adj" fmla="val 19300"/>
            </a:avLst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Обучение по Охрана труда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5800" y="2010000"/>
            <a:ext cx="6210000" cy="344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80" b="0">
                <a:solidFill>
                  <a:srgbClr val="212B36"/>
                </a:solidFill>
                <a:latin typeface="Arial"/>
              </a:rPr>
              <a:t>По ПП РФ № 2464 стропальщик должен пройти: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Программу Б — не менее 16 часов, затем не реже одного раза в 3 года.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Обучение первой помощи — не реже одного раза в 3 года. Отдельная программа длится не менее 8 часов.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Обучение применению СИЗ — если средства защиты требуют практических навыков. Периодичность — не реже одного раза в 3 года.</a:t>
            </a:r>
          </a:p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160" b="0">
                <a:solidFill>
                  <a:srgbClr val="212B36"/>
                </a:solidFill>
                <a:latin typeface="Arial"/>
              </a:rPr>
              <a:t>• Программу В и стажировку не менее двух смен — если работа стропальщика включена в перечень работ повышенной опасности. Как правило, обучение по программе В проводится ежегодно.</a:t>
            </a:r>
          </a:p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sz="1180" b="1">
                <a:solidFill>
                  <a:srgbClr val="212B36"/>
                </a:solidFill>
                <a:latin typeface="Arial"/>
              </a:rPr>
              <a:t>ПП РФ № 2464 регулирует обучение по охране труда, но не заменяет профессиональное обучение по профессии «стропальщик».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603000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инструктаж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Инструктаж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700" b="0" dirty="0" err="1">
                <a:solidFill>
                  <a:srgbClr val="212B36"/>
                </a:solidFill>
                <a:latin typeface="Arial"/>
              </a:rPr>
              <a:t>Инструктажи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по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охране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труда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: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вводный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,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первичный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и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повторный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12B36"/>
                </a:solidFill>
                <a:latin typeface="Arial"/>
              </a:rPr>
              <a:t>Повторный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—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не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реже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одного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раза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в 6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месяцев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.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700" b="0" dirty="0" err="1">
                <a:solidFill>
                  <a:srgbClr val="212B36"/>
                </a:solidFill>
                <a:latin typeface="Arial"/>
              </a:rPr>
              <a:t>Внеплановый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и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целевой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—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при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212B36"/>
                </a:solidFill>
                <a:latin typeface="Arial"/>
              </a:rPr>
              <a:t>необходимости</a:t>
            </a:r>
            <a:r>
              <a:rPr sz="1700" b="0" dirty="0">
                <a:solidFill>
                  <a:srgbClr val="212B36"/>
                </a:solidFill>
                <a:latin typeface="Arial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Зачем нужен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Объяснили.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Понял.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Применяешь на работе.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такое проверка знаний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Проверка знаний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Показывает, что работник понял требования.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 готовность к допуску.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Не является формальностью.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42855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Логика допуска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Знание.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Допуск.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Безопасная работа.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значит допуск к работе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Допуск к работе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240280"/>
            <a:ext cx="602589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Оформляется после обучения, инструктажа и проверки знаний.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Подтверждает, что работник может работать самостоятельно.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Без допуска самостоятельная работа недопустима.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1325880"/>
            <a:ext cx="393192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Что это дает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240280"/>
            <a:ext cx="3419856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Понятный статус допуска.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Право выполнять работу по правилам.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12B36"/>
                </a:solidFill>
              </a:rPr>
              <a:t>Основу для безопасной самостоятельной работы.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Что входит в СИЗ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S005-P05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Подвал от S005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6537960" cy="41605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6537960" cy="658368"/>
          </a:xfrm>
          <a:prstGeom prst="roundRect">
            <a:avLst>
              <a:gd name="adj" fmla="val 19300"/>
            </a:avLst>
          </a:prstGeom>
          <a:solidFill>
            <a:srgbClr val="122B42"/>
          </a:solidFill>
          <a:ln>
            <a:solidFill>
              <a:srgbClr val="122B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r>
              <a:t>Общепроизводственные СИЗ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325880"/>
            <a:ext cx="3931920" cy="4142232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7780"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43800" y="1325880"/>
            <a:ext cx="3931920" cy="658368"/>
          </a:xfrm>
          <a:prstGeom prst="roundRect">
            <a:avLst>
              <a:gd name="adj" fmla="val 19300"/>
            </a:avLst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r>
              <a:t>Требования к СИЗ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9832" y="2130552"/>
            <a:ext cx="3419856" cy="31729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40">
                <a:solidFill>
                  <a:srgbClr val="212B36"/>
                </a:solidFill>
              </a:rPr>
              <a:t>Главные требования к общепроизводственным СИЗ (спецодежде, обуви, перчаткам, очкам и каскам) закреплены в Техническом регламенте Таможенного союза ТР ТС 019/2011 «О безопасности средств индивидуальной защиты».</a:t>
            </a:r>
          </a:p>
          <a:p>
            <a:pPr algn="l">
              <a:spcAft>
                <a:spcPts val="300"/>
              </a:spcAft>
            </a:pPr>
            <a:r>
              <a:rPr sz="1180" b="1">
                <a:solidFill>
                  <a:srgbClr val="212B36"/>
                </a:solidFill>
              </a:rPr>
              <a:t>СИЗ должны отвечать пяти ключевым критериям:</a:t>
            </a:r>
          </a:p>
          <a:p>
            <a:pPr algn="l">
              <a:spcAft>
                <a:spcPts val="300"/>
              </a:spcAft>
            </a:pPr>
            <a:r>
              <a:rPr sz="1140">
                <a:solidFill>
                  <a:srgbClr val="212B36"/>
                </a:solidFill>
              </a:rPr>
              <a:t>безопасность самого изделия / защитная эффективность / эргономика и комфорт / стойкость к уходу / обязательная маркировка</a:t>
            </a:r>
          </a:p>
          <a:p>
            <a:pPr algn="l">
              <a:spcAft>
                <a:spcPts val="0"/>
              </a:spcAft>
            </a:pPr>
            <a:r>
              <a:rPr sz="1140">
                <a:solidFill>
                  <a:srgbClr val="5F6D7B"/>
                </a:solidFill>
              </a:rPr>
              <a:t>На каждом СИЗ (или его ярлыке) должна быть понятная, несмываемая маркировка: наименование, размер, дата изготовления, срок годности, защитные свойства и единый знак обращения продукции на рынке (EAC).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pic>
        <p:nvPicPr>
          <p:cNvPr id="13" name="Picture 12" descr="VIS-0011_siz_s005-p05_body-clean_v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2076173"/>
            <a:ext cx="6391656" cy="3318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Квалификация стропальщика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Тема 1 • общая часть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10881360" cy="42976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1088136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r>
              <a:t>Разряды 2-6</a:t>
            </a:r>
          </a:p>
        </p:txBody>
      </p:sp>
      <p:sp>
        <p:nvSpPr>
          <p:cNvPr id="12" name="Rounded Rectangle 11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3" name="Rounded Rectangle 12">
            <a:hlinkClick r:id="rId3" action="ppaction://hlinksldjump"/>
          </p:cNvPr>
          <p:cNvSpPr/>
          <p:nvPr/>
        </p:nvSpPr>
        <p:spPr>
          <a:xfrm>
            <a:off x="9372600" y="5989320"/>
            <a:ext cx="2148840" cy="457200"/>
          </a:xfrm>
          <a:prstGeom prst="roundRect">
            <a:avLst/>
          </a:prstGeom>
          <a:solidFill>
            <a:srgbClr val="DE7436"/>
          </a:solidFill>
          <a:ln>
            <a:solidFill>
              <a:srgbClr val="DE7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ДАЛЕЕ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49808" y="1984248"/>
          <a:ext cx="10533888" cy="3593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0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14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Разряд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Допустимый
вес груза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Сложность груза
и конструкций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</a:rPr>
                        <a:t>Длина лесных
грузов</a:t>
                      </a:r>
                    </a:p>
                  </a:txBody>
                  <a:tcPr marL="64008" marR="64008" marT="27432" marB="27432">
                    <a:solidFill>
                      <a:srgbClr val="265A8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2 разряд</a:t>
                      </a:r>
                    </a:p>
                  </a:txBody>
                  <a:tcPr marL="64008" marR="64008" marT="27432" marB="27432">
                    <a:solidFill>
                      <a:srgbClr val="EBF2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5 тонн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Простые изделия и
детали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3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3 разряд</a:t>
                      </a:r>
                    </a:p>
                  </a:txBody>
                  <a:tcPr marL="64008" marR="64008" marT="27432" marB="27432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5 до 25 тонн (простые)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Простые и средней
сложности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3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5 тонн (средние)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4 разряд</a:t>
                      </a:r>
                    </a:p>
                  </a:txBody>
                  <a:tcPr marL="64008" marR="64008" marT="27432" marB="27432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25 тонн (простые)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Средние, штучные,
требующие
осторожности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3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5 до 25 тонн (средние)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До 5 тонн (сложные)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5 разряд</a:t>
                      </a:r>
                    </a:p>
                  </a:txBody>
                  <a:tcPr marL="64008" marR="64008" marT="27432" marB="27432">
                    <a:solidFill>
                      <a:srgbClr val="FAF2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25 тонн (средние)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B36"/>
                          </a:solidFill>
                        </a:rPr>
                        <a:t>Сложные конструкции,
стапельная сборка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3 до 6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От 5 до 50 тонн (сложные)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12B36"/>
                          </a:solidFill>
                        </a:rPr>
                        <a:t>6 разряд</a:t>
                      </a:r>
                    </a:p>
                  </a:txBody>
                  <a:tcPr marL="64008" marR="64008" marT="27432" marB="27432">
                    <a:solidFill>
                      <a:srgbClr val="FAF2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50 тонн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12B36"/>
                          </a:solidFill>
                        </a:rPr>
                        <a:t>Особо
ответственные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B36"/>
                          </a:solidFill>
                        </a:rPr>
                        <a:t>Свыше 6 метров</a:t>
                      </a:r>
                    </a:p>
                  </a:txBody>
                  <a:tcPr marL="64008" marR="64008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2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Тема 2. Стропальные работы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469880" y="128016"/>
            <a:ext cx="1234440" cy="320040"/>
          </a:xfrm>
          <a:prstGeom prst="roundRect">
            <a:avLst/>
          </a:prstGeom>
          <a:solidFill>
            <a:srgbClr val="DE7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S007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9808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E7A86"/>
                </a:solidFill>
              </a:rPr>
              <a:t>Переход к основному практическому блоку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074920" cy="406908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 w="19050"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074920" cy="658368"/>
          </a:xfrm>
          <a:prstGeom prst="roundRect">
            <a:avLst>
              <a:gd name="adj" fmla="val 19300"/>
            </a:avLst>
          </a:prstGeom>
          <a:solidFill>
            <a:srgbClr val="265A89"/>
          </a:solidFill>
          <a:ln>
            <a:solidFill>
              <a:srgbClr val="265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0000" rIns="160000" rtlCol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Что дальше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77440"/>
            <a:ext cx="4562856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В Теме 2 начинается прикладная часть курса.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Здесь будут грузы, схемы строповки, сигналы и опасные зоны.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212B36"/>
                </a:solidFill>
              </a:rPr>
              <a:t>Это точка перехода из вводной части в основную работу.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4572000" cy="2560320"/>
          </a:xfrm>
          <a:prstGeom prst="roundRect">
            <a:avLst>
              <a:gd name="adj" fmla="val 3050"/>
            </a:avLst>
          </a:prstGeom>
          <a:solidFill>
            <a:srgbClr val="FFFFFF"/>
          </a:solidFill>
          <a:ln>
            <a:solidFill>
              <a:srgbClr val="4285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3840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212B36"/>
                </a:solidFill>
              </a:rPr>
              <a:t>Тема 2.1 Грузы
→ Тема 2.2 Технология
→ Тема 2.3 Производство работ</a:t>
            </a:r>
          </a:p>
        </p:txBody>
      </p:sp>
      <p:sp>
        <p:nvSpPr>
          <p:cNvPr id="11" name="Rounded Rectangle 10">
            <a:hlinkClick r:id="rId2" action="ppaction://hlinksldjump"/>
          </p:cNvPr>
          <p:cNvSpPr/>
          <p:nvPr/>
        </p:nvSpPr>
        <p:spPr>
          <a:xfrm>
            <a:off x="640080" y="5989320"/>
            <a:ext cx="2148840" cy="457200"/>
          </a:xfrm>
          <a:prstGeom prst="roundRect">
            <a:avLst/>
          </a:prstGeom>
          <a:solidFill>
            <a:srgbClr val="537795"/>
          </a:solidFill>
          <a:ln>
            <a:solidFill>
              <a:srgbClr val="5377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4E155FC1-5F76-5CD6-D1A6-CA894821810C}"/>
              </a:ext>
            </a:extLst>
          </p:cNvPr>
          <p:cNvSpPr/>
          <p:nvPr/>
        </p:nvSpPr>
        <p:spPr>
          <a:xfrm>
            <a:off x="8540496" y="5577840"/>
            <a:ext cx="2761488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К теме 2.1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ACFA9AE-9EC9-A2C7-A889-B179C8005CB3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904529-2087-4C2B-D011-EAF69068FCE2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Кран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AE6AAA-AE62-B2D2-6FA9-1AB3646D2BA1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Первый опорный слайд темы 2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CCFF1DC-D574-976A-9C74-6B995037F926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S008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71134A-67CD-76FF-6C09-FFE8525D46BD}"/>
              </a:ext>
            </a:extLst>
          </p:cNvPr>
          <p:cNvSpPr txBox="1"/>
          <p:nvPr/>
        </p:nvSpPr>
        <p:spPr>
          <a:xfrm>
            <a:off x="749808" y="1572768"/>
            <a:ext cx="5303520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600" b="1">
                <a:solidFill>
                  <a:srgbClr val="2D3136"/>
                </a:solidFill>
              </a:rPr>
              <a:t>Перед строповкой важно понимать сам кран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A9F89-00DC-C0D8-BE77-82DCF9B2848C}"/>
              </a:ext>
            </a:extLst>
          </p:cNvPr>
          <p:cNvSpPr txBox="1"/>
          <p:nvPr/>
        </p:nvSpPr>
        <p:spPr>
          <a:xfrm>
            <a:off x="749808" y="2139696"/>
            <a:ext cx="5248656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500">
                <a:solidFill>
                  <a:srgbClr val="2D3136"/>
                </a:solidFill>
              </a:rPr>
              <a:t>Этот слайд открывает тему 2 и задает опорные направления, к которым дальше можно наращивать материал.</a:t>
            </a:r>
          </a:p>
          <a:p>
            <a:r>
              <a:rPr lang="ru-RU" sz="1500">
                <a:solidFill>
                  <a:srgbClr val="2D3136"/>
                </a:solidFill>
              </a:rPr>
              <a:t>Пока фиксируем три главных блока: типы кранов, параметры и конструктивные особенности.</a:t>
            </a:r>
          </a:p>
        </p:txBody>
      </p:sp>
      <p:sp>
        <p:nvSpPr>
          <p:cNvPr id="8" name="Прямоугольник: скругленные углы 7">
            <a:hlinkClick r:id="rId2" action="ppaction://hlinksldjump"/>
            <a:extLst>
              <a:ext uri="{FF2B5EF4-FFF2-40B4-BE49-F238E27FC236}">
                <a16:creationId xmlns:a16="http://schemas.microsoft.com/office/drawing/2014/main" id="{766D9263-B55D-9BFC-3344-215189F15182}"/>
              </a:ext>
            </a:extLst>
          </p:cNvPr>
          <p:cNvSpPr/>
          <p:nvPr/>
        </p:nvSpPr>
        <p:spPr>
          <a:xfrm>
            <a:off x="749808" y="3749040"/>
            <a:ext cx="3310128" cy="1536192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16C6A64-A365-1733-603B-29366F0F83C6}"/>
              </a:ext>
            </a:extLst>
          </p:cNvPr>
          <p:cNvSpPr/>
          <p:nvPr/>
        </p:nvSpPr>
        <p:spPr>
          <a:xfrm>
            <a:off x="914400" y="3913632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47C7C9-5747-CD78-4B88-CC96B6DB9F61}"/>
              </a:ext>
            </a:extLst>
          </p:cNvPr>
          <p:cNvSpPr txBox="1"/>
          <p:nvPr/>
        </p:nvSpPr>
        <p:spPr>
          <a:xfrm>
            <a:off x="1499616" y="3913632"/>
            <a:ext cx="2350008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Типы кранов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093FE5-F5C6-9B8A-B693-D9BD80B4EB29}"/>
              </a:ext>
            </a:extLst>
          </p:cNvPr>
          <p:cNvSpPr txBox="1"/>
          <p:nvPr/>
        </p:nvSpPr>
        <p:spPr>
          <a:xfrm>
            <a:off x="914400" y="4425696"/>
            <a:ext cx="2980944" cy="10926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стреловые</a:t>
            </a:r>
          </a:p>
          <a:p>
            <a:r>
              <a:rPr lang="ru-RU" sz="1300">
                <a:solidFill>
                  <a:srgbClr val="2D3136"/>
                </a:solidFill>
              </a:rPr>
              <a:t>башенные</a:t>
            </a:r>
          </a:p>
          <a:p>
            <a:r>
              <a:rPr lang="ru-RU" sz="1300">
                <a:solidFill>
                  <a:srgbClr val="2D3136"/>
                </a:solidFill>
              </a:rPr>
              <a:t>мостовые</a:t>
            </a:r>
          </a:p>
          <a:p>
            <a:r>
              <a:rPr lang="ru-RU" sz="1300">
                <a:solidFill>
                  <a:srgbClr val="2D3136"/>
                </a:solidFill>
              </a:rPr>
              <a:t>козловые</a:t>
            </a:r>
          </a:p>
          <a:p>
            <a:r>
              <a:rPr lang="ru-RU" sz="1300">
                <a:solidFill>
                  <a:srgbClr val="2D3136"/>
                </a:solidFill>
              </a:rPr>
              <a:t>портальные</a:t>
            </a:r>
          </a:p>
        </p:txBody>
      </p:sp>
      <p:sp>
        <p:nvSpPr>
          <p:cNvPr id="12" name="Прямоугольник: скругленные углы 11">
            <a:hlinkClick r:id="rId3" action="ppaction://hlinksldjump"/>
            <a:extLst>
              <a:ext uri="{FF2B5EF4-FFF2-40B4-BE49-F238E27FC236}">
                <a16:creationId xmlns:a16="http://schemas.microsoft.com/office/drawing/2014/main" id="{2062D35F-4510-4C87-30DA-8836862CF044}"/>
              </a:ext>
            </a:extLst>
          </p:cNvPr>
          <p:cNvSpPr/>
          <p:nvPr/>
        </p:nvSpPr>
        <p:spPr>
          <a:xfrm>
            <a:off x="4443984" y="3749040"/>
            <a:ext cx="3310129" cy="1536192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66C25178-5C04-AAFA-5367-EAC10FD5D456}"/>
              </a:ext>
            </a:extLst>
          </p:cNvPr>
          <p:cNvSpPr/>
          <p:nvPr/>
        </p:nvSpPr>
        <p:spPr>
          <a:xfrm>
            <a:off x="4608576" y="3913632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BA7F75-8842-C827-0E8C-62B89A98D07F}"/>
              </a:ext>
            </a:extLst>
          </p:cNvPr>
          <p:cNvSpPr txBox="1"/>
          <p:nvPr/>
        </p:nvSpPr>
        <p:spPr>
          <a:xfrm>
            <a:off x="5193792" y="3913632"/>
            <a:ext cx="2350008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Основные параметры крана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F3C177-6618-7613-B724-1F70E6872178}"/>
              </a:ext>
            </a:extLst>
          </p:cNvPr>
          <p:cNvSpPr txBox="1"/>
          <p:nvPr/>
        </p:nvSpPr>
        <p:spPr>
          <a:xfrm>
            <a:off x="4608576" y="4425696"/>
            <a:ext cx="2980944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Что важно для понимания возможностей крана перед работой с грузом.</a:t>
            </a:r>
          </a:p>
        </p:txBody>
      </p:sp>
      <p:sp>
        <p:nvSpPr>
          <p:cNvPr id="16" name="Прямоугольник: скругленные углы 15">
            <a:hlinkClick r:id="rId4" action="ppaction://hlinksldjump"/>
            <a:extLst>
              <a:ext uri="{FF2B5EF4-FFF2-40B4-BE49-F238E27FC236}">
                <a16:creationId xmlns:a16="http://schemas.microsoft.com/office/drawing/2014/main" id="{D66F7D11-92BE-3D97-08D0-A57528C6B727}"/>
              </a:ext>
            </a:extLst>
          </p:cNvPr>
          <p:cNvSpPr/>
          <p:nvPr/>
        </p:nvSpPr>
        <p:spPr>
          <a:xfrm>
            <a:off x="8138160" y="3749040"/>
            <a:ext cx="3090672" cy="1536192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D598241-6DBE-CDFE-B1F4-C9C1388FC616}"/>
              </a:ext>
            </a:extLst>
          </p:cNvPr>
          <p:cNvSpPr/>
          <p:nvPr/>
        </p:nvSpPr>
        <p:spPr>
          <a:xfrm>
            <a:off x="8302752" y="3913632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CB1C2D-B12D-894E-1216-3FC84737F239}"/>
              </a:ext>
            </a:extLst>
          </p:cNvPr>
          <p:cNvSpPr txBox="1"/>
          <p:nvPr/>
        </p:nvSpPr>
        <p:spPr>
          <a:xfrm>
            <a:off x="8887968" y="3913632"/>
            <a:ext cx="2130552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Конструктивные особенности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9A5FA4-2B5C-69F0-1460-B4BD18D67F2B}"/>
              </a:ext>
            </a:extLst>
          </p:cNvPr>
          <p:cNvSpPr txBox="1"/>
          <p:nvPr/>
        </p:nvSpPr>
        <p:spPr>
          <a:xfrm>
            <a:off x="8302752" y="4425696"/>
            <a:ext cx="2761488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Какие элементы конструкции влияют на безопасную организацию стропальных работ.</a:t>
            </a:r>
          </a:p>
        </p:txBody>
      </p:sp>
      <p:sp>
        <p:nvSpPr>
          <p:cNvPr id="20" name="Прямоугольник: скругленные углы 19">
            <a:hlinkClick r:id="rId5" action="ppaction://hlinksldjump"/>
            <a:extLst>
              <a:ext uri="{FF2B5EF4-FFF2-40B4-BE49-F238E27FC236}">
                <a16:creationId xmlns:a16="http://schemas.microsoft.com/office/drawing/2014/main" id="{4E55CE80-EEF4-1F41-19D7-E30AE6A18E13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1" name="Прямоугольник: скругленные углы 20">
            <a:hlinkClick r:id="rId6" action="ppaction://hlinksldjump"/>
            <a:extLst>
              <a:ext uri="{FF2B5EF4-FFF2-40B4-BE49-F238E27FC236}">
                <a16:creationId xmlns:a16="http://schemas.microsoft.com/office/drawing/2014/main" id="{4000F53D-8ED3-D7CF-D3FE-EE7D1B0299B9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883597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BCA0F09-D058-E813-4C57-48F0688711E1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3448F7-86DE-2C5A-903A-9DFE5D638B54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Типы кранов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5972A3-9719-FBD8-0E03-D8F37632A30D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Подвал к слайду </a:t>
            </a:r>
            <a:r>
              <a:rPr lang="en-US" sz="1200">
                <a:solidFill>
                  <a:srgbClr val="FFFFFF"/>
                </a:solidFill>
              </a:rPr>
              <a:t>S008</a:t>
            </a:r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67DB6BF-4231-1323-C3C2-32C914888143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S008-P01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BC0AA2F-D3F5-63D3-9E82-FA616F548101}"/>
              </a:ext>
            </a:extLst>
          </p:cNvPr>
          <p:cNvSpPr/>
          <p:nvPr/>
        </p:nvSpPr>
        <p:spPr>
          <a:xfrm>
            <a:off x="749808" y="1499616"/>
            <a:ext cx="10479024" cy="448056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8F0EBFD-FF08-AE2C-70CF-E2F2EC52C3DE}"/>
              </a:ext>
            </a:extLst>
          </p:cNvPr>
          <p:cNvSpPr/>
          <p:nvPr/>
        </p:nvSpPr>
        <p:spPr>
          <a:xfrm>
            <a:off x="896112" y="164592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Типы кранов</a:t>
            </a:r>
          </a:p>
        </p:txBody>
      </p:sp>
      <p:sp>
        <p:nvSpPr>
          <p:cNvPr id="8" name="Прямоугольник: скругленные углы 7">
            <a:hlinkClick r:id="rId2" action="ppaction://hlinksldjump"/>
            <a:extLst>
              <a:ext uri="{FF2B5EF4-FFF2-40B4-BE49-F238E27FC236}">
                <a16:creationId xmlns:a16="http://schemas.microsoft.com/office/drawing/2014/main" id="{9C095820-9ED0-572E-4533-D5EC9284485A}"/>
              </a:ext>
            </a:extLst>
          </p:cNvPr>
          <p:cNvSpPr/>
          <p:nvPr/>
        </p:nvSpPr>
        <p:spPr>
          <a:xfrm>
            <a:off x="7242048" y="1609344"/>
            <a:ext cx="3236976" cy="429768"/>
          </a:xfrm>
          <a:prstGeom prst="roundRect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Для чего нужны - описание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C81490-36D3-13D4-8ED3-B2A5826B06E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430660" y="2057400"/>
            <a:ext cx="979159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301CC9-8E08-9524-329F-EF12F10718E0}"/>
              </a:ext>
            </a:extLst>
          </p:cNvPr>
          <p:cNvSpPr txBox="1"/>
          <p:nvPr/>
        </p:nvSpPr>
        <p:spPr>
          <a:xfrm>
            <a:off x="2916936" y="2176272"/>
            <a:ext cx="2670048" cy="37490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</a:rPr>
              <a:t>Башенные краны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72D48D11-5014-DD49-397F-D8B037D981D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6496024" y="2057400"/>
            <a:ext cx="504497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F9286C-EF51-BCE3-0F0F-8A51B57052C7}"/>
              </a:ext>
            </a:extLst>
          </p:cNvPr>
          <p:cNvSpPr txBox="1"/>
          <p:nvPr/>
        </p:nvSpPr>
        <p:spPr>
          <a:xfrm>
            <a:off x="7744968" y="2176272"/>
            <a:ext cx="2670048" cy="37490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</a:rPr>
              <a:t>Стреловые краны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01F72D6-284E-C5BB-E222-EECB60572B77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3149559"/>
            <a:ext cx="1499616" cy="8697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0D6D6E9-6BB1-51C0-138F-B22F7351C0CE}"/>
              </a:ext>
            </a:extLst>
          </p:cNvPr>
          <p:cNvSpPr txBox="1"/>
          <p:nvPr/>
        </p:nvSpPr>
        <p:spPr>
          <a:xfrm>
            <a:off x="2916936" y="3246120"/>
            <a:ext cx="2670048" cy="37490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</a:rPr>
              <a:t>Мостовые краны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F45FD31-E7BF-FAAE-1348-5B5395FD229B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193883" y="3127248"/>
            <a:ext cx="1108778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1EBA01E-2E7D-09F7-6B2D-BD0D4F9C3939}"/>
              </a:ext>
            </a:extLst>
          </p:cNvPr>
          <p:cNvSpPr txBox="1"/>
          <p:nvPr/>
        </p:nvSpPr>
        <p:spPr>
          <a:xfrm>
            <a:off x="7744968" y="3246120"/>
            <a:ext cx="2670048" cy="37490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</a:rPr>
              <a:t>Козловые краны</a:t>
            </a:r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9B304F7-A09E-374C-518A-FAC8020F0A59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1298803" y="4187952"/>
            <a:ext cx="1242874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C337174-CBA5-ECBF-DCF9-C46FABC52F86}"/>
              </a:ext>
            </a:extLst>
          </p:cNvPr>
          <p:cNvSpPr txBox="1"/>
          <p:nvPr/>
        </p:nvSpPr>
        <p:spPr>
          <a:xfrm>
            <a:off x="2916936" y="4306824"/>
            <a:ext cx="2670048" cy="37490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</a:rPr>
              <a:t>Кран манипулятор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B4ACA65-CF31-310B-E2AA-2B938D8DC844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024924" y="4187952"/>
            <a:ext cx="1446696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AC04F19-422F-2F94-9771-2909D0962E0E}"/>
              </a:ext>
            </a:extLst>
          </p:cNvPr>
          <p:cNvSpPr txBox="1"/>
          <p:nvPr/>
        </p:nvSpPr>
        <p:spPr>
          <a:xfrm>
            <a:off x="7744968" y="4306824"/>
            <a:ext cx="2670048" cy="374904"/>
          </a:xfrm>
          <a:prstGeom prst="rect">
            <a:avLst/>
          </a:prstGeom>
          <a:noFill/>
        </p:spPr>
        <p:txBody>
          <a:bodyPr vert="horz" wrap="square" rtlCol="0" anchor="ctr">
            <a:spAutoFit/>
          </a:bodyPr>
          <a:lstStyle/>
          <a:p>
            <a:r>
              <a:rPr lang="ru-RU" b="1">
                <a:solidFill>
                  <a:srgbClr val="2D3136"/>
                </a:solidFill>
              </a:rPr>
              <a:t>Кран трубоукладчик</a:t>
            </a:r>
          </a:p>
        </p:txBody>
      </p:sp>
      <p:sp>
        <p:nvSpPr>
          <p:cNvPr id="27" name="Прямоугольник: скругленные углы 26">
            <a:hlinkClick r:id="rId9" action="ppaction://hlinksldjump"/>
            <a:extLst>
              <a:ext uri="{FF2B5EF4-FFF2-40B4-BE49-F238E27FC236}">
                <a16:creationId xmlns:a16="http://schemas.microsoft.com/office/drawing/2014/main" id="{47E8EB65-6E2C-0B83-7581-13E373887F5B}"/>
              </a:ext>
            </a:extLst>
          </p:cNvPr>
          <p:cNvSpPr/>
          <p:nvPr/>
        </p:nvSpPr>
        <p:spPr>
          <a:xfrm>
            <a:off x="658368" y="6053328"/>
            <a:ext cx="235915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Вернуться к </a:t>
            </a:r>
            <a:r>
              <a:rPr lang="en-US" sz="1600" b="1">
                <a:solidFill>
                  <a:srgbClr val="FFFFFF"/>
                </a:solidFill>
              </a:rPr>
              <a:t>S008</a:t>
            </a:r>
            <a:endParaRPr lang="ru-RU" sz="1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1107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8117A801-54D1-AB1A-507D-2DD2D02BCF44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1A90B-4884-D838-6927-4E88A792975E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Для чего нужны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02471F-8905-F4CC-2F79-A75B48BD3C2A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Поподвал к слайду </a:t>
            </a:r>
            <a:r>
              <a:rPr lang="en-US" sz="1200">
                <a:solidFill>
                  <a:srgbClr val="FFFFFF"/>
                </a:solidFill>
              </a:rPr>
              <a:t>S008-P01</a:t>
            </a:r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06FAB7F-E2D8-36FB-1AA3-BB86DF25C972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S008-P01-PP01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62C5DD9E-FE92-8565-E7F5-4769216582FD}"/>
              </a:ext>
            </a:extLst>
          </p:cNvPr>
          <p:cNvSpPr/>
          <p:nvPr/>
        </p:nvSpPr>
        <p:spPr>
          <a:xfrm>
            <a:off x="749808" y="1499616"/>
            <a:ext cx="10479024" cy="4498848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7A73B495-124D-7E52-EA2A-B0A9EB2580C4}"/>
              </a:ext>
            </a:extLst>
          </p:cNvPr>
          <p:cNvSpPr/>
          <p:nvPr/>
        </p:nvSpPr>
        <p:spPr>
          <a:xfrm>
            <a:off x="896112" y="164592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Для чего нужны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350AAD-DA67-A0D6-02AD-A32C4272D6CB}"/>
              </a:ext>
            </a:extLst>
          </p:cNvPr>
          <p:cNvSpPr txBox="1"/>
          <p:nvPr/>
        </p:nvSpPr>
        <p:spPr>
          <a:xfrm>
            <a:off x="1005840" y="2029968"/>
            <a:ext cx="9930384" cy="329320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>
                <a:solidFill>
                  <a:srgbClr val="2D3136"/>
                </a:solidFill>
              </a:rPr>
              <a:t>Стреловые — для мобильных работ. Сами приезжают на объект. Нужны для разгрузки машин и мелких рассредоточенных строек.</a:t>
            </a:r>
          </a:p>
          <a:p>
            <a:endParaRPr lang="ru-RU" sz="1600">
              <a:solidFill>
                <a:srgbClr val="2D3136"/>
              </a:solidFill>
            </a:endParaRPr>
          </a:p>
          <a:p>
            <a:r>
              <a:rPr lang="ru-RU" sz="1600">
                <a:solidFill>
                  <a:srgbClr val="2D3136"/>
                </a:solidFill>
              </a:rPr>
              <a:t>Башенные — для многоэтажного строительства. Поднимают грузы на любую высоту и занимают минимум места на земле.</a:t>
            </a:r>
          </a:p>
          <a:p>
            <a:endParaRPr lang="ru-RU" sz="1600">
              <a:solidFill>
                <a:srgbClr val="2D3136"/>
              </a:solidFill>
            </a:endParaRPr>
          </a:p>
          <a:p>
            <a:r>
              <a:rPr lang="ru-RU" sz="1600">
                <a:solidFill>
                  <a:srgbClr val="2D3136"/>
                </a:solidFill>
              </a:rPr>
              <a:t>Мостовые — для заводов и цехов. Ездят под потолком, переносят тяжелые детали и не занимают место на полу.</a:t>
            </a:r>
          </a:p>
          <a:p>
            <a:endParaRPr lang="ru-RU" sz="1600">
              <a:solidFill>
                <a:srgbClr val="2D3136"/>
              </a:solidFill>
            </a:endParaRPr>
          </a:p>
          <a:p>
            <a:r>
              <a:rPr lang="ru-RU" sz="1600">
                <a:solidFill>
                  <a:srgbClr val="2D3136"/>
                </a:solidFill>
              </a:rPr>
              <a:t>Козловые — для открытых складов. Стоят на «ногах», разгружают ж/д вагоны, контейнеры и длинномерные грузы.</a:t>
            </a:r>
          </a:p>
          <a:p>
            <a:endParaRPr lang="ru-RU" sz="1600">
              <a:solidFill>
                <a:srgbClr val="2D3136"/>
              </a:solidFill>
            </a:endParaRPr>
          </a:p>
          <a:p>
            <a:r>
              <a:rPr lang="ru-RU" sz="1600">
                <a:solidFill>
                  <a:srgbClr val="2D3136"/>
                </a:solidFill>
              </a:rPr>
              <a:t>Портальные — для морских и речных портов. Разгружают корабли, пропуская под собой поезда и грузовики.</a:t>
            </a:r>
          </a:p>
        </p:txBody>
      </p:sp>
      <p:sp>
        <p:nvSpPr>
          <p:cNvPr id="9" name="Прямоугольник: скругленные углы 8">
            <a:hlinkClick r:id="rId2" action="ppaction://hlinksldjump"/>
            <a:extLst>
              <a:ext uri="{FF2B5EF4-FFF2-40B4-BE49-F238E27FC236}">
                <a16:creationId xmlns:a16="http://schemas.microsoft.com/office/drawing/2014/main" id="{A53DC48B-3A00-73E7-6B24-25CB48B57D38}"/>
              </a:ext>
            </a:extLst>
          </p:cNvPr>
          <p:cNvSpPr/>
          <p:nvPr/>
        </p:nvSpPr>
        <p:spPr>
          <a:xfrm>
            <a:off x="658368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</p:spTree>
    <p:extLst>
      <p:ext uri="{BB962C8B-B14F-4D97-AF65-F5344CB8AC3E}">
        <p14:creationId xmlns:p14="http://schemas.microsoft.com/office/powerpoint/2010/main" val="16643010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3D2D2489-CD03-6554-AA29-216D01E93081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8CADD6-5E54-67A2-3148-218681AF6EAA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Основные параметры крана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F70013-6860-46B0-81B4-7CDF74E16156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Подвал к слайду </a:t>
            </a:r>
            <a:r>
              <a:rPr lang="en-US" sz="1200">
                <a:solidFill>
                  <a:srgbClr val="FFFFFF"/>
                </a:solidFill>
              </a:rPr>
              <a:t>S008</a:t>
            </a:r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4CD24F3-61EA-17C7-FFB4-966501BD6000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S008-P02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AD0ED0-495B-33A3-AF82-4F553980E4C8}"/>
              </a:ext>
            </a:extLst>
          </p:cNvPr>
          <p:cNvSpPr txBox="1"/>
          <p:nvPr/>
        </p:nvSpPr>
        <p:spPr>
          <a:xfrm>
            <a:off x="749808" y="1554480"/>
            <a:ext cx="1024128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300" b="1">
                <a:solidFill>
                  <a:srgbClr val="2D3136"/>
                </a:solidFill>
              </a:rPr>
              <a:t>Подробный материал по основным параметрам крана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C22FB0E1-ADEB-FA03-9B9D-BFB031F92579}"/>
              </a:ext>
            </a:extLst>
          </p:cNvPr>
          <p:cNvSpPr/>
          <p:nvPr/>
        </p:nvSpPr>
        <p:spPr>
          <a:xfrm>
            <a:off x="749808" y="2231136"/>
            <a:ext cx="5102352" cy="29626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9EBA50E5-0B0A-F1E6-63CE-A99FC1F9FFA3}"/>
              </a:ext>
            </a:extLst>
          </p:cNvPr>
          <p:cNvSpPr/>
          <p:nvPr/>
        </p:nvSpPr>
        <p:spPr>
          <a:xfrm>
            <a:off x="896112" y="237744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Назначение подвала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03DEDD-0958-6B83-B260-336053B0B040}"/>
              </a:ext>
            </a:extLst>
          </p:cNvPr>
          <p:cNvSpPr txBox="1"/>
          <p:nvPr/>
        </p:nvSpPr>
        <p:spPr>
          <a:xfrm>
            <a:off x="1097280" y="2999232"/>
            <a:ext cx="4462272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Здесь раскрываем тему подробнее, без перегруза основного линейного слайда.</a:t>
            </a:r>
          </a:p>
          <a:p>
            <a:r>
              <a:rPr lang="ru-RU" sz="1900">
                <a:solidFill>
                  <a:srgbClr val="2D3136"/>
                </a:solidFill>
              </a:rPr>
              <a:t>• Содержимое можно достраивать по ходу сборки темы 2.</a:t>
            </a:r>
          </a:p>
          <a:p>
            <a:r>
              <a:rPr lang="ru-RU" sz="1900">
                <a:solidFill>
                  <a:srgbClr val="2D3136"/>
                </a:solidFill>
              </a:rPr>
              <a:t>• Структура уже готова для дальнейшего наполнения.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0D2E239E-4845-982F-4C9E-947B375880DA}"/>
              </a:ext>
            </a:extLst>
          </p:cNvPr>
          <p:cNvSpPr/>
          <p:nvPr/>
        </p:nvSpPr>
        <p:spPr>
          <a:xfrm>
            <a:off x="6236208" y="2231136"/>
            <a:ext cx="4992624" cy="29626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6C399771-4FDF-0467-4B27-18A137937006}"/>
              </a:ext>
            </a:extLst>
          </p:cNvPr>
          <p:cNvSpPr/>
          <p:nvPr/>
        </p:nvSpPr>
        <p:spPr>
          <a:xfrm>
            <a:off x="6382512" y="237744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сюда можно добавить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D44529-3446-4B8A-755C-7E125A3830CA}"/>
              </a:ext>
            </a:extLst>
          </p:cNvPr>
          <p:cNvSpPr txBox="1"/>
          <p:nvPr/>
        </p:nvSpPr>
        <p:spPr>
          <a:xfrm>
            <a:off x="6583680" y="2999232"/>
            <a:ext cx="4352544" cy="12618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Краткие пояснения и классификацию.</a:t>
            </a:r>
          </a:p>
          <a:p>
            <a:r>
              <a:rPr lang="ru-RU" sz="1900">
                <a:solidFill>
                  <a:srgbClr val="2D3136"/>
                </a:solidFill>
              </a:rPr>
              <a:t>• Опорные схемы, таблицы или фото.</a:t>
            </a:r>
          </a:p>
          <a:p>
            <a:r>
              <a:rPr lang="ru-RU" sz="1900">
                <a:solidFill>
                  <a:srgbClr val="2D3136"/>
                </a:solidFill>
              </a:rPr>
              <a:t>• Практические акценты для стропальщика.</a:t>
            </a:r>
          </a:p>
        </p:txBody>
      </p:sp>
      <p:sp>
        <p:nvSpPr>
          <p:cNvPr id="13" name="Прямоугольник: скругленные углы 12">
            <a:hlinkClick r:id="rId2" action="ppaction://hlinksldjump"/>
            <a:extLst>
              <a:ext uri="{FF2B5EF4-FFF2-40B4-BE49-F238E27FC236}">
                <a16:creationId xmlns:a16="http://schemas.microsoft.com/office/drawing/2014/main" id="{A1CBF1B4-6C2E-FC3B-1FAD-73377DF0DA63}"/>
              </a:ext>
            </a:extLst>
          </p:cNvPr>
          <p:cNvSpPr/>
          <p:nvPr/>
        </p:nvSpPr>
        <p:spPr>
          <a:xfrm>
            <a:off x="658368" y="6053328"/>
            <a:ext cx="235915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Вернуться к </a:t>
            </a:r>
            <a:r>
              <a:rPr lang="en-US" sz="1600" b="1">
                <a:solidFill>
                  <a:srgbClr val="FFFFFF"/>
                </a:solidFill>
              </a:rPr>
              <a:t>S008</a:t>
            </a:r>
            <a:endParaRPr lang="ru-RU" sz="1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4439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FBA99AC7-FA9E-3072-B16C-2AD8E72009D1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086CFF-E25F-03E2-5BAC-79D1BCFAF99E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Конструктивные особенности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CA3075-E64B-17DF-A2F5-29632975AE15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Подвал к слайду </a:t>
            </a:r>
            <a:r>
              <a:rPr lang="en-US" sz="1200">
                <a:solidFill>
                  <a:srgbClr val="FFFFFF"/>
                </a:solidFill>
              </a:rPr>
              <a:t>S008</a:t>
            </a:r>
            <a:endParaRPr lang="ru-RU" sz="1200">
              <a:solidFill>
                <a:srgbClr val="FFFFFF"/>
              </a:solidFill>
            </a:endParaRP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5E2099A-775D-29D8-FF84-BD6E4D133796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S008-P03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50A99-603C-DE9D-7A09-A248AF9F790B}"/>
              </a:ext>
            </a:extLst>
          </p:cNvPr>
          <p:cNvSpPr txBox="1"/>
          <p:nvPr/>
        </p:nvSpPr>
        <p:spPr>
          <a:xfrm>
            <a:off x="749808" y="1554480"/>
            <a:ext cx="10241280" cy="4462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300" b="1">
                <a:solidFill>
                  <a:srgbClr val="2D3136"/>
                </a:solidFill>
              </a:rPr>
              <a:t>Подробный материал по конструктивным особенностям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F335899-424C-B52B-EA8C-CFCABAE07082}"/>
              </a:ext>
            </a:extLst>
          </p:cNvPr>
          <p:cNvSpPr/>
          <p:nvPr/>
        </p:nvSpPr>
        <p:spPr>
          <a:xfrm>
            <a:off x="749808" y="2231136"/>
            <a:ext cx="5102352" cy="29626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956FEE1-8FEF-F810-FF9A-956F74F96C37}"/>
              </a:ext>
            </a:extLst>
          </p:cNvPr>
          <p:cNvSpPr/>
          <p:nvPr/>
        </p:nvSpPr>
        <p:spPr>
          <a:xfrm>
            <a:off x="896112" y="237744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Назначение подвала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0B8573-AE9C-BF4A-E7BE-8A26C1A1DD28}"/>
              </a:ext>
            </a:extLst>
          </p:cNvPr>
          <p:cNvSpPr txBox="1"/>
          <p:nvPr/>
        </p:nvSpPr>
        <p:spPr>
          <a:xfrm>
            <a:off x="1097280" y="2999232"/>
            <a:ext cx="4462272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Здесь раскрываем тему подробнее, без перегруза основного линейного слайда.</a:t>
            </a:r>
          </a:p>
          <a:p>
            <a:r>
              <a:rPr lang="ru-RU" sz="1900">
                <a:solidFill>
                  <a:srgbClr val="2D3136"/>
                </a:solidFill>
              </a:rPr>
              <a:t>• Содержимое можно достраивать по ходу сборки темы 2.</a:t>
            </a:r>
          </a:p>
          <a:p>
            <a:r>
              <a:rPr lang="ru-RU" sz="1900">
                <a:solidFill>
                  <a:srgbClr val="2D3136"/>
                </a:solidFill>
              </a:rPr>
              <a:t>• Структура уже готова для дальнейшего наполнения.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CCA18C8E-65CC-C740-51DF-EED0FBDA5783}"/>
              </a:ext>
            </a:extLst>
          </p:cNvPr>
          <p:cNvSpPr/>
          <p:nvPr/>
        </p:nvSpPr>
        <p:spPr>
          <a:xfrm>
            <a:off x="6236208" y="2231136"/>
            <a:ext cx="4992624" cy="29626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09DEE55-3A84-1384-A31C-1E26A4D24372}"/>
              </a:ext>
            </a:extLst>
          </p:cNvPr>
          <p:cNvSpPr/>
          <p:nvPr/>
        </p:nvSpPr>
        <p:spPr>
          <a:xfrm>
            <a:off x="6382512" y="237744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сюда можно добавить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146596-DB83-D1A6-21F1-FEFA622DE32F}"/>
              </a:ext>
            </a:extLst>
          </p:cNvPr>
          <p:cNvSpPr txBox="1"/>
          <p:nvPr/>
        </p:nvSpPr>
        <p:spPr>
          <a:xfrm>
            <a:off x="6583680" y="2999232"/>
            <a:ext cx="4352544" cy="126188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Краткие пояснения и классификацию.</a:t>
            </a:r>
          </a:p>
          <a:p>
            <a:r>
              <a:rPr lang="ru-RU" sz="1900">
                <a:solidFill>
                  <a:srgbClr val="2D3136"/>
                </a:solidFill>
              </a:rPr>
              <a:t>• Опорные схемы, таблицы или фото.</a:t>
            </a:r>
          </a:p>
          <a:p>
            <a:r>
              <a:rPr lang="ru-RU" sz="1900">
                <a:solidFill>
                  <a:srgbClr val="2D3136"/>
                </a:solidFill>
              </a:rPr>
              <a:t>• Практические акценты для стропальщика.</a:t>
            </a:r>
          </a:p>
        </p:txBody>
      </p:sp>
      <p:sp>
        <p:nvSpPr>
          <p:cNvPr id="13" name="Прямоугольник: скругленные углы 12">
            <a:hlinkClick r:id="rId2" action="ppaction://hlinksldjump"/>
            <a:extLst>
              <a:ext uri="{FF2B5EF4-FFF2-40B4-BE49-F238E27FC236}">
                <a16:creationId xmlns:a16="http://schemas.microsoft.com/office/drawing/2014/main" id="{EC890E0B-6E10-AD0D-5E08-65142EF37105}"/>
              </a:ext>
            </a:extLst>
          </p:cNvPr>
          <p:cNvSpPr/>
          <p:nvPr/>
        </p:nvSpPr>
        <p:spPr>
          <a:xfrm>
            <a:off x="658368" y="6053328"/>
            <a:ext cx="235915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Вернуться к </a:t>
            </a:r>
            <a:r>
              <a:rPr lang="en-US" sz="1600" b="1">
                <a:solidFill>
                  <a:srgbClr val="FFFFFF"/>
                </a:solidFill>
              </a:rPr>
              <a:t>S008</a:t>
            </a:r>
            <a:endParaRPr lang="ru-RU" sz="16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0282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2F8608A-2ED5-9486-983D-1156AE8CAEDC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C6A995-7799-71AB-0A68-3179E3AEB382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Тема 2.1. Строповка грузов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CE1321-C33C-3198-486B-D6BE93C10B30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Безопасность начинается до подъема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300A18CF-EA6A-FFC4-BAB5-9D5A63F4F909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S009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B2D990-D3D8-A86D-6E2B-1A5846BFC78C}"/>
              </a:ext>
            </a:extLst>
          </p:cNvPr>
          <p:cNvSpPr txBox="1"/>
          <p:nvPr/>
        </p:nvSpPr>
        <p:spPr>
          <a:xfrm>
            <a:off x="713232" y="1554480"/>
            <a:ext cx="534924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800" b="1">
                <a:solidFill>
                  <a:srgbClr val="2D3136"/>
                </a:solidFill>
              </a:rPr>
              <a:t>Сначала оцени груз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19F67C-2B63-08DA-1C96-8C9A3985AA3F}"/>
              </a:ext>
            </a:extLst>
          </p:cNvPr>
          <p:cNvSpPr txBox="1"/>
          <p:nvPr/>
        </p:nvSpPr>
        <p:spPr>
          <a:xfrm>
            <a:off x="731520" y="2176272"/>
            <a:ext cx="5138928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>
                <a:solidFill>
                  <a:srgbClr val="2D3136"/>
                </a:solidFill>
              </a:rPr>
              <a:t>Безопасная строповка начинается не со спешки и не с сигнала крановщику.</a:t>
            </a:r>
          </a:p>
          <a:p>
            <a:r>
              <a:rPr lang="ru-RU" sz="1600">
                <a:solidFill>
                  <a:srgbClr val="2D3136"/>
                </a:solidFill>
              </a:rPr>
              <a:t>Сначала разбираемся, что именно поднимаем и какая схема подойдет этому грузу.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70656BE-654B-E3C0-1A28-8E5C87857B9F}"/>
              </a:ext>
            </a:extLst>
          </p:cNvPr>
          <p:cNvSpPr/>
          <p:nvPr/>
        </p:nvSpPr>
        <p:spPr>
          <a:xfrm>
            <a:off x="6400800" y="1517904"/>
            <a:ext cx="4983480" cy="3456432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297FC282-9ACE-25B3-8210-B57CCD568A58}"/>
              </a:ext>
            </a:extLst>
          </p:cNvPr>
          <p:cNvSpPr/>
          <p:nvPr/>
        </p:nvSpPr>
        <p:spPr>
          <a:xfrm>
            <a:off x="6547104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внутри блока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A6B570-3BAB-C0E5-1220-B07C2C77A12A}"/>
              </a:ext>
            </a:extLst>
          </p:cNvPr>
          <p:cNvSpPr txBox="1"/>
          <p:nvPr/>
        </p:nvSpPr>
        <p:spPr>
          <a:xfrm>
            <a:off x="6748272" y="2286000"/>
            <a:ext cx="434340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Сведения о грузах</a:t>
            </a:r>
          </a:p>
          <a:p>
            <a:r>
              <a:rPr lang="ru-RU" sz="1900">
                <a:solidFill>
                  <a:srgbClr val="2D3136"/>
                </a:solidFill>
              </a:rPr>
              <a:t>• Стропы и приспособления</a:t>
            </a:r>
          </a:p>
          <a:p>
            <a:r>
              <a:rPr lang="ru-RU" sz="1900">
                <a:solidFill>
                  <a:srgbClr val="2D3136"/>
                </a:solidFill>
              </a:rPr>
              <a:t>• Правила строповки</a:t>
            </a:r>
          </a:p>
          <a:p>
            <a:r>
              <a:rPr lang="ru-RU" sz="1900">
                <a:solidFill>
                  <a:srgbClr val="2D3136"/>
                </a:solidFill>
              </a:rPr>
              <a:t>• Проверка схемы</a:t>
            </a:r>
          </a:p>
          <a:p>
            <a:r>
              <a:rPr lang="ru-RU" sz="1900">
                <a:solidFill>
                  <a:srgbClr val="2D3136"/>
                </a:solidFill>
              </a:rPr>
              <a:t>• Типовые ошибки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9087EFB1-ACF6-1F17-6634-586553F90318}"/>
              </a:ext>
            </a:extLst>
          </p:cNvPr>
          <p:cNvSpPr/>
          <p:nvPr/>
        </p:nvSpPr>
        <p:spPr>
          <a:xfrm>
            <a:off x="749808" y="3913632"/>
            <a:ext cx="1737360" cy="1097280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E6FA0021-DC39-0440-50F9-8FF2A2B2AD70}"/>
              </a:ext>
            </a:extLst>
          </p:cNvPr>
          <p:cNvSpPr/>
          <p:nvPr/>
        </p:nvSpPr>
        <p:spPr>
          <a:xfrm>
            <a:off x="914400" y="4078224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79B65-FAD9-61B1-6294-C2CBA886C045}"/>
              </a:ext>
            </a:extLst>
          </p:cNvPr>
          <p:cNvSpPr txBox="1"/>
          <p:nvPr/>
        </p:nvSpPr>
        <p:spPr>
          <a:xfrm>
            <a:off x="1499616" y="4078224"/>
            <a:ext cx="77724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Оцени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6F9C89-6C63-522F-9AC1-D76F9B36288E}"/>
              </a:ext>
            </a:extLst>
          </p:cNvPr>
          <p:cNvSpPr txBox="1"/>
          <p:nvPr/>
        </p:nvSpPr>
        <p:spPr>
          <a:xfrm>
            <a:off x="914400" y="4590288"/>
            <a:ext cx="140817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Масса, габариты, центр тяжести.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96DC7C55-A1C8-B9AA-2819-8369096644FA}"/>
              </a:ext>
            </a:extLst>
          </p:cNvPr>
          <p:cNvSpPr/>
          <p:nvPr/>
        </p:nvSpPr>
        <p:spPr>
          <a:xfrm>
            <a:off x="2724912" y="3913632"/>
            <a:ext cx="1737360" cy="1097280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934C4E5C-F718-A823-A91E-F9FE3C4238D3}"/>
              </a:ext>
            </a:extLst>
          </p:cNvPr>
          <p:cNvSpPr/>
          <p:nvPr/>
        </p:nvSpPr>
        <p:spPr>
          <a:xfrm>
            <a:off x="2889504" y="4078224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2CD598-219E-1BB4-7FA0-6FEC078030FD}"/>
              </a:ext>
            </a:extLst>
          </p:cNvPr>
          <p:cNvSpPr txBox="1"/>
          <p:nvPr/>
        </p:nvSpPr>
        <p:spPr>
          <a:xfrm>
            <a:off x="3474720" y="4078224"/>
            <a:ext cx="77724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Выбери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C93390-AAA1-08B6-DE0A-8F1D838FA8E1}"/>
              </a:ext>
            </a:extLst>
          </p:cNvPr>
          <p:cNvSpPr txBox="1"/>
          <p:nvPr/>
        </p:nvSpPr>
        <p:spPr>
          <a:xfrm>
            <a:off x="2889504" y="4590288"/>
            <a:ext cx="140817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Подходящий строп и способ зацепки.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AC866A97-598C-9414-AB4B-22F02CE20968}"/>
              </a:ext>
            </a:extLst>
          </p:cNvPr>
          <p:cNvSpPr/>
          <p:nvPr/>
        </p:nvSpPr>
        <p:spPr>
          <a:xfrm>
            <a:off x="4700016" y="3913632"/>
            <a:ext cx="1737360" cy="1097280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C275B691-29BB-92FB-73DD-88AB1E3DFCD6}"/>
              </a:ext>
            </a:extLst>
          </p:cNvPr>
          <p:cNvSpPr/>
          <p:nvPr/>
        </p:nvSpPr>
        <p:spPr>
          <a:xfrm>
            <a:off x="4864608" y="4078224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B7CA79-6085-6860-6201-2534E3C60767}"/>
              </a:ext>
            </a:extLst>
          </p:cNvPr>
          <p:cNvSpPr txBox="1"/>
          <p:nvPr/>
        </p:nvSpPr>
        <p:spPr>
          <a:xfrm>
            <a:off x="5449824" y="4078224"/>
            <a:ext cx="77724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Проверь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39C32F-C9BE-7981-53B2-B35FAA4AFAC3}"/>
              </a:ext>
            </a:extLst>
          </p:cNvPr>
          <p:cNvSpPr txBox="1"/>
          <p:nvPr/>
        </p:nvSpPr>
        <p:spPr>
          <a:xfrm>
            <a:off x="4864608" y="4590288"/>
            <a:ext cx="140817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Схему и условия до подъема.</a:t>
            </a:r>
          </a:p>
        </p:txBody>
      </p:sp>
      <p:sp>
        <p:nvSpPr>
          <p:cNvPr id="23" name="Прямоугольник: скругленные углы 22">
            <a:hlinkClick r:id="rId2" action="ppaction://hlinksldjump"/>
            <a:extLst>
              <a:ext uri="{FF2B5EF4-FFF2-40B4-BE49-F238E27FC236}">
                <a16:creationId xmlns:a16="http://schemas.microsoft.com/office/drawing/2014/main" id="{5F52C666-6D9B-0B3B-51A5-009AB15171FB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4" name="Прямоугольник: скругленные углы 23">
            <a:hlinkClick r:id="rId3" action="ppaction://hlinksldjump"/>
            <a:extLst>
              <a:ext uri="{FF2B5EF4-FFF2-40B4-BE49-F238E27FC236}">
                <a16:creationId xmlns:a16="http://schemas.microsoft.com/office/drawing/2014/main" id="{58B51A55-BFC3-026B-F585-D3ADC96F9E05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4866792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33EA7B4-654A-33AC-670A-EC30865598ED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749BC-3484-7851-77FB-FFAD17BEEE32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Маршрут подтемы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E1DDF0-4CFD-4235-28F8-2A6BD518327C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От анализа груза до проверки понимания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82480719-CAFD-9254-CAC8-DA9B035FC365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S010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8C40E2-4E45-0715-2228-82F1982DD4D9}"/>
              </a:ext>
            </a:extLst>
          </p:cNvPr>
          <p:cNvSpPr txBox="1"/>
          <p:nvPr/>
        </p:nvSpPr>
        <p:spPr>
          <a:xfrm>
            <a:off x="749808" y="1517904"/>
            <a:ext cx="104241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>
                <a:solidFill>
                  <a:srgbClr val="2D3136"/>
                </a:solidFill>
              </a:rPr>
              <a:t>Внутри подтемы идем по понятной логике: от груза и оснастки к правилам, проверке схемы и мини-тесту.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00EF36B-5CA5-3EC3-EF17-F3AFE6F57EFD}"/>
              </a:ext>
            </a:extLst>
          </p:cNvPr>
          <p:cNvSpPr/>
          <p:nvPr/>
        </p:nvSpPr>
        <p:spPr>
          <a:xfrm>
            <a:off x="749808" y="2011680"/>
            <a:ext cx="2103120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1AAAEBE1-1B23-0D5F-2E84-0D8DF271AD53}"/>
              </a:ext>
            </a:extLst>
          </p:cNvPr>
          <p:cNvSpPr/>
          <p:nvPr/>
        </p:nvSpPr>
        <p:spPr>
          <a:xfrm>
            <a:off x="914400" y="2176272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5CF3B7-49F7-3A55-7ECB-478185AB0475}"/>
              </a:ext>
            </a:extLst>
          </p:cNvPr>
          <p:cNvSpPr txBox="1"/>
          <p:nvPr/>
        </p:nvSpPr>
        <p:spPr>
          <a:xfrm>
            <a:off x="1499616" y="2176272"/>
            <a:ext cx="114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Грузы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44818-000B-21DA-071E-9DCD64D1D4C8}"/>
              </a:ext>
            </a:extLst>
          </p:cNvPr>
          <p:cNvSpPr txBox="1"/>
          <p:nvPr/>
        </p:nvSpPr>
        <p:spPr>
          <a:xfrm>
            <a:off x="914400" y="2688336"/>
            <a:ext cx="177393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Что нужно понять до выбора стропа.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F87B0DD3-2F16-A7A5-1604-285039541275}"/>
              </a:ext>
            </a:extLst>
          </p:cNvPr>
          <p:cNvSpPr/>
          <p:nvPr/>
        </p:nvSpPr>
        <p:spPr>
          <a:xfrm>
            <a:off x="2999232" y="2011680"/>
            <a:ext cx="2103120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41900EE-F161-3E25-B57C-8A418B7FF666}"/>
              </a:ext>
            </a:extLst>
          </p:cNvPr>
          <p:cNvSpPr/>
          <p:nvPr/>
        </p:nvSpPr>
        <p:spPr>
          <a:xfrm>
            <a:off x="3163824" y="2176272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32CD9A-A81E-F270-B4AB-DC744C8E56BB}"/>
              </a:ext>
            </a:extLst>
          </p:cNvPr>
          <p:cNvSpPr txBox="1"/>
          <p:nvPr/>
        </p:nvSpPr>
        <p:spPr>
          <a:xfrm>
            <a:off x="3749040" y="2176272"/>
            <a:ext cx="114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Стропы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DA3567-BC5C-F0F4-E73E-8BCD0B8B9D09}"/>
              </a:ext>
            </a:extLst>
          </p:cNvPr>
          <p:cNvSpPr txBox="1"/>
          <p:nvPr/>
        </p:nvSpPr>
        <p:spPr>
          <a:xfrm>
            <a:off x="3163824" y="2688336"/>
            <a:ext cx="177393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Какие средства используются на практике.</a:t>
            </a:r>
          </a:p>
        </p:txBody>
      </p:sp>
      <p:sp>
        <p:nvSpPr>
          <p:cNvPr id="15" name="Прямоугольник: скругленные углы 14">
            <a:extLst>
              <a:ext uri="{FF2B5EF4-FFF2-40B4-BE49-F238E27FC236}">
                <a16:creationId xmlns:a16="http://schemas.microsoft.com/office/drawing/2014/main" id="{57898404-0D60-1ABD-F024-52E5023537D2}"/>
              </a:ext>
            </a:extLst>
          </p:cNvPr>
          <p:cNvSpPr/>
          <p:nvPr/>
        </p:nvSpPr>
        <p:spPr>
          <a:xfrm>
            <a:off x="5248656" y="2011680"/>
            <a:ext cx="2103120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55515A58-AB57-595D-71AF-B3A9494DBFB9}"/>
              </a:ext>
            </a:extLst>
          </p:cNvPr>
          <p:cNvSpPr/>
          <p:nvPr/>
        </p:nvSpPr>
        <p:spPr>
          <a:xfrm>
            <a:off x="5413248" y="2176272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E0A345-A98B-AC33-79CE-9EC77300CD6C}"/>
              </a:ext>
            </a:extLst>
          </p:cNvPr>
          <p:cNvSpPr txBox="1"/>
          <p:nvPr/>
        </p:nvSpPr>
        <p:spPr>
          <a:xfrm>
            <a:off x="5998464" y="2176272"/>
            <a:ext cx="114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Правила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076BD-2BEE-3666-F402-2201D4B88C48}"/>
              </a:ext>
            </a:extLst>
          </p:cNvPr>
          <p:cNvSpPr txBox="1"/>
          <p:nvPr/>
        </p:nvSpPr>
        <p:spPr>
          <a:xfrm>
            <a:off x="5413248" y="2688336"/>
            <a:ext cx="177393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Точка зацепки и работа по схеме.</a:t>
            </a:r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78487168-1555-687E-0F0E-DE7499B4790B}"/>
              </a:ext>
            </a:extLst>
          </p:cNvPr>
          <p:cNvSpPr/>
          <p:nvPr/>
        </p:nvSpPr>
        <p:spPr>
          <a:xfrm>
            <a:off x="7498080" y="2011680"/>
            <a:ext cx="2103120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8E36345F-B91E-2761-CE72-BA8CB0C6AE73}"/>
              </a:ext>
            </a:extLst>
          </p:cNvPr>
          <p:cNvSpPr/>
          <p:nvPr/>
        </p:nvSpPr>
        <p:spPr>
          <a:xfrm>
            <a:off x="7662672" y="2176272"/>
            <a:ext cx="438912" cy="438912"/>
          </a:xfrm>
          <a:prstGeom prst="ellipse">
            <a:avLst/>
          </a:prstGeom>
          <a:solidFill>
            <a:srgbClr val="CF8D3E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2FAD0E-ACB0-432F-3070-613109622732}"/>
              </a:ext>
            </a:extLst>
          </p:cNvPr>
          <p:cNvSpPr txBox="1"/>
          <p:nvPr/>
        </p:nvSpPr>
        <p:spPr>
          <a:xfrm>
            <a:off x="8247888" y="2176272"/>
            <a:ext cx="1143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CF8D3E"/>
                </a:solidFill>
              </a:rPr>
              <a:t>Проверка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D7D76D-C937-0F3B-E81D-7D9C861D9BCC}"/>
              </a:ext>
            </a:extLst>
          </p:cNvPr>
          <p:cNvSpPr txBox="1"/>
          <p:nvPr/>
        </p:nvSpPr>
        <p:spPr>
          <a:xfrm>
            <a:off x="7662672" y="2688336"/>
            <a:ext cx="177393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Что перепроверить до сигнала.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3A200671-E6DF-C6D2-77CA-77D126A08EB0}"/>
              </a:ext>
            </a:extLst>
          </p:cNvPr>
          <p:cNvSpPr/>
          <p:nvPr/>
        </p:nvSpPr>
        <p:spPr>
          <a:xfrm>
            <a:off x="9747504" y="2011680"/>
            <a:ext cx="1572768" cy="1298448"/>
          </a:xfrm>
          <a:prstGeom prst="roundRect">
            <a:avLst/>
          </a:prstGeom>
          <a:solidFill>
            <a:srgbClr val="FFFBF6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D2EF0908-8046-B1CA-7241-76A52E907525}"/>
              </a:ext>
            </a:extLst>
          </p:cNvPr>
          <p:cNvSpPr/>
          <p:nvPr/>
        </p:nvSpPr>
        <p:spPr>
          <a:xfrm>
            <a:off x="9912096" y="2176272"/>
            <a:ext cx="438912" cy="438912"/>
          </a:xfrm>
          <a:prstGeom prst="ellipse">
            <a:avLst/>
          </a:prstGeom>
          <a:solidFill>
            <a:srgbClr val="D44A3E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A43EF7-2C38-CB3B-7A9B-3754541414AA}"/>
              </a:ext>
            </a:extLst>
          </p:cNvPr>
          <p:cNvSpPr txBox="1"/>
          <p:nvPr/>
        </p:nvSpPr>
        <p:spPr>
          <a:xfrm>
            <a:off x="10497312" y="2176272"/>
            <a:ext cx="612648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D44A3E"/>
                </a:solidFill>
              </a:rPr>
              <a:t>Ошибки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E2D84B-0476-64ED-3322-207527100C1B}"/>
              </a:ext>
            </a:extLst>
          </p:cNvPr>
          <p:cNvSpPr txBox="1"/>
          <p:nvPr/>
        </p:nvSpPr>
        <p:spPr>
          <a:xfrm>
            <a:off x="9912096" y="2688336"/>
            <a:ext cx="1243584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Где чаще всего срывается безопасность.</a:t>
            </a:r>
          </a:p>
        </p:txBody>
      </p:sp>
      <p:sp>
        <p:nvSpPr>
          <p:cNvPr id="27" name="Прямоугольник: скругленные углы 26">
            <a:extLst>
              <a:ext uri="{FF2B5EF4-FFF2-40B4-BE49-F238E27FC236}">
                <a16:creationId xmlns:a16="http://schemas.microsoft.com/office/drawing/2014/main" id="{9BCEA460-F088-BB8C-7408-425FBFB29B59}"/>
              </a:ext>
            </a:extLst>
          </p:cNvPr>
          <p:cNvSpPr/>
          <p:nvPr/>
        </p:nvSpPr>
        <p:spPr>
          <a:xfrm>
            <a:off x="749808" y="3675888"/>
            <a:ext cx="10570464" cy="168249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: скругленные углы 27">
            <a:extLst>
              <a:ext uri="{FF2B5EF4-FFF2-40B4-BE49-F238E27FC236}">
                <a16:creationId xmlns:a16="http://schemas.microsoft.com/office/drawing/2014/main" id="{D1A63879-1737-5E39-359B-073894092362}"/>
              </a:ext>
            </a:extLst>
          </p:cNvPr>
          <p:cNvSpPr/>
          <p:nvPr/>
        </p:nvSpPr>
        <p:spPr>
          <a:xfrm>
            <a:off x="896112" y="3822192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Зачем такая последовательность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C58DA3-5152-1135-F9F7-B8C9359A3D63}"/>
              </a:ext>
            </a:extLst>
          </p:cNvPr>
          <p:cNvSpPr txBox="1"/>
          <p:nvPr/>
        </p:nvSpPr>
        <p:spPr>
          <a:xfrm>
            <a:off x="1097280" y="4443984"/>
            <a:ext cx="9930384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Сначала понимаем сам груз.</a:t>
            </a:r>
          </a:p>
          <a:p>
            <a:r>
              <a:rPr lang="ru-RU" sz="1900">
                <a:solidFill>
                  <a:srgbClr val="2D3136"/>
                </a:solidFill>
              </a:rPr>
              <a:t>• Потом выбираем средство строповки.</a:t>
            </a:r>
          </a:p>
          <a:p>
            <a:r>
              <a:rPr lang="ru-RU" sz="1900">
                <a:solidFill>
                  <a:srgbClr val="2D3136"/>
                </a:solidFill>
              </a:rPr>
              <a:t>• После этого проверяем, можно ли поднимать безопасно.</a:t>
            </a:r>
          </a:p>
        </p:txBody>
      </p:sp>
      <p:sp>
        <p:nvSpPr>
          <p:cNvPr id="30" name="Прямоугольник: скругленные углы 29">
            <a:hlinkClick r:id="rId2" action="ppaction://hlinksldjump"/>
            <a:extLst>
              <a:ext uri="{FF2B5EF4-FFF2-40B4-BE49-F238E27FC236}">
                <a16:creationId xmlns:a16="http://schemas.microsoft.com/office/drawing/2014/main" id="{0493F3F0-E95F-7EE9-B7CB-0833B2C08306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31" name="Прямоугольник: скругленные углы 30">
            <a:hlinkClick r:id="rId3" action="ppaction://hlinksldjump"/>
            <a:extLst>
              <a:ext uri="{FF2B5EF4-FFF2-40B4-BE49-F238E27FC236}">
                <a16:creationId xmlns:a16="http://schemas.microsoft.com/office/drawing/2014/main" id="{83458F74-9F06-4613-B82D-22C03ACC3B56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6492410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5A1D6313-DEA9-E921-ECAD-B1C556109586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931897-E939-D57D-A840-8DC9A99CCDF5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Сведения о грузах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9C48B-2761-7B5C-A936-769D7C9E2C90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Один груз — не одно и то же решение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FD1CD5D-F77B-0FEC-A378-9CCC895FCF0D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S011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6BECE78-B734-EFB8-16B4-190FB913BB29}"/>
              </a:ext>
            </a:extLst>
          </p:cNvPr>
          <p:cNvSpPr/>
          <p:nvPr/>
        </p:nvSpPr>
        <p:spPr>
          <a:xfrm>
            <a:off x="749808" y="1517904"/>
            <a:ext cx="5175504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EAFC0F56-6C4D-A951-792C-C2D29D686AEF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На что смотрим сначала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7DEBE5-DF2B-2298-2692-D752973BB389}"/>
              </a:ext>
            </a:extLst>
          </p:cNvPr>
          <p:cNvSpPr txBox="1"/>
          <p:nvPr/>
        </p:nvSpPr>
        <p:spPr>
          <a:xfrm>
            <a:off x="1097280" y="2286000"/>
            <a:ext cx="4535424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Не работай на спешке.</a:t>
            </a:r>
          </a:p>
          <a:p>
            <a:r>
              <a:rPr lang="ru-RU" sz="1900">
                <a:solidFill>
                  <a:srgbClr val="2D3136"/>
                </a:solidFill>
              </a:rPr>
              <a:t>• Определи тип груза и условия подъема.</a:t>
            </a:r>
          </a:p>
          <a:p>
            <a:r>
              <a:rPr lang="ru-RU" sz="1900">
                <a:solidFill>
                  <a:srgbClr val="2D3136"/>
                </a:solidFill>
              </a:rPr>
              <a:t>• Проверь, одинаково ли удобно и безопасно его брать.</a:t>
            </a:r>
          </a:p>
          <a:p>
            <a:r>
              <a:rPr lang="ru-RU" sz="1900">
                <a:solidFill>
                  <a:srgbClr val="2D3136"/>
                </a:solidFill>
              </a:rPr>
              <a:t>• Один и тот же кран работает по-разному с разными грузами.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E5186DC-E2D5-BD9D-DC00-D220E2C4420F}"/>
              </a:ext>
            </a:extLst>
          </p:cNvPr>
          <p:cNvSpPr/>
          <p:nvPr/>
        </p:nvSpPr>
        <p:spPr>
          <a:xfrm>
            <a:off x="6419088" y="1591056"/>
            <a:ext cx="2240280" cy="1353312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115B0489-3F9A-11F2-6AD8-4977B07EB124}"/>
              </a:ext>
            </a:extLst>
          </p:cNvPr>
          <p:cNvSpPr/>
          <p:nvPr/>
        </p:nvSpPr>
        <p:spPr>
          <a:xfrm>
            <a:off x="6583680" y="1755648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F0E4E6-7FB1-E454-7F95-23C123BB0846}"/>
              </a:ext>
            </a:extLst>
          </p:cNvPr>
          <p:cNvSpPr txBox="1"/>
          <p:nvPr/>
        </p:nvSpPr>
        <p:spPr>
          <a:xfrm>
            <a:off x="7168896" y="1755648"/>
            <a:ext cx="12801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Габаритный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DC0329-A5B3-F658-1622-5E59BCB03415}"/>
              </a:ext>
            </a:extLst>
          </p:cNvPr>
          <p:cNvSpPr txBox="1"/>
          <p:nvPr/>
        </p:nvSpPr>
        <p:spPr>
          <a:xfrm>
            <a:off x="6583680" y="2267712"/>
            <a:ext cx="191109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Обычный размер, понятные точки зацепки.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EBCA89A7-BC7D-2014-EC54-BCBFD98D8FE7}"/>
              </a:ext>
            </a:extLst>
          </p:cNvPr>
          <p:cNvSpPr/>
          <p:nvPr/>
        </p:nvSpPr>
        <p:spPr>
          <a:xfrm>
            <a:off x="8851392" y="1591056"/>
            <a:ext cx="2240280" cy="1353312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A10C4894-00A9-964A-1A53-5BC84D85DCFD}"/>
              </a:ext>
            </a:extLst>
          </p:cNvPr>
          <p:cNvSpPr/>
          <p:nvPr/>
        </p:nvSpPr>
        <p:spPr>
          <a:xfrm>
            <a:off x="9015984" y="1755648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Б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9C73AD-CDF1-260A-E297-DA0E8BBAE990}"/>
              </a:ext>
            </a:extLst>
          </p:cNvPr>
          <p:cNvSpPr txBox="1"/>
          <p:nvPr/>
        </p:nvSpPr>
        <p:spPr>
          <a:xfrm>
            <a:off x="9601200" y="1755648"/>
            <a:ext cx="128016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Длинномерный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03143B-F0A2-B5CC-01CC-22AE3006AA3A}"/>
              </a:ext>
            </a:extLst>
          </p:cNvPr>
          <p:cNvSpPr txBox="1"/>
          <p:nvPr/>
        </p:nvSpPr>
        <p:spPr>
          <a:xfrm>
            <a:off x="9015984" y="2267712"/>
            <a:ext cx="191109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Нужен контроль баланса и раскачивания.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FE0AD2B8-05C3-7F53-E5AA-CE4D820E0DA9}"/>
              </a:ext>
            </a:extLst>
          </p:cNvPr>
          <p:cNvSpPr/>
          <p:nvPr/>
        </p:nvSpPr>
        <p:spPr>
          <a:xfrm>
            <a:off x="6419088" y="3163824"/>
            <a:ext cx="2240280" cy="1353312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9E82C981-197A-289C-D59C-01F973473827}"/>
              </a:ext>
            </a:extLst>
          </p:cNvPr>
          <p:cNvSpPr/>
          <p:nvPr/>
        </p:nvSpPr>
        <p:spPr>
          <a:xfrm>
            <a:off x="6583680" y="3328416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В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30C4A9-869F-459A-E21A-B071A08D6D25}"/>
              </a:ext>
            </a:extLst>
          </p:cNvPr>
          <p:cNvSpPr txBox="1"/>
          <p:nvPr/>
        </p:nvSpPr>
        <p:spPr>
          <a:xfrm>
            <a:off x="7168896" y="3328416"/>
            <a:ext cx="128016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Листовой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0ECC36-139C-E809-0906-093050A4A088}"/>
              </a:ext>
            </a:extLst>
          </p:cNvPr>
          <p:cNvSpPr txBox="1"/>
          <p:nvPr/>
        </p:nvSpPr>
        <p:spPr>
          <a:xfrm>
            <a:off x="6583680" y="3840480"/>
            <a:ext cx="191109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Важно не повредить кромки и не сорвать строп.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CEEABDA8-9D25-CD0A-3F86-C2D2748583CD}"/>
              </a:ext>
            </a:extLst>
          </p:cNvPr>
          <p:cNvSpPr/>
          <p:nvPr/>
        </p:nvSpPr>
        <p:spPr>
          <a:xfrm>
            <a:off x="8851392" y="3163824"/>
            <a:ext cx="2240280" cy="1353312"/>
          </a:xfrm>
          <a:prstGeom prst="roundRect">
            <a:avLst/>
          </a:prstGeom>
          <a:solidFill>
            <a:srgbClr val="FFFBF6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A653C13D-9E4D-869F-1C96-2B5FBE2153D4}"/>
              </a:ext>
            </a:extLst>
          </p:cNvPr>
          <p:cNvSpPr/>
          <p:nvPr/>
        </p:nvSpPr>
        <p:spPr>
          <a:xfrm>
            <a:off x="9015984" y="3328416"/>
            <a:ext cx="438912" cy="438912"/>
          </a:xfrm>
          <a:prstGeom prst="ellipse">
            <a:avLst/>
          </a:prstGeom>
          <a:solidFill>
            <a:srgbClr val="D44A3E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Г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55195B-B0E4-2AD1-5D71-CAD416AAFA78}"/>
              </a:ext>
            </a:extLst>
          </p:cNvPr>
          <p:cNvSpPr txBox="1"/>
          <p:nvPr/>
        </p:nvSpPr>
        <p:spPr>
          <a:xfrm>
            <a:off x="9601200" y="3328416"/>
            <a:ext cx="128016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D44A3E"/>
                </a:solidFill>
              </a:rPr>
              <a:t>Железобетон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BB8C73-4076-FF1C-B6C2-C4055F44767E}"/>
              </a:ext>
            </a:extLst>
          </p:cNvPr>
          <p:cNvSpPr txBox="1"/>
          <p:nvPr/>
        </p:nvSpPr>
        <p:spPr>
          <a:xfrm>
            <a:off x="9015984" y="3840480"/>
            <a:ext cx="191109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Критичны масса, опоры и схема зацепки.</a:t>
            </a:r>
          </a:p>
        </p:txBody>
      </p:sp>
      <p:sp>
        <p:nvSpPr>
          <p:cNvPr id="25" name="Прямоугольник: скругленные углы 24">
            <a:hlinkClick r:id="rId2" action="ppaction://hlinksldjump"/>
            <a:extLst>
              <a:ext uri="{FF2B5EF4-FFF2-40B4-BE49-F238E27FC236}">
                <a16:creationId xmlns:a16="http://schemas.microsoft.com/office/drawing/2014/main" id="{1D69668F-C6BB-DC72-7BE0-EB9B499B0446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Прямоугольник: скругленные углы 25">
            <a:hlinkClick r:id="rId3" action="ppaction://hlinksldjump"/>
            <a:extLst>
              <a:ext uri="{FF2B5EF4-FFF2-40B4-BE49-F238E27FC236}">
                <a16:creationId xmlns:a16="http://schemas.microsoft.com/office/drawing/2014/main" id="{0839C391-B4DC-6382-EB18-16F5138E8E01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687339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E8851038-6389-A04C-03FB-172FCEE0EFE9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EA5FF9-8823-38FA-4B07-A13F0F292FCD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Ключевые факторы груза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0EEB90-A16D-E309-00A4-BF828AE1482A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Что влияет на устойчивость и выбор схемы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AD9328F-51E8-532A-7BCA-20F7E29D20D6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S012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C028EE1-5EB6-8A6A-5133-4F75B16A982D}"/>
              </a:ext>
            </a:extLst>
          </p:cNvPr>
          <p:cNvSpPr/>
          <p:nvPr/>
        </p:nvSpPr>
        <p:spPr>
          <a:xfrm>
            <a:off x="749808" y="1517904"/>
            <a:ext cx="5248656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30D72F29-701D-58E4-BE35-DACD82C88452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Факторы, которые нельзя пропустить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E2CAB-FB5D-1D3B-9067-292BB54B1716}"/>
              </a:ext>
            </a:extLst>
          </p:cNvPr>
          <p:cNvSpPr txBox="1"/>
          <p:nvPr/>
        </p:nvSpPr>
        <p:spPr>
          <a:xfrm>
            <a:off x="1097280" y="2286000"/>
            <a:ext cx="4608576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Масса груза</a:t>
            </a:r>
          </a:p>
          <a:p>
            <a:r>
              <a:rPr lang="ru-RU" sz="1900">
                <a:solidFill>
                  <a:srgbClr val="2D3136"/>
                </a:solidFill>
              </a:rPr>
              <a:t>• Габариты</a:t>
            </a:r>
          </a:p>
          <a:p>
            <a:r>
              <a:rPr lang="ru-RU" sz="1900">
                <a:solidFill>
                  <a:srgbClr val="2D3136"/>
                </a:solidFill>
              </a:rPr>
              <a:t>• Центр тяжести</a:t>
            </a:r>
          </a:p>
          <a:p>
            <a:r>
              <a:rPr lang="ru-RU" sz="1900">
                <a:solidFill>
                  <a:srgbClr val="2D3136"/>
                </a:solidFill>
              </a:rPr>
              <a:t>• Маркировка и знаки</a:t>
            </a:r>
          </a:p>
          <a:p>
            <a:r>
              <a:rPr lang="ru-RU" sz="1900">
                <a:solidFill>
                  <a:srgbClr val="2D3136"/>
                </a:solidFill>
              </a:rPr>
              <a:t>• Неизвестная масса - стоп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A1FFA9E-B47D-2FA5-A89A-C80E261D575F}"/>
              </a:ext>
            </a:extLst>
          </p:cNvPr>
          <p:cNvSpPr/>
          <p:nvPr/>
        </p:nvSpPr>
        <p:spPr>
          <a:xfrm>
            <a:off x="6345936" y="1517904"/>
            <a:ext cx="5010912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9D13E76E-F1A3-BA7B-641C-105C7056DFC1}"/>
              </a:ext>
            </a:extLst>
          </p:cNvPr>
          <p:cNvSpPr/>
          <p:nvPr/>
        </p:nvSpPr>
        <p:spPr>
          <a:xfrm>
            <a:off x="6492240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Опорная схема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448E0BDF-8818-F50A-5D43-73C84BEB32A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67712"/>
            <a:ext cx="4462272" cy="25100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E389D3-7970-2DAD-5D6F-2AF1331225D4}"/>
              </a:ext>
            </a:extLst>
          </p:cNvPr>
          <p:cNvSpPr txBox="1"/>
          <p:nvPr/>
        </p:nvSpPr>
        <p:spPr>
          <a:xfrm>
            <a:off x="6638544" y="4942332"/>
            <a:ext cx="442569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Готовый visual asset уже показывает главный риск: смещенный центр тяжести сразу меняет поведение груза.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53105151-446A-1F7D-40BE-BE3C340043DC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02412353-8A0C-E2E6-35EE-FC2E4E3F3B81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204608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2675A3E1-691D-4CE4-AE74-FC4A6B7B55CC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8F1AC-799D-0785-2CCC-893E36EE6AC1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Стропы и приспособления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4E71A4-E549-7CBD-1689-95C4E3E9B6A5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Средство выбирают под задачу, а не на глаз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1882F48-16E9-B064-BCE7-9E3C4EF57B75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S013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C8FB0F4-81E1-B046-7A7A-970E2F195F59}"/>
              </a:ext>
            </a:extLst>
          </p:cNvPr>
          <p:cNvSpPr/>
          <p:nvPr/>
        </p:nvSpPr>
        <p:spPr>
          <a:xfrm>
            <a:off x="749808" y="1517904"/>
            <a:ext cx="2743200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AC3E809-B18C-B354-7CAA-2E236BEBCFC9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нужно различать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7E7BC6-C0F8-4527-0520-FEC719C1149D}"/>
              </a:ext>
            </a:extLst>
          </p:cNvPr>
          <p:cNvSpPr txBox="1"/>
          <p:nvPr/>
        </p:nvSpPr>
        <p:spPr>
          <a:xfrm>
            <a:off x="1097280" y="2286000"/>
            <a:ext cx="2103120" cy="213904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Канатные стропы</a:t>
            </a:r>
          </a:p>
          <a:p>
            <a:r>
              <a:rPr lang="ru-RU" sz="1900">
                <a:solidFill>
                  <a:srgbClr val="2D3136"/>
                </a:solidFill>
              </a:rPr>
              <a:t>• Цепные стропы</a:t>
            </a:r>
          </a:p>
          <a:p>
            <a:r>
              <a:rPr lang="ru-RU" sz="1900">
                <a:solidFill>
                  <a:srgbClr val="2D3136"/>
                </a:solidFill>
              </a:rPr>
              <a:t>• Текстильные стропы</a:t>
            </a:r>
          </a:p>
          <a:p>
            <a:r>
              <a:rPr lang="ru-RU" sz="1900">
                <a:solidFill>
                  <a:srgbClr val="2D3136"/>
                </a:solidFill>
              </a:rPr>
              <a:t>• Грузозахватные приспособления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43F47ED-831C-E9F0-36DE-2D99E876E22F}"/>
              </a:ext>
            </a:extLst>
          </p:cNvPr>
          <p:cNvSpPr/>
          <p:nvPr/>
        </p:nvSpPr>
        <p:spPr>
          <a:xfrm>
            <a:off x="3712464" y="1627632"/>
            <a:ext cx="1874520" cy="1920240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2106EA3C-E54C-1387-6700-37D71CE12FD0}"/>
              </a:ext>
            </a:extLst>
          </p:cNvPr>
          <p:cNvSpPr/>
          <p:nvPr/>
        </p:nvSpPr>
        <p:spPr>
          <a:xfrm>
            <a:off x="3877056" y="1792224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64241C-144D-1510-35D2-512213D0EDF2}"/>
              </a:ext>
            </a:extLst>
          </p:cNvPr>
          <p:cNvSpPr txBox="1"/>
          <p:nvPr/>
        </p:nvSpPr>
        <p:spPr>
          <a:xfrm>
            <a:off x="4462272" y="1792224"/>
            <a:ext cx="914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Канатные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0D27F0-0B8B-DBC7-E339-D4946D6E1F57}"/>
              </a:ext>
            </a:extLst>
          </p:cNvPr>
          <p:cNvSpPr txBox="1"/>
          <p:nvPr/>
        </p:nvSpPr>
        <p:spPr>
          <a:xfrm>
            <a:off x="3877056" y="2304288"/>
            <a:ext cx="1545336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Универсальный рабочий вариант, важен осмотр и состояние ветвей.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ACEFBF3-C6C9-0AF2-9B27-39967B6ACCDB}"/>
              </a:ext>
            </a:extLst>
          </p:cNvPr>
          <p:cNvSpPr/>
          <p:nvPr/>
        </p:nvSpPr>
        <p:spPr>
          <a:xfrm>
            <a:off x="5742432" y="1627632"/>
            <a:ext cx="1874520" cy="1920240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AD313CB3-DC42-03BB-8612-CF0DF5B0BEEF}"/>
              </a:ext>
            </a:extLst>
          </p:cNvPr>
          <p:cNvSpPr/>
          <p:nvPr/>
        </p:nvSpPr>
        <p:spPr>
          <a:xfrm>
            <a:off x="5907024" y="1792224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7FCEEB-E36B-9C36-9A9F-E946BC2CBC49}"/>
              </a:ext>
            </a:extLst>
          </p:cNvPr>
          <p:cNvSpPr txBox="1"/>
          <p:nvPr/>
        </p:nvSpPr>
        <p:spPr>
          <a:xfrm>
            <a:off x="6492240" y="1792224"/>
            <a:ext cx="9144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Цепные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FC3086-B7F8-20EC-C35F-93732066F04E}"/>
              </a:ext>
            </a:extLst>
          </p:cNvPr>
          <p:cNvSpPr txBox="1"/>
          <p:nvPr/>
        </p:nvSpPr>
        <p:spPr>
          <a:xfrm>
            <a:off x="5907024" y="2304288"/>
            <a:ext cx="1545336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Хороши для жестких условий и тяжелых грузов.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CC204E8B-8523-8D5B-AAA7-0AB8CC7AA250}"/>
              </a:ext>
            </a:extLst>
          </p:cNvPr>
          <p:cNvSpPr/>
          <p:nvPr/>
        </p:nvSpPr>
        <p:spPr>
          <a:xfrm>
            <a:off x="7772400" y="1627632"/>
            <a:ext cx="1874520" cy="1920240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26E5F940-941A-CD86-3D36-1F270FA155B6}"/>
              </a:ext>
            </a:extLst>
          </p:cNvPr>
          <p:cNvSpPr/>
          <p:nvPr/>
        </p:nvSpPr>
        <p:spPr>
          <a:xfrm>
            <a:off x="7936992" y="1792224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C6E4A7-6723-03C7-7F09-6ABF520C199B}"/>
              </a:ext>
            </a:extLst>
          </p:cNvPr>
          <p:cNvSpPr txBox="1"/>
          <p:nvPr/>
        </p:nvSpPr>
        <p:spPr>
          <a:xfrm>
            <a:off x="8522208" y="1792224"/>
            <a:ext cx="9144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Текстильные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D0C622-0646-2BC5-8351-FF0E03C5CEFC}"/>
              </a:ext>
            </a:extLst>
          </p:cNvPr>
          <p:cNvSpPr txBox="1"/>
          <p:nvPr/>
        </p:nvSpPr>
        <p:spPr>
          <a:xfrm>
            <a:off x="7936992" y="2304288"/>
            <a:ext cx="1545336" cy="8925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Нужны там, где важна бережная работа с поверхностью.</a:t>
            </a:r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723DDD5E-1C32-0FBF-FB48-5276B5FF45DB}"/>
              </a:ext>
            </a:extLst>
          </p:cNvPr>
          <p:cNvSpPr/>
          <p:nvPr/>
        </p:nvSpPr>
        <p:spPr>
          <a:xfrm>
            <a:off x="9802368" y="1627632"/>
            <a:ext cx="1444752" cy="1920240"/>
          </a:xfrm>
          <a:prstGeom prst="roundRect">
            <a:avLst/>
          </a:prstGeom>
          <a:solidFill>
            <a:srgbClr val="FFFBF6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164EB6DB-E153-5851-5FD1-CFB719AEAF1E}"/>
              </a:ext>
            </a:extLst>
          </p:cNvPr>
          <p:cNvSpPr/>
          <p:nvPr/>
        </p:nvSpPr>
        <p:spPr>
          <a:xfrm>
            <a:off x="9966960" y="1792224"/>
            <a:ext cx="438912" cy="438912"/>
          </a:xfrm>
          <a:prstGeom prst="ellipse">
            <a:avLst/>
          </a:prstGeom>
          <a:solidFill>
            <a:srgbClr val="CF8D3E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A0C99A-8181-2BE8-D544-1B9BF3FEFC35}"/>
              </a:ext>
            </a:extLst>
          </p:cNvPr>
          <p:cNvSpPr txBox="1"/>
          <p:nvPr/>
        </p:nvSpPr>
        <p:spPr>
          <a:xfrm>
            <a:off x="10552176" y="1792224"/>
            <a:ext cx="484632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CF8D3E"/>
                </a:solidFill>
              </a:rPr>
              <a:t>Оснастка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1DCD1B-C3AD-5CF8-82ED-D2C05E4CE018}"/>
              </a:ext>
            </a:extLst>
          </p:cNvPr>
          <p:cNvSpPr txBox="1"/>
          <p:nvPr/>
        </p:nvSpPr>
        <p:spPr>
          <a:xfrm>
            <a:off x="9966960" y="2304288"/>
            <a:ext cx="1115568" cy="14927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Траверсы, захваты, скобы и другие решения под конкретную задачу.</a:t>
            </a:r>
          </a:p>
        </p:txBody>
      </p:sp>
      <p:sp>
        <p:nvSpPr>
          <p:cNvPr id="25" name="Прямоугольник: скругленные углы 24">
            <a:extLst>
              <a:ext uri="{FF2B5EF4-FFF2-40B4-BE49-F238E27FC236}">
                <a16:creationId xmlns:a16="http://schemas.microsoft.com/office/drawing/2014/main" id="{00EB6664-362A-8997-55DF-930B56555FD3}"/>
              </a:ext>
            </a:extLst>
          </p:cNvPr>
          <p:cNvSpPr/>
          <p:nvPr/>
        </p:nvSpPr>
        <p:spPr>
          <a:xfrm>
            <a:off x="3712464" y="3803904"/>
            <a:ext cx="7534656" cy="1444752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2D330548-8E70-BEEF-BC2E-D56260BEC63D}"/>
              </a:ext>
            </a:extLst>
          </p:cNvPr>
          <p:cNvSpPr/>
          <p:nvPr/>
        </p:nvSpPr>
        <p:spPr>
          <a:xfrm>
            <a:off x="3858768" y="3950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Ключевой вывод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F59418-07DB-0B69-C379-384D46E29175}"/>
              </a:ext>
            </a:extLst>
          </p:cNvPr>
          <p:cNvSpPr txBox="1"/>
          <p:nvPr/>
        </p:nvSpPr>
        <p:spPr>
          <a:xfrm>
            <a:off x="4059936" y="4572000"/>
            <a:ext cx="6894576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Выбор зависит от массы, формы груза и условий работы.</a:t>
            </a:r>
          </a:p>
          <a:p>
            <a:r>
              <a:rPr lang="ru-RU" sz="1900">
                <a:solidFill>
                  <a:srgbClr val="2D3136"/>
                </a:solidFill>
              </a:rPr>
              <a:t>• Перед использованием средство не только выбирают, но и обязательно осматривают.</a:t>
            </a:r>
          </a:p>
        </p:txBody>
      </p:sp>
      <p:sp>
        <p:nvSpPr>
          <p:cNvPr id="28" name="Прямоугольник: скругленные углы 27">
            <a:hlinkClick r:id="rId2" action="ppaction://hlinksldjump"/>
            <a:extLst>
              <a:ext uri="{FF2B5EF4-FFF2-40B4-BE49-F238E27FC236}">
                <a16:creationId xmlns:a16="http://schemas.microsoft.com/office/drawing/2014/main" id="{9E0CFF39-A7AC-F0B1-4311-B435FA991911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9" name="Прямоугольник: скругленные углы 28">
            <a:hlinkClick r:id="rId3" action="ppaction://hlinksldjump"/>
            <a:extLst>
              <a:ext uri="{FF2B5EF4-FFF2-40B4-BE49-F238E27FC236}">
                <a16:creationId xmlns:a16="http://schemas.microsoft.com/office/drawing/2014/main" id="{9CCB19D1-2A05-4DE1-D525-07F03430DAB2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894636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97A5ECAC-0FBD-9BD8-EE00-F3E579CE1B07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6643B5-E16C-19C8-9088-89BDAA5E2EB0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Что проверять перед использованием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7C583-5932-E469-B254-A2F012DDACF8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Осмотр - это часть допуска к работе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DAAF5AA-B71C-D8C2-3B22-F0CAEA578D6C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S014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7C94FA1-CB77-FFC5-0B37-A9999553A015}"/>
              </a:ext>
            </a:extLst>
          </p:cNvPr>
          <p:cNvSpPr/>
          <p:nvPr/>
        </p:nvSpPr>
        <p:spPr>
          <a:xfrm>
            <a:off x="749808" y="1517904"/>
            <a:ext cx="5212080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6B969E41-7EB8-49F6-B7F6-93D731F43F45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Перед подъемом обязательно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EF085-A9D2-7D81-E3E4-87402FAAAB3F}"/>
              </a:ext>
            </a:extLst>
          </p:cNvPr>
          <p:cNvSpPr txBox="1"/>
          <p:nvPr/>
        </p:nvSpPr>
        <p:spPr>
          <a:xfrm>
            <a:off x="1097280" y="2286000"/>
            <a:ext cx="4572000" cy="155427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Осмотреть строп или приспособление.</a:t>
            </a:r>
          </a:p>
          <a:p>
            <a:r>
              <a:rPr lang="ru-RU" sz="1900">
                <a:solidFill>
                  <a:srgbClr val="2D3136"/>
                </a:solidFill>
              </a:rPr>
              <a:t>• Проверить бирку и маркировку.</a:t>
            </a:r>
          </a:p>
          <a:p>
            <a:r>
              <a:rPr lang="ru-RU" sz="1900">
                <a:solidFill>
                  <a:srgbClr val="2D3136"/>
                </a:solidFill>
              </a:rPr>
              <a:t>• Убедиться, что нет повреждений и износа.</a:t>
            </a:r>
          </a:p>
          <a:p>
            <a:r>
              <a:rPr lang="ru-RU" sz="1900">
                <a:solidFill>
                  <a:srgbClr val="2D3136"/>
                </a:solidFill>
              </a:rPr>
              <a:t>• Неисправное - не использовать.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B5D10E55-3309-47D3-4CD2-6A02FA3577E6}"/>
              </a:ext>
            </a:extLst>
          </p:cNvPr>
          <p:cNvSpPr/>
          <p:nvPr/>
        </p:nvSpPr>
        <p:spPr>
          <a:xfrm>
            <a:off x="6345936" y="1517904"/>
            <a:ext cx="5010912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4320BB41-8048-2A52-0EDC-CE9D1FF5E942}"/>
              </a:ext>
            </a:extLst>
          </p:cNvPr>
          <p:cNvSpPr/>
          <p:nvPr/>
        </p:nvSpPr>
        <p:spPr>
          <a:xfrm>
            <a:off x="6492240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Опорный экран осмотра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3F57238-AC43-5839-3F8D-36AE02E165D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67712"/>
            <a:ext cx="4462272" cy="25100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B5DA5AC-CB74-7831-1DF2-93C6ADB51DDF}"/>
              </a:ext>
            </a:extLst>
          </p:cNvPr>
          <p:cNvSpPr txBox="1"/>
          <p:nvPr/>
        </p:nvSpPr>
        <p:spPr>
          <a:xfrm>
            <a:off x="6638544" y="4942332"/>
            <a:ext cx="442569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Экран осмотра уже можно использовать как рабочий визуальный каркас для линейного объяснения.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E6407424-7AF8-4EC8-28B4-F4456B7AD923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25B789D5-94EC-BF2F-57E2-CA848C28BEF5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3887545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B902496-6039-9D2A-07B6-BB3392944095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97CD0E-CA88-811B-DA8B-1543BF0B2384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Правила строповки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816B8-B1A8-43C9-6EA0-ED6BFB98ECAB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Правильная зацепка начинается с дисциплины схемы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E90E28F-DD50-B59A-B1D8-82DEDFC97166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S015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13820FD-766C-C161-B39F-5447B0C2794C}"/>
              </a:ext>
            </a:extLst>
          </p:cNvPr>
          <p:cNvSpPr/>
          <p:nvPr/>
        </p:nvSpPr>
        <p:spPr>
          <a:xfrm>
            <a:off x="749808" y="1645920"/>
            <a:ext cx="3419856" cy="1883664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DF5FF433-63E2-7444-8D96-3E818A5C40CE}"/>
              </a:ext>
            </a:extLst>
          </p:cNvPr>
          <p:cNvSpPr/>
          <p:nvPr/>
        </p:nvSpPr>
        <p:spPr>
          <a:xfrm>
            <a:off x="914400" y="1810512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A45DBD-8B42-3771-F1DB-3480F5234268}"/>
              </a:ext>
            </a:extLst>
          </p:cNvPr>
          <p:cNvSpPr txBox="1"/>
          <p:nvPr/>
        </p:nvSpPr>
        <p:spPr>
          <a:xfrm>
            <a:off x="1499616" y="1810512"/>
            <a:ext cx="2459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Точка зацепки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A91B3-CF7F-E651-7612-A22C0F9ACAFF}"/>
              </a:ext>
            </a:extLst>
          </p:cNvPr>
          <p:cNvSpPr txBox="1"/>
          <p:nvPr/>
        </p:nvSpPr>
        <p:spPr>
          <a:xfrm>
            <a:off x="914400" y="2322576"/>
            <a:ext cx="30906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Выбираем понятную и безопасную точку, а не случайный удобный хват.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39642C63-F5B4-D6E3-B0A5-5E5333410B18}"/>
              </a:ext>
            </a:extLst>
          </p:cNvPr>
          <p:cNvSpPr/>
          <p:nvPr/>
        </p:nvSpPr>
        <p:spPr>
          <a:xfrm>
            <a:off x="4370832" y="1645920"/>
            <a:ext cx="3419856" cy="1883664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22905130-C574-9636-F671-3D22962E4B55}"/>
              </a:ext>
            </a:extLst>
          </p:cNvPr>
          <p:cNvSpPr/>
          <p:nvPr/>
        </p:nvSpPr>
        <p:spPr>
          <a:xfrm>
            <a:off x="4535424" y="1810512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0F2468-EE3C-5010-7E3D-D7A9FAC4952A}"/>
              </a:ext>
            </a:extLst>
          </p:cNvPr>
          <p:cNvSpPr txBox="1"/>
          <p:nvPr/>
        </p:nvSpPr>
        <p:spPr>
          <a:xfrm>
            <a:off x="5120640" y="1810512"/>
            <a:ext cx="24597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Схема строповки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12035F-CE88-8ACF-C86D-83E79E54A9B7}"/>
              </a:ext>
            </a:extLst>
          </p:cNvPr>
          <p:cNvSpPr txBox="1"/>
          <p:nvPr/>
        </p:nvSpPr>
        <p:spPr>
          <a:xfrm>
            <a:off x="4535424" y="2322576"/>
            <a:ext cx="30906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Работаем по схеме, а не по привычке или похожему варианту.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629C361-B9F5-F91A-D65D-538FC132BFF0}"/>
              </a:ext>
            </a:extLst>
          </p:cNvPr>
          <p:cNvSpPr/>
          <p:nvPr/>
        </p:nvSpPr>
        <p:spPr>
          <a:xfrm>
            <a:off x="7991856" y="1645920"/>
            <a:ext cx="3236976" cy="1883664"/>
          </a:xfrm>
          <a:prstGeom prst="roundRect">
            <a:avLst/>
          </a:prstGeom>
          <a:solidFill>
            <a:srgbClr val="FFFBF6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4FB43F92-BC16-B4C8-0BBD-67272CB15A7E}"/>
              </a:ext>
            </a:extLst>
          </p:cNvPr>
          <p:cNvSpPr/>
          <p:nvPr/>
        </p:nvSpPr>
        <p:spPr>
          <a:xfrm>
            <a:off x="8156448" y="1810512"/>
            <a:ext cx="438912" cy="438912"/>
          </a:xfrm>
          <a:prstGeom prst="ellipse">
            <a:avLst/>
          </a:prstGeom>
          <a:solidFill>
            <a:srgbClr val="D44A3E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F4701F-D261-15C0-8289-4B1B2BF2A497}"/>
              </a:ext>
            </a:extLst>
          </p:cNvPr>
          <p:cNvSpPr txBox="1"/>
          <p:nvPr/>
        </p:nvSpPr>
        <p:spPr>
          <a:xfrm>
            <a:off x="8741664" y="1810512"/>
            <a:ext cx="227685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D44A3E"/>
                </a:solidFill>
              </a:rPr>
              <a:t>Без случайной обвязки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7B7BF-BA20-652C-08E5-A53DCF056DFC}"/>
              </a:ext>
            </a:extLst>
          </p:cNvPr>
          <p:cNvSpPr txBox="1"/>
          <p:nvPr/>
        </p:nvSpPr>
        <p:spPr>
          <a:xfrm>
            <a:off x="8156448" y="2322576"/>
            <a:ext cx="290779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Если схема вызывает сомнение, ее нельзя считать допустимой.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6C475BF5-4C41-14CF-01BE-2317375603BC}"/>
              </a:ext>
            </a:extLst>
          </p:cNvPr>
          <p:cNvSpPr/>
          <p:nvPr/>
        </p:nvSpPr>
        <p:spPr>
          <a:xfrm>
            <a:off x="749808" y="3858768"/>
            <a:ext cx="10479024" cy="1572768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: скругленные углы 18">
            <a:extLst>
              <a:ext uri="{FF2B5EF4-FFF2-40B4-BE49-F238E27FC236}">
                <a16:creationId xmlns:a16="http://schemas.microsoft.com/office/drawing/2014/main" id="{19F65913-C2A8-380D-887D-D46DC83EFC85}"/>
              </a:ext>
            </a:extLst>
          </p:cNvPr>
          <p:cNvSpPr/>
          <p:nvPr/>
        </p:nvSpPr>
        <p:spPr>
          <a:xfrm>
            <a:off x="896112" y="4005072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Главный смысл экрана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A3C4C0-D987-8D29-82A2-EE402F807C94}"/>
              </a:ext>
            </a:extLst>
          </p:cNvPr>
          <p:cNvSpPr txBox="1"/>
          <p:nvPr/>
        </p:nvSpPr>
        <p:spPr>
          <a:xfrm>
            <a:off x="1097280" y="4626864"/>
            <a:ext cx="9838944" cy="6771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Безопасность рушится в тот момент, когда зацепку принимают на глаз.</a:t>
            </a:r>
          </a:p>
          <a:p>
            <a:r>
              <a:rPr lang="ru-RU" sz="1900">
                <a:solidFill>
                  <a:srgbClr val="2D3136"/>
                </a:solidFill>
              </a:rPr>
              <a:t>• Правило простое: понятная точка, проверенная схема, никакой самодеятельности.</a:t>
            </a:r>
          </a:p>
        </p:txBody>
      </p:sp>
      <p:sp>
        <p:nvSpPr>
          <p:cNvPr id="21" name="Прямоугольник: скругленные углы 20">
            <a:hlinkClick r:id="rId2" action="ppaction://hlinksldjump"/>
            <a:extLst>
              <a:ext uri="{FF2B5EF4-FFF2-40B4-BE49-F238E27FC236}">
                <a16:creationId xmlns:a16="http://schemas.microsoft.com/office/drawing/2014/main" id="{3511D350-A5D2-53B0-171B-0A06E7B55964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2" name="Прямоугольник: скругленные углы 21">
            <a:hlinkClick r:id="rId3" action="ppaction://hlinksldjump"/>
            <a:extLst>
              <a:ext uri="{FF2B5EF4-FFF2-40B4-BE49-F238E27FC236}">
                <a16:creationId xmlns:a16="http://schemas.microsoft.com/office/drawing/2014/main" id="{A239913A-0AF8-C839-D013-8B352B70DE43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20342657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0937CBC-0E77-4A29-FBB8-B626E3E88828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75D77C-0A10-6B05-E51C-B82843361544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Запреты и риски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9D74F-7B47-2091-B5EA-CEE2236C67E4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Где схема внешне выглядит рабочей, но уже опасна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91F5EF9-CADF-F8CC-1477-EB9F8F59FF36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S016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CD32E32-D802-DC9D-AAC1-F9E00597D750}"/>
              </a:ext>
            </a:extLst>
          </p:cNvPr>
          <p:cNvSpPr/>
          <p:nvPr/>
        </p:nvSpPr>
        <p:spPr>
          <a:xfrm>
            <a:off x="749808" y="1517904"/>
            <a:ext cx="5175504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0E5145BB-201E-84D9-66CC-E412EA68069C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Нагрузка на ветви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6DB6F4D-BADB-EE48-4340-343F74989EA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67712"/>
            <a:ext cx="4626864" cy="26026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679031-379E-B965-C148-62F619E5314D}"/>
              </a:ext>
            </a:extLst>
          </p:cNvPr>
          <p:cNvSpPr txBox="1"/>
          <p:nvPr/>
        </p:nvSpPr>
        <p:spPr>
          <a:xfrm>
            <a:off x="1042416" y="5034915"/>
            <a:ext cx="4590288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Готовая схема помогает объяснить, почему угол между ветвями нельзя игнорировать.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4D7707BA-230C-61E2-9EA6-6289153920CF}"/>
              </a:ext>
            </a:extLst>
          </p:cNvPr>
          <p:cNvSpPr/>
          <p:nvPr/>
        </p:nvSpPr>
        <p:spPr>
          <a:xfrm>
            <a:off x="6327648" y="1517904"/>
            <a:ext cx="5029200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B79638F8-50A1-3811-3388-CE91D40A106A}"/>
              </a:ext>
            </a:extLst>
          </p:cNvPr>
          <p:cNvSpPr/>
          <p:nvPr/>
        </p:nvSpPr>
        <p:spPr>
          <a:xfrm>
            <a:off x="647395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нельзя пропускать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B20D83-3435-7973-1435-901C74882CFF}"/>
              </a:ext>
            </a:extLst>
          </p:cNvPr>
          <p:cNvSpPr txBox="1"/>
          <p:nvPr/>
        </p:nvSpPr>
        <p:spPr>
          <a:xfrm>
            <a:off x="6675120" y="2286000"/>
            <a:ext cx="4389120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Угол между ветвями влияет на нагрузку.</a:t>
            </a:r>
          </a:p>
          <a:p>
            <a:r>
              <a:rPr lang="ru-RU" sz="1900">
                <a:solidFill>
                  <a:srgbClr val="2D3136"/>
                </a:solidFill>
              </a:rPr>
              <a:t>• Острые ребра требуют защиты стропа.</a:t>
            </a:r>
          </a:p>
          <a:p>
            <a:r>
              <a:rPr lang="ru-RU" sz="1900">
                <a:solidFill>
                  <a:srgbClr val="2D3136"/>
                </a:solidFill>
              </a:rPr>
              <a:t>• Опасная зацепка не становится нормой, даже если раньше так делали.</a:t>
            </a:r>
          </a:p>
          <a:p>
            <a:r>
              <a:rPr lang="ru-RU" sz="1900">
                <a:solidFill>
                  <a:srgbClr val="2D3136"/>
                </a:solidFill>
              </a:rPr>
              <a:t>• При риске - стоп.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33812A3F-6895-F23A-BAAD-DFD496583044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358FDD62-ACED-9420-23D0-850BF90A1C94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4140305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E890C72F-50C5-45DC-E94D-9F845D64A0DA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2FBF1-3552-25A0-F70C-8FF7D83A6FF0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Проверка схемы строповки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C54A76-9B0B-F516-9034-76BA5AAD2265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Перед сигналом должна быть короткая, но обязательная проверка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E10AF6B9-2454-4B46-FBE8-B50E3E94B23E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S017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0EC9282A-6EC8-0AD3-A984-5D957F81FA71}"/>
              </a:ext>
            </a:extLst>
          </p:cNvPr>
          <p:cNvSpPr/>
          <p:nvPr/>
        </p:nvSpPr>
        <p:spPr>
          <a:xfrm>
            <a:off x="749808" y="1517904"/>
            <a:ext cx="5248656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E0CFE67-2BF9-7235-E562-E9170663D284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Проверка по шагам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FB9CD023-0221-9A90-A806-2715540B0224}"/>
              </a:ext>
            </a:extLst>
          </p:cNvPr>
          <p:cNvSpPr/>
          <p:nvPr/>
        </p:nvSpPr>
        <p:spPr>
          <a:xfrm>
            <a:off x="987552" y="2066544"/>
            <a:ext cx="47365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C41EF692-6D15-43BA-2B07-9DB164D183CB}"/>
              </a:ext>
            </a:extLst>
          </p:cNvPr>
          <p:cNvSpPr/>
          <p:nvPr/>
        </p:nvSpPr>
        <p:spPr>
          <a:xfrm>
            <a:off x="1133856" y="2148840"/>
            <a:ext cx="402336" cy="402336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E6A9BA-1E28-1DAC-0D95-A475BF874063}"/>
              </a:ext>
            </a:extLst>
          </p:cNvPr>
          <p:cNvSpPr txBox="1"/>
          <p:nvPr/>
        </p:nvSpPr>
        <p:spPr>
          <a:xfrm>
            <a:off x="1719072" y="2212848"/>
            <a:ext cx="3822192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D3136"/>
                </a:solidFill>
              </a:rPr>
              <a:t>Проверь массу груза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77A71A09-B498-7141-920E-889A5C8B2624}"/>
              </a:ext>
            </a:extLst>
          </p:cNvPr>
          <p:cNvSpPr/>
          <p:nvPr/>
        </p:nvSpPr>
        <p:spPr>
          <a:xfrm>
            <a:off x="987552" y="2779776"/>
            <a:ext cx="47365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B22C6FA5-55AD-52CF-945E-E514BC66766B}"/>
              </a:ext>
            </a:extLst>
          </p:cNvPr>
          <p:cNvSpPr/>
          <p:nvPr/>
        </p:nvSpPr>
        <p:spPr>
          <a:xfrm>
            <a:off x="1133856" y="2862072"/>
            <a:ext cx="402336" cy="402336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234334-D2EE-D6DA-295C-4DEF53EA93C6}"/>
              </a:ext>
            </a:extLst>
          </p:cNvPr>
          <p:cNvSpPr txBox="1"/>
          <p:nvPr/>
        </p:nvSpPr>
        <p:spPr>
          <a:xfrm>
            <a:off x="1719072" y="2926080"/>
            <a:ext cx="3822192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D3136"/>
                </a:solidFill>
              </a:rPr>
              <a:t>Проверь схему строповки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72E1913E-FB01-CE11-BB24-12DFB2B91263}"/>
              </a:ext>
            </a:extLst>
          </p:cNvPr>
          <p:cNvSpPr/>
          <p:nvPr/>
        </p:nvSpPr>
        <p:spPr>
          <a:xfrm>
            <a:off x="987552" y="3493008"/>
            <a:ext cx="47365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62BF45D2-4832-7749-F206-582E63950336}"/>
              </a:ext>
            </a:extLst>
          </p:cNvPr>
          <p:cNvSpPr/>
          <p:nvPr/>
        </p:nvSpPr>
        <p:spPr>
          <a:xfrm>
            <a:off x="1133856" y="3575304"/>
            <a:ext cx="402336" cy="402336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C93BC2-ADAC-5CEE-0A82-8AF24B3721EC}"/>
              </a:ext>
            </a:extLst>
          </p:cNvPr>
          <p:cNvSpPr txBox="1"/>
          <p:nvPr/>
        </p:nvSpPr>
        <p:spPr>
          <a:xfrm>
            <a:off x="1719072" y="3639312"/>
            <a:ext cx="3822192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D3136"/>
                </a:solidFill>
              </a:rPr>
              <a:t>Проверь устойчивость</a:t>
            </a:r>
          </a:p>
        </p:txBody>
      </p:sp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A2F4A85-46EB-3A43-D7B8-A8456B1C231E}"/>
              </a:ext>
            </a:extLst>
          </p:cNvPr>
          <p:cNvSpPr/>
          <p:nvPr/>
        </p:nvSpPr>
        <p:spPr>
          <a:xfrm>
            <a:off x="987552" y="4206240"/>
            <a:ext cx="4736592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CAB8213C-D800-A7DF-3EC4-73A95EF2EAF8}"/>
              </a:ext>
            </a:extLst>
          </p:cNvPr>
          <p:cNvSpPr/>
          <p:nvPr/>
        </p:nvSpPr>
        <p:spPr>
          <a:xfrm>
            <a:off x="1133856" y="4288536"/>
            <a:ext cx="402336" cy="402336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BD2F50-5239-8958-D9E0-8E55B2F9012D}"/>
              </a:ext>
            </a:extLst>
          </p:cNvPr>
          <p:cNvSpPr txBox="1"/>
          <p:nvPr/>
        </p:nvSpPr>
        <p:spPr>
          <a:xfrm>
            <a:off x="1719072" y="4352544"/>
            <a:ext cx="3822192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D3136"/>
                </a:solidFill>
              </a:rPr>
              <a:t>Проверь стропы и приспособления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C715EA06-A928-2EE2-B921-55C69BEE3689}"/>
              </a:ext>
            </a:extLst>
          </p:cNvPr>
          <p:cNvSpPr/>
          <p:nvPr/>
        </p:nvSpPr>
        <p:spPr>
          <a:xfrm>
            <a:off x="6345936" y="1517904"/>
            <a:ext cx="5010912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: скругленные углы 20">
            <a:extLst>
              <a:ext uri="{FF2B5EF4-FFF2-40B4-BE49-F238E27FC236}">
                <a16:creationId xmlns:a16="http://schemas.microsoft.com/office/drawing/2014/main" id="{CEE4CBE1-496D-70E0-CED7-2E1CFD630BEF}"/>
              </a:ext>
            </a:extLst>
          </p:cNvPr>
          <p:cNvSpPr/>
          <p:nvPr/>
        </p:nvSpPr>
        <p:spPr>
          <a:xfrm>
            <a:off x="6492240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Опорная последовательность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800C838-05A0-E6F2-9A1E-AAC19CB24C05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20256" y="2267712"/>
            <a:ext cx="4462272" cy="251002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9B98D3E-8F4E-919B-DA18-3A1B5BB60376}"/>
              </a:ext>
            </a:extLst>
          </p:cNvPr>
          <p:cNvSpPr txBox="1"/>
          <p:nvPr/>
        </p:nvSpPr>
        <p:spPr>
          <a:xfrm>
            <a:off x="6638544" y="4942332"/>
            <a:ext cx="4425696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Сначала схема и проверка, потом сигнал и только затем подъем.</a:t>
            </a:r>
          </a:p>
        </p:txBody>
      </p:sp>
      <p:sp>
        <p:nvSpPr>
          <p:cNvPr id="25" name="Прямоугольник: скругленные углы 24">
            <a:hlinkClick r:id="rId3" action="ppaction://hlinksldjump"/>
            <a:extLst>
              <a:ext uri="{FF2B5EF4-FFF2-40B4-BE49-F238E27FC236}">
                <a16:creationId xmlns:a16="http://schemas.microsoft.com/office/drawing/2014/main" id="{D0041A2A-0ED5-4754-F79C-51B7F48939D9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Прямоугольник: скругленные углы 25">
            <a:hlinkClick r:id="rId4" action="ppaction://hlinksldjump"/>
            <a:extLst>
              <a:ext uri="{FF2B5EF4-FFF2-40B4-BE49-F238E27FC236}">
                <a16:creationId xmlns:a16="http://schemas.microsoft.com/office/drawing/2014/main" id="{D48254E6-CA48-5B3B-C552-D2960847B05E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7847895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0FB6958C-28DE-388B-9A4C-EAA326C16CB0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B4F5B5-BDF7-BA9E-B9C6-CA1BFB15F898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Когда работу нужно остановить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CEDA0-7EA1-D5C9-0C47-7530A7000E98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Стоп - это обязанность, а не пауза из осторожности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C07CC906-5B7A-F262-4752-53B8FD06F77A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S018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CFF65BF-F20D-FB23-EDB8-5E64DA5D294D}"/>
              </a:ext>
            </a:extLst>
          </p:cNvPr>
          <p:cNvSpPr/>
          <p:nvPr/>
        </p:nvSpPr>
        <p:spPr>
          <a:xfrm>
            <a:off x="749808" y="1517904"/>
            <a:ext cx="5230368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ABF51D7B-BB1B-B780-DB92-4E612BAFC2C8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Сигналы на остановку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A32169-E2AA-15BA-5E7F-E6B213D7146D}"/>
              </a:ext>
            </a:extLst>
          </p:cNvPr>
          <p:cNvSpPr txBox="1"/>
          <p:nvPr/>
        </p:nvSpPr>
        <p:spPr>
          <a:xfrm>
            <a:off x="1097280" y="2286000"/>
            <a:ext cx="4590288" cy="184665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Неясна масса груза.</a:t>
            </a:r>
          </a:p>
          <a:p>
            <a:r>
              <a:rPr lang="ru-RU" sz="1900">
                <a:solidFill>
                  <a:srgbClr val="2D3136"/>
                </a:solidFill>
              </a:rPr>
              <a:t>• Нет надежной схемы.</a:t>
            </a:r>
          </a:p>
          <a:p>
            <a:r>
              <a:rPr lang="ru-RU" sz="1900">
                <a:solidFill>
                  <a:srgbClr val="2D3136"/>
                </a:solidFill>
              </a:rPr>
              <a:t>• Есть риск перекоса или разворота.</a:t>
            </a:r>
          </a:p>
          <a:p>
            <a:r>
              <a:rPr lang="ru-RU" sz="1900">
                <a:solidFill>
                  <a:srgbClr val="2D3136"/>
                </a:solidFill>
              </a:rPr>
              <a:t>• Оснастка неисправна.</a:t>
            </a:r>
          </a:p>
          <a:p>
            <a:r>
              <a:rPr lang="ru-RU" sz="1900">
                <a:solidFill>
                  <a:srgbClr val="2D3136"/>
                </a:solidFill>
              </a:rPr>
              <a:t>• Опасность заметили раньше, чем груз пошел в движение.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1B223EE1-7682-7A1F-7000-563A635C9D0D}"/>
              </a:ext>
            </a:extLst>
          </p:cNvPr>
          <p:cNvSpPr/>
          <p:nvPr/>
        </p:nvSpPr>
        <p:spPr>
          <a:xfrm>
            <a:off x="6364224" y="1517904"/>
            <a:ext cx="4992624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E6BB932F-CD10-E4F2-46EB-71C824361F54}"/>
              </a:ext>
            </a:extLst>
          </p:cNvPr>
          <p:cNvSpPr/>
          <p:nvPr/>
        </p:nvSpPr>
        <p:spPr>
          <a:xfrm>
            <a:off x="6510528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Опорный </a:t>
            </a:r>
            <a:r>
              <a:rPr lang="en-US" sz="1400" b="1">
                <a:solidFill>
                  <a:srgbClr val="FFFFFF"/>
                </a:solidFill>
              </a:rPr>
              <a:t>visual asset</a:t>
            </a:r>
            <a:endParaRPr lang="ru-RU" sz="1400" b="1">
              <a:solidFill>
                <a:srgbClr val="FFFFFF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5A7EDB4-076E-9509-0A99-96F1C84D4FE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267712"/>
            <a:ext cx="4443984" cy="249974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CE450EC-452F-288B-85B6-00E6CDC52AAA}"/>
              </a:ext>
            </a:extLst>
          </p:cNvPr>
          <p:cNvSpPr txBox="1"/>
          <p:nvPr/>
        </p:nvSpPr>
        <p:spPr>
          <a:xfrm>
            <a:off x="6656832" y="4932045"/>
            <a:ext cx="4407408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686E76"/>
                </a:solidFill>
              </a:rPr>
              <a:t>Подъем не продолжают на сомнительной схеме: сначала устраняют риск, потом возобновляют работу.</a:t>
            </a:r>
          </a:p>
        </p:txBody>
      </p:sp>
      <p:sp>
        <p:nvSpPr>
          <p:cNvPr id="14" name="Прямоугольник: скругленные углы 13">
            <a:hlinkClick r:id="rId3" action="ppaction://hlinksldjump"/>
            <a:extLst>
              <a:ext uri="{FF2B5EF4-FFF2-40B4-BE49-F238E27FC236}">
                <a16:creationId xmlns:a16="http://schemas.microsoft.com/office/drawing/2014/main" id="{457EB9D6-65AA-0F86-D63E-EAFADA84BF4C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4" action="ppaction://hlinksldjump"/>
            <a:extLst>
              <a:ext uri="{FF2B5EF4-FFF2-40B4-BE49-F238E27FC236}">
                <a16:creationId xmlns:a16="http://schemas.microsoft.com/office/drawing/2014/main" id="{15110BB3-AAC5-F6E5-E440-4CC36F5ACF55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514623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4D0C52D8-0E3D-87B1-93BE-C2DFCA77456A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2FD63-0EC6-E71A-5E16-B240E516B990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Типовые схемы и ошибки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CAF63-DA5E-86FC-6CDC-DFCE30FDBB95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Переход от правил к распознаванию опасных вариантов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B34686CF-3E14-4BE9-32BB-657C5203CBE3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S019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6A894C8-29D7-EF9C-EAE6-C9DDECE81C62}"/>
              </a:ext>
            </a:extLst>
          </p:cNvPr>
          <p:cNvSpPr/>
          <p:nvPr/>
        </p:nvSpPr>
        <p:spPr>
          <a:xfrm>
            <a:off x="749808" y="1627632"/>
            <a:ext cx="2505456" cy="1499616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65F5FDCF-BD4F-18D4-99FF-4B3193A45F46}"/>
              </a:ext>
            </a:extLst>
          </p:cNvPr>
          <p:cNvSpPr/>
          <p:nvPr/>
        </p:nvSpPr>
        <p:spPr>
          <a:xfrm>
            <a:off x="914400" y="1792224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A5BF77-F299-6DDA-7B58-64B7EB9F3336}"/>
              </a:ext>
            </a:extLst>
          </p:cNvPr>
          <p:cNvSpPr txBox="1"/>
          <p:nvPr/>
        </p:nvSpPr>
        <p:spPr>
          <a:xfrm>
            <a:off x="1499616" y="1792224"/>
            <a:ext cx="154533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Длинномерные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0057D-4AFF-6149-DEA9-F22D75D50368}"/>
              </a:ext>
            </a:extLst>
          </p:cNvPr>
          <p:cNvSpPr txBox="1"/>
          <p:nvPr/>
        </p:nvSpPr>
        <p:spPr>
          <a:xfrm>
            <a:off x="914400" y="2304288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Важно удержать баланс и исключить раскачивание.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6F10F1CF-E9A5-6293-3399-42D1102215E4}"/>
              </a:ext>
            </a:extLst>
          </p:cNvPr>
          <p:cNvSpPr/>
          <p:nvPr/>
        </p:nvSpPr>
        <p:spPr>
          <a:xfrm>
            <a:off x="3456432" y="1627632"/>
            <a:ext cx="2505456" cy="1499616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3D1E8511-81A6-B684-4C5F-DD829E5DE003}"/>
              </a:ext>
            </a:extLst>
          </p:cNvPr>
          <p:cNvSpPr/>
          <p:nvPr/>
        </p:nvSpPr>
        <p:spPr>
          <a:xfrm>
            <a:off x="3621024" y="1792224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3101CF-12AC-AC42-C4A3-64E0E776C3E6}"/>
              </a:ext>
            </a:extLst>
          </p:cNvPr>
          <p:cNvSpPr txBox="1"/>
          <p:nvPr/>
        </p:nvSpPr>
        <p:spPr>
          <a:xfrm>
            <a:off x="4206240" y="1792224"/>
            <a:ext cx="15453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Железобетон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45B579-1D78-0CFA-E886-6C26A5877D9C}"/>
              </a:ext>
            </a:extLst>
          </p:cNvPr>
          <p:cNvSpPr txBox="1"/>
          <p:nvPr/>
        </p:nvSpPr>
        <p:spPr>
          <a:xfrm>
            <a:off x="3621024" y="2304288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Смотрим на массу, опоры и надежность зацепки.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1BE9230-61D0-4BF3-39E2-EC5AA8BF42B6}"/>
              </a:ext>
            </a:extLst>
          </p:cNvPr>
          <p:cNvSpPr/>
          <p:nvPr/>
        </p:nvSpPr>
        <p:spPr>
          <a:xfrm>
            <a:off x="6163056" y="1627632"/>
            <a:ext cx="2505456" cy="1499616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59B515CF-3D94-BD76-C972-625623092CF8}"/>
              </a:ext>
            </a:extLst>
          </p:cNvPr>
          <p:cNvSpPr/>
          <p:nvPr/>
        </p:nvSpPr>
        <p:spPr>
          <a:xfrm>
            <a:off x="6327648" y="1792224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265961-EFD7-DA78-5122-9660315121D6}"/>
              </a:ext>
            </a:extLst>
          </p:cNvPr>
          <p:cNvSpPr txBox="1"/>
          <p:nvPr/>
        </p:nvSpPr>
        <p:spPr>
          <a:xfrm>
            <a:off x="6912864" y="1792224"/>
            <a:ext cx="1545336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Листовой металл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E3A022-31B9-5AE2-AF27-6F4DA36AE52D}"/>
              </a:ext>
            </a:extLst>
          </p:cNvPr>
          <p:cNvSpPr txBox="1"/>
          <p:nvPr/>
        </p:nvSpPr>
        <p:spPr>
          <a:xfrm>
            <a:off x="6327648" y="2304288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Особенно важны кромки и защита стропа.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7B6DA2E3-BE64-607C-A1AA-A02E5E992F7A}"/>
              </a:ext>
            </a:extLst>
          </p:cNvPr>
          <p:cNvSpPr/>
          <p:nvPr/>
        </p:nvSpPr>
        <p:spPr>
          <a:xfrm>
            <a:off x="8869680" y="1627632"/>
            <a:ext cx="2322576" cy="1499616"/>
          </a:xfrm>
          <a:prstGeom prst="roundRect">
            <a:avLst/>
          </a:prstGeom>
          <a:solidFill>
            <a:srgbClr val="FFFBF6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E8E3C044-7196-AF02-9370-77A3DEB0BFB6}"/>
              </a:ext>
            </a:extLst>
          </p:cNvPr>
          <p:cNvSpPr/>
          <p:nvPr/>
        </p:nvSpPr>
        <p:spPr>
          <a:xfrm>
            <a:off x="9034272" y="1792224"/>
            <a:ext cx="438912" cy="438912"/>
          </a:xfrm>
          <a:prstGeom prst="ellipse">
            <a:avLst/>
          </a:prstGeom>
          <a:solidFill>
            <a:srgbClr val="CF8D3E"/>
          </a:solidFill>
          <a:ln>
            <a:solidFill>
              <a:srgbClr val="CF8D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8F305F-D725-F818-77BC-D53BC744F076}"/>
              </a:ext>
            </a:extLst>
          </p:cNvPr>
          <p:cNvSpPr txBox="1"/>
          <p:nvPr/>
        </p:nvSpPr>
        <p:spPr>
          <a:xfrm>
            <a:off x="9619488" y="1792224"/>
            <a:ext cx="1362456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CF8D3E"/>
                </a:solidFill>
              </a:rPr>
              <a:t>Трубы и оборудование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96FFED-0CD2-C4B1-C41C-537AC759B655}"/>
              </a:ext>
            </a:extLst>
          </p:cNvPr>
          <p:cNvSpPr txBox="1"/>
          <p:nvPr/>
        </p:nvSpPr>
        <p:spPr>
          <a:xfrm>
            <a:off x="9034272" y="2304288"/>
            <a:ext cx="1993392" cy="6924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Нужна проверенная схема и контроль устойчивости.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A8EC1615-2708-BFC9-E49D-537ACE9D246B}"/>
              </a:ext>
            </a:extLst>
          </p:cNvPr>
          <p:cNvSpPr/>
          <p:nvPr/>
        </p:nvSpPr>
        <p:spPr>
          <a:xfrm>
            <a:off x="749808" y="3694176"/>
            <a:ext cx="10442448" cy="1719072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5B08256E-9507-232E-88B8-79C26F290666}"/>
              </a:ext>
            </a:extLst>
          </p:cNvPr>
          <p:cNvSpPr/>
          <p:nvPr/>
        </p:nvSpPr>
        <p:spPr>
          <a:xfrm>
            <a:off x="896112" y="3840480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должен сделать этот экран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E20877-542E-798E-A1CD-31C79F2E6F9F}"/>
              </a:ext>
            </a:extLst>
          </p:cNvPr>
          <p:cNvSpPr txBox="1"/>
          <p:nvPr/>
        </p:nvSpPr>
        <p:spPr>
          <a:xfrm>
            <a:off x="1097280" y="4462272"/>
            <a:ext cx="9802368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Связать правила темы с реальными примерами схем.</a:t>
            </a:r>
          </a:p>
          <a:p>
            <a:r>
              <a:rPr lang="ru-RU" sz="1900">
                <a:solidFill>
                  <a:srgbClr val="2D3136"/>
                </a:solidFill>
              </a:rPr>
              <a:t>• Подвести слушателя к проверке понимания: где ошибка и почему она опасна.</a:t>
            </a:r>
          </a:p>
          <a:p>
            <a:r>
              <a:rPr lang="ru-RU" sz="1900">
                <a:solidFill>
                  <a:srgbClr val="2D3136"/>
                </a:solidFill>
              </a:rPr>
              <a:t>• Сделать мост к тесту S020.</a:t>
            </a:r>
          </a:p>
        </p:txBody>
      </p:sp>
      <p:sp>
        <p:nvSpPr>
          <p:cNvPr id="25" name="Прямоугольник: скругленные углы 24">
            <a:hlinkClick r:id="rId2" action="ppaction://hlinksldjump"/>
            <a:extLst>
              <a:ext uri="{FF2B5EF4-FFF2-40B4-BE49-F238E27FC236}">
                <a16:creationId xmlns:a16="http://schemas.microsoft.com/office/drawing/2014/main" id="{F350F738-7B3C-C9F6-1CB9-575CC3210089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26" name="Прямоугольник: скругленные углы 25">
            <a:hlinkClick r:id="rId3" action="ppaction://hlinksldjump"/>
            <a:extLst>
              <a:ext uri="{FF2B5EF4-FFF2-40B4-BE49-F238E27FC236}">
                <a16:creationId xmlns:a16="http://schemas.microsoft.com/office/drawing/2014/main" id="{D29B566E-ED53-CE61-4301-2E5B9B59ED6F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11582580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E6E32865-98D6-920A-C1F4-FB865C9FA2F8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0F67A9-E0C8-D65C-1A69-3300E68E6098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Промежуточный тест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64C4D0-70E9-0472-3A01-BB3567541E4C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Проверка по теме 2.1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511F645-0AA6-E0E3-AE42-C1ED0B31C956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S020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0CA463D-3ADA-A7D8-F21B-F6C359561A42}"/>
              </a:ext>
            </a:extLst>
          </p:cNvPr>
          <p:cNvSpPr/>
          <p:nvPr/>
        </p:nvSpPr>
        <p:spPr>
          <a:xfrm>
            <a:off x="749808" y="1517904"/>
            <a:ext cx="5266944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B5B8F35E-AD9E-54F3-DD40-7FC84180BCDB}"/>
              </a:ext>
            </a:extLst>
          </p:cNvPr>
          <p:cNvSpPr/>
          <p:nvPr/>
        </p:nvSpPr>
        <p:spPr>
          <a:xfrm>
            <a:off x="896112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Что проверяем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CD82E-88B9-CB1E-29B6-5169A0574F74}"/>
              </a:ext>
            </a:extLst>
          </p:cNvPr>
          <p:cNvSpPr txBox="1"/>
          <p:nvPr/>
        </p:nvSpPr>
        <p:spPr>
          <a:xfrm>
            <a:off x="1097280" y="2286000"/>
            <a:ext cx="4626864" cy="243143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Какой груз перед нами и что важно о нем знать.</a:t>
            </a:r>
          </a:p>
          <a:p>
            <a:r>
              <a:rPr lang="ru-RU" sz="1900">
                <a:solidFill>
                  <a:srgbClr val="2D3136"/>
                </a:solidFill>
              </a:rPr>
              <a:t>• Какой строп или приспособление подходит под задачу.</a:t>
            </a:r>
          </a:p>
          <a:p>
            <a:r>
              <a:rPr lang="ru-RU" sz="1900">
                <a:solidFill>
                  <a:srgbClr val="2D3136"/>
                </a:solidFill>
              </a:rPr>
              <a:t>• Какая схема опасна и когда работу нужно остановить.</a:t>
            </a:r>
          </a:p>
          <a:p>
            <a:r>
              <a:rPr lang="ru-RU" sz="1900">
                <a:solidFill>
                  <a:srgbClr val="2D3136"/>
                </a:solidFill>
              </a:rPr>
              <a:t>• Насколько уверенно слушатель распознает типовые ошибки.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AD790622-1A8B-75FC-6760-8A55A6AC4CD6}"/>
              </a:ext>
            </a:extLst>
          </p:cNvPr>
          <p:cNvSpPr/>
          <p:nvPr/>
        </p:nvSpPr>
        <p:spPr>
          <a:xfrm>
            <a:off x="6364224" y="1517904"/>
            <a:ext cx="4956048" cy="4389120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5B39AF8-ED56-65B4-7F73-E68E86C86001}"/>
              </a:ext>
            </a:extLst>
          </p:cNvPr>
          <p:cNvSpPr/>
          <p:nvPr/>
        </p:nvSpPr>
        <p:spPr>
          <a:xfrm>
            <a:off x="6510528" y="1664208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Экран входа в тест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FE1945-7C05-45C9-0607-5CC8B21570FF}"/>
              </a:ext>
            </a:extLst>
          </p:cNvPr>
          <p:cNvSpPr txBox="1"/>
          <p:nvPr/>
        </p:nvSpPr>
        <p:spPr>
          <a:xfrm>
            <a:off x="6675120" y="2048256"/>
            <a:ext cx="4315968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000" b="1">
                <a:solidFill>
                  <a:srgbClr val="2D3136"/>
                </a:solidFill>
              </a:rPr>
              <a:t>Категории вопросов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DFFD2D-D88A-8FBF-245A-A55F4B792617}"/>
              </a:ext>
            </a:extLst>
          </p:cNvPr>
          <p:cNvSpPr txBox="1"/>
          <p:nvPr/>
        </p:nvSpPr>
        <p:spPr>
          <a:xfrm>
            <a:off x="6675120" y="2578608"/>
            <a:ext cx="4261104" cy="14773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>
                <a:solidFill>
                  <a:srgbClr val="2D3136"/>
                </a:solidFill>
              </a:rPr>
              <a:t>• проверка груза</a:t>
            </a:r>
          </a:p>
          <a:p>
            <a:r>
              <a:rPr lang="ru-RU">
                <a:solidFill>
                  <a:srgbClr val="2D3136"/>
                </a:solidFill>
              </a:rPr>
              <a:t>• неизвестная масса</a:t>
            </a:r>
          </a:p>
          <a:p>
            <a:r>
              <a:rPr lang="ru-RU">
                <a:solidFill>
                  <a:srgbClr val="2D3136"/>
                </a:solidFill>
              </a:rPr>
              <a:t>• центр тяжести</a:t>
            </a:r>
          </a:p>
          <a:p>
            <a:r>
              <a:rPr lang="ru-RU">
                <a:solidFill>
                  <a:srgbClr val="2D3136"/>
                </a:solidFill>
              </a:rPr>
              <a:t>• угол между ветвями</a:t>
            </a:r>
          </a:p>
          <a:p>
            <a:r>
              <a:rPr lang="ru-RU">
                <a:solidFill>
                  <a:srgbClr val="2D3136"/>
                </a:solidFill>
              </a:rPr>
              <a:t>• оснастка, схема и решение стоп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373BFE-384E-220B-3373-A088C1828CA0}"/>
              </a:ext>
            </a:extLst>
          </p:cNvPr>
          <p:cNvSpPr txBox="1"/>
          <p:nvPr/>
        </p:nvSpPr>
        <p:spPr>
          <a:xfrm>
            <a:off x="6675120" y="4882896"/>
            <a:ext cx="4315968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686E76"/>
                </a:solidFill>
              </a:rPr>
              <a:t>В этой итерации собираем линейный вход в тест.</a:t>
            </a:r>
          </a:p>
          <a:p>
            <a:r>
              <a:rPr lang="ru-RU" sz="1200">
                <a:solidFill>
                  <a:srgbClr val="686E76"/>
                </a:solidFill>
              </a:rPr>
              <a:t>Разборы ошибок добавим следующим слоем по мере сборки.</a:t>
            </a:r>
          </a:p>
        </p:txBody>
      </p:sp>
      <p:sp>
        <p:nvSpPr>
          <p:cNvPr id="14" name="Прямоугольник: скругленные углы 13">
            <a:hlinkClick r:id="rId2" action="ppaction://hlinksldjump"/>
            <a:extLst>
              <a:ext uri="{FF2B5EF4-FFF2-40B4-BE49-F238E27FC236}">
                <a16:creationId xmlns:a16="http://schemas.microsoft.com/office/drawing/2014/main" id="{432315F9-49F8-704A-D4FE-3E7F2BECCF7A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  <p:sp>
        <p:nvSpPr>
          <p:cNvPr id="15" name="Прямоугольник: скругленные углы 14">
            <a:hlinkClick r:id="rId3" action="ppaction://hlinksldjump"/>
            <a:extLst>
              <a:ext uri="{FF2B5EF4-FFF2-40B4-BE49-F238E27FC236}">
                <a16:creationId xmlns:a16="http://schemas.microsoft.com/office/drawing/2014/main" id="{2318F80F-FCE8-57BC-F7E0-5844F86C31DE}"/>
              </a:ext>
            </a:extLst>
          </p:cNvPr>
          <p:cNvSpPr/>
          <p:nvPr/>
        </p:nvSpPr>
        <p:spPr>
          <a:xfrm>
            <a:off x="9418320" y="6053328"/>
            <a:ext cx="2084832" cy="457200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Далее</a:t>
            </a:r>
          </a:p>
        </p:txBody>
      </p:sp>
    </p:spTree>
    <p:extLst>
      <p:ext uri="{BB962C8B-B14F-4D97-AF65-F5344CB8AC3E}">
        <p14:creationId xmlns:p14="http://schemas.microsoft.com/office/powerpoint/2010/main" val="38412076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63BE3862-59A0-3D66-28EC-FBD5217213E0}"/>
              </a:ext>
            </a:extLst>
          </p:cNvPr>
          <p:cNvSpPr/>
          <p:nvPr/>
        </p:nvSpPr>
        <p:spPr>
          <a:xfrm>
            <a:off x="411480" y="384048"/>
            <a:ext cx="11082528" cy="804672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A6608B-E37D-8673-2052-A19C2724CCF1}"/>
              </a:ext>
            </a:extLst>
          </p:cNvPr>
          <p:cNvSpPr txBox="1"/>
          <p:nvPr/>
        </p:nvSpPr>
        <p:spPr>
          <a:xfrm>
            <a:off x="2331720" y="512064"/>
            <a:ext cx="6720840" cy="5078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2700" b="1">
                <a:solidFill>
                  <a:srgbClr val="FFFFFF"/>
                </a:solidFill>
              </a:rPr>
              <a:t>Финальный вывод по подтеме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56A09F-30CF-3CE8-F24B-8E2C5DD35FA0}"/>
              </a:ext>
            </a:extLst>
          </p:cNvPr>
          <p:cNvSpPr txBox="1"/>
          <p:nvPr/>
        </p:nvSpPr>
        <p:spPr>
          <a:xfrm>
            <a:off x="2340864" y="896112"/>
            <a:ext cx="653796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200">
                <a:solidFill>
                  <a:srgbClr val="FFFFFF"/>
                </a:solidFill>
              </a:rPr>
              <a:t>Короткая рабочая последовательность перед подъемом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25AABADC-B0B2-0066-D5B3-2ECA9DCBD581}"/>
              </a:ext>
            </a:extLst>
          </p:cNvPr>
          <p:cNvSpPr/>
          <p:nvPr/>
        </p:nvSpPr>
        <p:spPr>
          <a:xfrm>
            <a:off x="621792" y="548640"/>
            <a:ext cx="1627632" cy="438912"/>
          </a:xfrm>
          <a:prstGeom prst="roundRect">
            <a:avLst/>
          </a:prstGeom>
          <a:solidFill>
            <a:srgbClr val="FFFBF6"/>
          </a:solidFill>
          <a:ln>
            <a:solidFill>
              <a:srgbClr val="FFFB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9C671F"/>
                </a:solidFill>
              </a:rPr>
              <a:t>S021</a:t>
            </a:r>
            <a:endParaRPr lang="ru-RU" b="1">
              <a:solidFill>
                <a:srgbClr val="9C671F"/>
              </a:solidFill>
            </a:endParaRP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BA287BE-AD9A-C745-3C78-D5C4B841FBAD}"/>
              </a:ext>
            </a:extLst>
          </p:cNvPr>
          <p:cNvSpPr/>
          <p:nvPr/>
        </p:nvSpPr>
        <p:spPr>
          <a:xfrm>
            <a:off x="749808" y="1755648"/>
            <a:ext cx="2505456" cy="1554480"/>
          </a:xfrm>
          <a:prstGeom prst="roundRect">
            <a:avLst/>
          </a:prstGeom>
          <a:solidFill>
            <a:srgbClr val="FFFBF6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799A338E-F6ED-0B8B-286C-2C1814B30B77}"/>
              </a:ext>
            </a:extLst>
          </p:cNvPr>
          <p:cNvSpPr/>
          <p:nvPr/>
        </p:nvSpPr>
        <p:spPr>
          <a:xfrm>
            <a:off x="914400" y="1920240"/>
            <a:ext cx="438912" cy="438912"/>
          </a:xfrm>
          <a:prstGeom prst="ellipse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E91D8C-2EFE-F7BA-3A74-A86D8281B572}"/>
              </a:ext>
            </a:extLst>
          </p:cNvPr>
          <p:cNvSpPr txBox="1"/>
          <p:nvPr/>
        </p:nvSpPr>
        <p:spPr>
          <a:xfrm>
            <a:off x="1499616" y="1920240"/>
            <a:ext cx="15453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9C671F"/>
                </a:solidFill>
              </a:rPr>
              <a:t>Оцени груз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E2A697-2796-E71D-2741-45DB86CF25D9}"/>
              </a:ext>
            </a:extLst>
          </p:cNvPr>
          <p:cNvSpPr txBox="1"/>
          <p:nvPr/>
        </p:nvSpPr>
        <p:spPr>
          <a:xfrm>
            <a:off x="914400" y="2432304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Масса, габариты, центр тяжести и маркировка.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F0ADF649-37C6-D07A-96D3-86DA09C434F8}"/>
              </a:ext>
            </a:extLst>
          </p:cNvPr>
          <p:cNvSpPr/>
          <p:nvPr/>
        </p:nvSpPr>
        <p:spPr>
          <a:xfrm>
            <a:off x="3456432" y="1755648"/>
            <a:ext cx="2505456" cy="1554480"/>
          </a:xfrm>
          <a:prstGeom prst="roundRect">
            <a:avLst/>
          </a:prstGeom>
          <a:solidFill>
            <a:srgbClr val="FFFBF6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C1DD4B3C-D85C-DCBD-68FE-C0154DEC8A2D}"/>
              </a:ext>
            </a:extLst>
          </p:cNvPr>
          <p:cNvSpPr/>
          <p:nvPr/>
        </p:nvSpPr>
        <p:spPr>
          <a:xfrm>
            <a:off x="3621024" y="1920240"/>
            <a:ext cx="438912" cy="438912"/>
          </a:xfrm>
          <a:prstGeom prst="ellipse">
            <a:avLst/>
          </a:prstGeom>
          <a:solidFill>
            <a:srgbClr val="48749D"/>
          </a:solidFill>
          <a:ln>
            <a:solidFill>
              <a:srgbClr val="4874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169615-EB5D-6283-6EB9-19D19649ECE5}"/>
              </a:ext>
            </a:extLst>
          </p:cNvPr>
          <p:cNvSpPr txBox="1"/>
          <p:nvPr/>
        </p:nvSpPr>
        <p:spPr>
          <a:xfrm>
            <a:off x="4206240" y="1920240"/>
            <a:ext cx="15453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48749D"/>
                </a:solidFill>
              </a:rPr>
              <a:t>Выбери строп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C8F9EB-AD3C-5C56-BAF3-6E6F0269F31A}"/>
              </a:ext>
            </a:extLst>
          </p:cNvPr>
          <p:cNvSpPr txBox="1"/>
          <p:nvPr/>
        </p:nvSpPr>
        <p:spPr>
          <a:xfrm>
            <a:off x="3621024" y="2432304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Средство и схему под конкретную задачу.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D67FB85A-A34D-2049-FEDA-F404DB1A95E8}"/>
              </a:ext>
            </a:extLst>
          </p:cNvPr>
          <p:cNvSpPr/>
          <p:nvPr/>
        </p:nvSpPr>
        <p:spPr>
          <a:xfrm>
            <a:off x="6163056" y="1755648"/>
            <a:ext cx="2505456" cy="1554480"/>
          </a:xfrm>
          <a:prstGeom prst="roundRect">
            <a:avLst/>
          </a:prstGeom>
          <a:solidFill>
            <a:srgbClr val="FFFBF6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0EBD3B42-A0AE-19A4-840F-F42EB5F90215}"/>
              </a:ext>
            </a:extLst>
          </p:cNvPr>
          <p:cNvSpPr/>
          <p:nvPr/>
        </p:nvSpPr>
        <p:spPr>
          <a:xfrm>
            <a:off x="6327648" y="1920240"/>
            <a:ext cx="438912" cy="438912"/>
          </a:xfrm>
          <a:prstGeom prst="ellipse">
            <a:avLst/>
          </a:prstGeom>
          <a:solidFill>
            <a:srgbClr val="2A8F52"/>
          </a:solidFill>
          <a:ln>
            <a:solidFill>
              <a:srgbClr val="2A8F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AE239A-FDC8-FB6F-FF80-FD731744F06F}"/>
              </a:ext>
            </a:extLst>
          </p:cNvPr>
          <p:cNvSpPr txBox="1"/>
          <p:nvPr/>
        </p:nvSpPr>
        <p:spPr>
          <a:xfrm>
            <a:off x="6912864" y="1920240"/>
            <a:ext cx="154533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2A8F52"/>
                </a:solidFill>
              </a:rPr>
              <a:t>Проверь схему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AD064E-D414-86A2-0302-46EC80CF6D9D}"/>
              </a:ext>
            </a:extLst>
          </p:cNvPr>
          <p:cNvSpPr txBox="1"/>
          <p:nvPr/>
        </p:nvSpPr>
        <p:spPr>
          <a:xfrm>
            <a:off x="6327648" y="2432304"/>
            <a:ext cx="217627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До сигнала, а не после пробного подъема.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A9450F61-9F8B-9259-3F38-6D4C0FFAF547}"/>
              </a:ext>
            </a:extLst>
          </p:cNvPr>
          <p:cNvSpPr/>
          <p:nvPr/>
        </p:nvSpPr>
        <p:spPr>
          <a:xfrm>
            <a:off x="8869680" y="1755648"/>
            <a:ext cx="2322576" cy="1554480"/>
          </a:xfrm>
          <a:prstGeom prst="roundRect">
            <a:avLst/>
          </a:prstGeom>
          <a:solidFill>
            <a:srgbClr val="FFFBF6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FF53D454-8EEE-3298-FB97-369AFBC2FC4E}"/>
              </a:ext>
            </a:extLst>
          </p:cNvPr>
          <p:cNvSpPr/>
          <p:nvPr/>
        </p:nvSpPr>
        <p:spPr>
          <a:xfrm>
            <a:off x="9034272" y="1920240"/>
            <a:ext cx="438912" cy="438912"/>
          </a:xfrm>
          <a:prstGeom prst="ellipse">
            <a:avLst/>
          </a:prstGeom>
          <a:solidFill>
            <a:srgbClr val="D44A3E"/>
          </a:solidFill>
          <a:ln>
            <a:solidFill>
              <a:srgbClr val="D44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159A6A-F07C-65BC-24C9-F1C9D57EF196}"/>
              </a:ext>
            </a:extLst>
          </p:cNvPr>
          <p:cNvSpPr txBox="1"/>
          <p:nvPr/>
        </p:nvSpPr>
        <p:spPr>
          <a:xfrm>
            <a:off x="9619488" y="1920240"/>
            <a:ext cx="1362456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600" b="1">
                <a:solidFill>
                  <a:srgbClr val="D44A3E"/>
                </a:solidFill>
              </a:rPr>
              <a:t>Не рискуй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58BD67-9065-CA3D-75D3-90E0B1096E79}"/>
              </a:ext>
            </a:extLst>
          </p:cNvPr>
          <p:cNvSpPr txBox="1"/>
          <p:nvPr/>
        </p:nvSpPr>
        <p:spPr>
          <a:xfrm>
            <a:off x="9034272" y="2432304"/>
            <a:ext cx="1993392" cy="4924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300">
                <a:solidFill>
                  <a:srgbClr val="2D3136"/>
                </a:solidFill>
              </a:rPr>
              <a:t>При сомнении останавливай работу.</a:t>
            </a:r>
          </a:p>
        </p:txBody>
      </p:sp>
      <p:sp>
        <p:nvSpPr>
          <p:cNvPr id="22" name="Прямоугольник: скругленные углы 21">
            <a:extLst>
              <a:ext uri="{FF2B5EF4-FFF2-40B4-BE49-F238E27FC236}">
                <a16:creationId xmlns:a16="http://schemas.microsoft.com/office/drawing/2014/main" id="{B8BC134C-246C-D3AF-AEC1-725CF6409B63}"/>
              </a:ext>
            </a:extLst>
          </p:cNvPr>
          <p:cNvSpPr/>
          <p:nvPr/>
        </p:nvSpPr>
        <p:spPr>
          <a:xfrm>
            <a:off x="749808" y="3822192"/>
            <a:ext cx="10442448" cy="1591056"/>
          </a:xfrm>
          <a:prstGeom prst="roundRect">
            <a:avLst/>
          </a:prstGeom>
          <a:solidFill>
            <a:srgbClr val="FFFBF6"/>
          </a:solidFill>
          <a:ln>
            <a:solidFill>
              <a:srgbClr val="DCCF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FACA8E90-96E2-9CD4-EDA5-4FF218B93F35}"/>
              </a:ext>
            </a:extLst>
          </p:cNvPr>
          <p:cNvSpPr/>
          <p:nvPr/>
        </p:nvSpPr>
        <p:spPr>
          <a:xfrm>
            <a:off x="896112" y="3968496"/>
            <a:ext cx="2157984" cy="384048"/>
          </a:xfrm>
          <a:prstGeom prst="roundRect">
            <a:avLst/>
          </a:prstGeom>
          <a:solidFill>
            <a:srgbClr val="9C671F"/>
          </a:solidFill>
          <a:ln>
            <a:solidFill>
              <a:srgbClr val="9C67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b="1">
                <a:solidFill>
                  <a:srgbClr val="FFFFFF"/>
                </a:solidFill>
              </a:rPr>
              <a:t>Итоговый тезис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A3EA33-DB31-FD91-9019-040543A38C11}"/>
              </a:ext>
            </a:extLst>
          </p:cNvPr>
          <p:cNvSpPr txBox="1"/>
          <p:nvPr/>
        </p:nvSpPr>
        <p:spPr>
          <a:xfrm>
            <a:off x="1097280" y="4590288"/>
            <a:ext cx="9802368" cy="96949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ru-RU" sz="1900">
                <a:solidFill>
                  <a:srgbClr val="2D3136"/>
                </a:solidFill>
              </a:rPr>
              <a:t>• Безопасная строповка - это не отдельный прием, а последовательность решений до подъема.</a:t>
            </a:r>
          </a:p>
          <a:p>
            <a:r>
              <a:rPr lang="ru-RU" sz="1900">
                <a:solidFill>
                  <a:srgbClr val="2D3136"/>
                </a:solidFill>
              </a:rPr>
              <a:t>• Сомнение в схеме или данных о грузе - достаточная причина не продолжать работу.</a:t>
            </a:r>
          </a:p>
        </p:txBody>
      </p:sp>
      <p:sp>
        <p:nvSpPr>
          <p:cNvPr id="25" name="Прямоугольник: скругленные углы 24">
            <a:hlinkClick r:id="rId2" action="ppaction://hlinksldjump"/>
            <a:extLst>
              <a:ext uri="{FF2B5EF4-FFF2-40B4-BE49-F238E27FC236}">
                <a16:creationId xmlns:a16="http://schemas.microsoft.com/office/drawing/2014/main" id="{BA66EFEF-7E82-620C-7F86-2EE3BDA58EDD}"/>
              </a:ext>
            </a:extLst>
          </p:cNvPr>
          <p:cNvSpPr/>
          <p:nvPr/>
        </p:nvSpPr>
        <p:spPr>
          <a:xfrm>
            <a:off x="640080" y="6053328"/>
            <a:ext cx="2084832" cy="457200"/>
          </a:xfrm>
          <a:prstGeom prst="roundRect">
            <a:avLst/>
          </a:prstGeom>
          <a:solidFill>
            <a:srgbClr val="607188"/>
          </a:solidFill>
          <a:ln>
            <a:solidFill>
              <a:srgbClr val="6071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b="1">
                <a:solidFill>
                  <a:srgbClr val="FFFFFF"/>
                </a:solidFill>
              </a:rPr>
              <a:t>Назад</a:t>
            </a:r>
          </a:p>
        </p:txBody>
      </p:sp>
    </p:spTree>
    <p:extLst>
      <p:ext uri="{BB962C8B-B14F-4D97-AF65-F5344CB8AC3E}">
        <p14:creationId xmlns:p14="http://schemas.microsoft.com/office/powerpoint/2010/main" val="336512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2808</Words>
  <Application>Microsoft Office PowerPoint</Application>
  <PresentationFormat>Широкоэкранный</PresentationFormat>
  <Paragraphs>575</Paragraphs>
  <Slides>36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Дмитрий</cp:lastModifiedBy>
  <cp:revision>6</cp:revision>
  <dcterms:created xsi:type="dcterms:W3CDTF">2013-01-27T09:14:16Z</dcterms:created>
  <dcterms:modified xsi:type="dcterms:W3CDTF">2026-06-25T06:56:04Z</dcterms:modified>
  <cp:category/>
</cp:coreProperties>
</file>