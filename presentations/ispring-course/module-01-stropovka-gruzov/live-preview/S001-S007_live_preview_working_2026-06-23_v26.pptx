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67" r:id="rId16"/>
    <p:sldId id="268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-600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1.xml"/><Relationship Id="rId5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2.xml"/><Relationship Id="rId7" Type="http://schemas.openxmlformats.org/officeDocument/2006/relationships/slide" Target="slide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5.xml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Relationship Id="rId3" Type="http://schemas.openxmlformats.org/officeDocument/2006/relationships/slide" Target="slide13.xml"/><Relationship Id="rId4" Type="http://schemas.openxmlformats.org/officeDocument/2006/relationships/slide" Target="slide14.xml"/><Relationship Id="rId5" Type="http://schemas.openxmlformats.org/officeDocument/2006/relationships/slide" Target="slide15.xml"/><Relationship Id="rId6" Type="http://schemas.openxmlformats.org/officeDocument/2006/relationships/slide" Target="slide16.xml"/><Relationship Id="rId7" Type="http://schemas.openxmlformats.org/officeDocument/2006/relationships/slide" Target="slide10.xml"/><Relationship Id="rId8" Type="http://schemas.openxmlformats.org/officeDocument/2006/relationships/slide" Target="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slide" Target="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Титульный экран курса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S001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594360" y="1051560"/>
            <ns1:ext cx="5943600" cy="5029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3000" b="1">
                <ns1:solidFill>
                  <ns1:srgbClr val="212B36"/>
                </ns1:solidFill>
              </ns1:rPr>
              <ns1:t>ЭВ Стропальщик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612648" y="1783080"/>
            <ns1:ext cx="411480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800" b="1">
                <ns1:solidFill>
                  <ns1:srgbClr val="265A89"/>
                </ns1:solidFill>
              </ns1:rPr>
              <ns1:t>Стропальщик 2-4 разряда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12648" y="2084831"/>
            <ns1:ext cx="411480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800" b="1">
                <ns1:solidFill>
                  <ns1:srgbClr val="DE7436"/>
                </ns1:solidFill>
              </ns1:rPr>
              <ns1:t>Стропальщик 5-6 разряда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612648" y="2606040"/>
            <ns1:ext cx="5669280" cy="384048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000" b="1">
                <ns1:solidFill>
                  <ns1:srgbClr val="212B36"/>
                </ns1:solidFill>
              </ns1:rPr>
              <ns1:t>Практический курс по безопасной работе с грузами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612648" y="3218688"/>
            <ns1:ext cx="5669280" cy="987552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>
            <ns1:solidFill>
              <ns1:srgbClr val="D2DAE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700">
                <ns1:solidFill>
                  <ns1:srgbClr val="212B36"/>
                </ns1:solidFill>
              </ns1:rPr>
              <ns1:t>Базовая часть курса - для 2-4 разряда. Для 5-6 разряда открывайте дополнительные блоки.</ns1:t>
            </ns1:r>
          </ns1:p>
        </ns0:txBody>
      </ns0:sp>
      <ns0:sp>
        <ns0:nvSpPr>
          <ns0:cNvPr id="10" name="Rectangle 9"/>
          <ns0:cNvSpPr/>
          <ns0:nvPr/>
        </ns0:nvSpPr>
        <ns0:spPr>
          <ns1:xfrm>
            <ns1:off x="7223760" y="658368"/>
            <ns1:ext cx="4965192" cy="6199632"/>
          </ns1:xfrm>
          <ns1:prstGeom prst="rect">
            <ns1:avLst/>
          </ns1:prstGeom>
          <ns1:solidFill>
            <ns1:srgbClr val="537795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635240" y="1097280"/>
            <ns1:ext cx="393192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Живая demo-сборка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7589520" y="1645920"/>
            <ns1:ext cx="4069080" cy="2468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800" b="0">
                <ns1:solidFill>
                  <ns1:srgbClr val="FFFFFF"/>
                </ns1:solidFill>
              </ns1:rPr>
              <ns1:t>Сейчас можно посмотреть:
• S001 титул
• S002 экран выбора
• S002-P01 видеоинструкция
• S002-P02 словарь терминов</ns1:t>
            </ns1:r>
          </ns1:p>
        </ns0:txBody>
      </ns0:sp>
      <ns0:sp>
        <ns0:nvSpPr>
          <ns0:cNvPr id="13" name="Rounded Rectangle 12">
            <ns1:hlinkClick ns2:id="rId2" action="ppaction://hlinksldjump"/>
          </ns0:cNvPr>
          <ns0:cNvSpPr/>
          <ns0:nvPr/>
        </ns0:nvSpPr>
        <ns0:spPr>
          <ns1:xfrm>
            <ns1:off x="612648" y="4709160"/>
            <ns1:ext cx="2377440" cy="566928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НАЧАТЬ КУРС</ns1:t>
            </ns1:r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Видеоинструкция по курсу и глосарий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S002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вводный экран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594360" y="914400"/>
            <ns1:ext cx="411480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000" b="1">
                <ns1:solidFill>
                  <ns1:srgbClr val="212B36"/>
                </ns1:solidFill>
              </ns1:rPr>
              <ns1:t>Выберите, что открыть:</ns1:t>
            </ns1:r>
          </ns1:p>
        </ns0:txBody>
      </ns0:sp>
      <ns0:sp>
        <ns0:nvSpPr>
          <ns0:cNvPr id="7" name="Rounded Rectangle 6">
            <ns1:hlinkClick ns2:id="rId2" action="ppaction://hlinksldjump"/>
          </ns0:cNvPr>
          <ns0:cNvSpPr/>
          <ns0:nvPr/>
        </ns0:nvSpPr>
        <ns0:spPr>
          <ns1:xfrm>
            <ns1:off x="640080" y="1508760"/>
            <ns1:ext cx="5212080" cy="356616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8" name="Rounded Rectangle 7"/>
          <ns0:cNvSpPr/>
          <ns0:nvPr/>
        </ns0:nvSpPr>
        <ns0:spPr>
          <ns1:xfrm>
            <ns1:off x="640080" y="1508760"/>
            <ns1:ext cx="521208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Видеоинструкция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896112" y="2423160"/>
            <ns1:ext cx="4700016" cy="2468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Это навигация по курсу.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Откройте и ознакомьтесь.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Переход в подвал S002-P01.</ns1:t>
            </ns1:r>
          </ns1:p>
        </ns0:txBody>
      </ns0:sp>
      <ns0:sp>
        <ns0:nvSpPr>
          <ns0:cNvPr id="10" name="Rounded Rectangle 9">
            <ns1:hlinkClick ns2:id="rId3" action="ppaction://hlinksldjump"/>
          </ns0:cNvPr>
          <ns0:cNvSpPr/>
          <ns0:nvPr/>
        </ns0:nvSpPr>
        <ns0:spPr>
          <ns1:xfrm>
            <ns1:off x="6309360" y="1508760"/>
            <ns1:ext cx="5212080" cy="356616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309360" y="1508760"/>
            <ns1:ext cx="5212080" cy="65836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Словарь терминов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6565392" y="2423160"/>
            <ns1:ext cx="4700016" cy="2468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Откройте и прочтите.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Термины вынесены в отдельный подвал.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Переход в подвал S002-P02.</ns1:t>
            </ns1:r>
          </ns1:p>
        </ns0:txBody>
      </ns0:sp>
      <ns0:sp>
        <ns0:nvSpPr>
          <ns0:cNvPr id="13" name="Rounded Rectangle 12">
            <ns1:hlinkClick ns2:id="rId2" action="ppaction://hlinksldjump"/>
          </ns0:cNvPr>
          <ns0:cNvSpPr/>
          <ns0:nvPr/>
        </ns0:nvSpPr>
        <ns0:spPr>
          <ns1:xfrm>
            <ns1:off x="1600200" y="4572000"/>
            <ns1:ext cx="3246120" cy="56692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ОТКРЫТЬ S002-P01</ns1:t>
            </ns1:r>
          </ns1:p>
        </ns0:txBody>
      </ns0:sp>
      <ns0:sp>
        <ns0:nvSpPr>
          <ns0:cNvPr id="14" name="Rounded Rectangle 13">
            <ns1:hlinkClick ns2:id="rId3" action="ppaction://hlinksldjump"/>
          </ns0:cNvPr>
          <ns0:cNvSpPr/>
          <ns0:nvPr/>
        </ns0:nvSpPr>
        <ns0:spPr>
          <ns1:xfrm>
            <ns1:off x="7269480" y="4572000"/>
            <ns1:ext cx="3246120" cy="56692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ОТКРЫТЬ S002-P02</ns1:t>
            </ns1:r>
          </ns1:p>
        </ns0:txBody>
      </ns0:sp>
      <ns0:sp>
        <ns0:nvSpPr>
          <ns0:cNvPr id="15" name="Rounded Rectangle 14">
            <ns1:hlinkClick ns2:id="rId4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16" name="Rounded Rectangle 15">
            <ns1:hlinkClick ns2:id="rId5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Видеоинструкция по курсу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S002-P01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S002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40080" y="1143000"/>
            <ns1:ext cx="4389120" cy="3520440"/>
          </ns1:xfrm>
          <ns1:prstGeom prst="roundRect">
            <ns1:avLst>
              <ns1:gd name="adj" fmla="val 3050"/>
            </ns1:avLst>
          </ns1:prstGeom>
          <ns1:solidFill>
            <ns1:srgbClr val="E0E8EF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960120" y="1444752"/>
            <ns1:ext cx="3749039" cy="4114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2400" b="1">
                <ns1:solidFill>
                  <ns1:srgbClr val="122B42"/>
                </ns1:solidFill>
              </ns1:rPr>
              <ns1:t>Здесь будет видеоролик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868680" y="2148840"/>
            <ns1:ext cx="3886200" cy="10058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700" b="0">
                <ns1:solidFill>
                  <ns1:srgbClr val="212B36"/>
                </ns1:solidFill>
              </ns1:rPr>
              <ns1:t>Рабочая озвучка уже подготовлена:
S002-P01_ozvuchka_55_sec_stress_2026-06-20.mp3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960120" y="4096512"/>
            <ns1:ext cx="3749039" cy="530352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ОТКРЫТЬ ВИДЕОИНСТРУКЦИЮ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5440680" y="1188720"/>
            <ns1:ext cx="539496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000" b="1">
                <ns1:solidFill>
                  <ns1:srgbClr val="212B36"/>
                </ns1:solidFill>
              </ns1:rPr>
              <ns1:t>Что должен понять слушатель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5394960" y="1645920"/>
            <ns1:ext cx="5486400" cy="32461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5394960" y="1645920"/>
            <ns1:ext cx="548640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Коротко о логике курса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5650992" y="2560320"/>
            <ns1:ext cx="4974336" cy="21488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Курс интерактивный.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Темы идут по порядку.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После тем и блоков будут тесты.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По кнопкам открывайте пояснения.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После просмотра вернитесь в курс.</ns1:t>
            </ns1:r>
          </ns1:p>
        </ns0:txBody>
      </ns0:sp>
      <ns0:sp>
        <ns0:nvSpPr>
          <ns0:cNvPr id="14" name="Rounded Rectangle 13">
            <ns1:hlinkClick ns2:id="rId2" action="ppaction://hlinksldjump"/>
          </ns0:cNvPr>
          <ns0:cNvSpPr/>
          <ns0:nvPr/>
        </ns0:nvSpPr>
        <ns0:spPr>
          <ns1:xfrm>
            <ns1:off x="8366760" y="5989320"/>
            <ns1:ext cx="2788920" cy="457200"/>
          </ns1:xfrm>
          <ns1:prstGeom prst="roundRect">
            <ns1:avLst/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 К КУРСУ</ns1:t>
            </ns1:r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Словарь терминов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S002-P02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S002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566928" y="1143000"/>
            <ns1:ext cx="11045952" cy="46177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868680" y="1353312"/>
            <ns1:ext cx="4754880" cy="219456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Термины расположены по алфавиту</ns1:t>
            </ns1:r>
          </ns1:p>
        </ns0:txBody>
      </ns0:sp>
      <ns0:sp>
        <ns0:nvSpPr>
          <ns0:cNvPr id="8" name="Rectangle 7"/>
          <ns0:cNvSpPr/>
          <ns0:nvPr/>
        </ns0:nvSpPr>
        <ns0:spPr>
          <ns1:xfrm>
            <ns1:off x="6071616" y="1627632"/>
            <ns1:ext cx="18288" cy="3794760"/>
          </ns1:xfrm>
          <ns1:prstGeom prst="rect">
            <ns1:avLst/>
          </ns1:prstGeom>
          <ns1:solidFill>
            <ns1:srgbClr val="D2DAE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868680" y="1719072"/>
            <ns1:ext cx="4892040" cy="3749039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Гак</ns1:t>
            </ns1:r>
            <ns1:r>
              <ns1:rPr sz="1100">
                <ns1:solidFill>
                  <ns1:srgbClr val="212B36"/>
                </ns1:solidFill>
              </ns1:rPr>
              <ns1:t> - крюк грузоподъёмного механизма.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Груз</ns1:t>
            </ns1:r>
            <ns1:r>
              <ns1:rPr sz="1100">
                <ns1:solidFill>
                  <ns1:srgbClr val="212B36"/>
                </ns1:solidFill>
              </ns1:rPr>
              <ns1:t> - предмет или конструкция для подъёма.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Грузозахватное приспособление</ns1:t>
            </ns1:r>
            <ns1:r>
              <ns1:rPr sz="1100">
                <ns1:solidFill>
                  <ns1:srgbClr val="212B36"/>
                </ns1:solidFill>
              </ns1:rPr>
              <ns1:t> - устройство для захвата груза.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Зажимы</ns1:t>
            </ns1:r>
            <ns1:r>
              <ns1:rPr sz="1100">
                <ns1:solidFill>
                  <ns1:srgbClr val="212B36"/>
                </ns1:solidFill>
              </ns1:rPr>
              <ns1:t> - устройства для закрепления концов каната.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Коуш</ns1:t>
            </ns1:r>
            <ns1:r>
              <ns1:rPr sz="1100">
                <ns1:solidFill>
                  <ns1:srgbClr val="212B36"/>
                </ns1:solidFill>
              </ns1:rPr>
              <ns1:t> - металлическая вставка, защищающая петлю каната от залома и износа.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Магнитные зажимы</ns1:t>
            </ns1:r>
            <ns1:r>
              <ns1:rPr sz="1100">
                <ns1:solidFill>
                  <ns1:srgbClr val="212B36"/>
                </ns1:solidFill>
              </ns1:rPr>
              <ns1:t> - устройства, удерживающие металлический груз с помощью магнита.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Мёртвый груз</ns1:t>
            </ns1:r>
            <ns1:r>
              <ns1:rPr sz="1100">
                <ns1:solidFill>
                  <ns1:srgbClr val="212B36"/>
                </ns1:solidFill>
              </ns1:rPr>
              <ns1:t> - груз, массу которого определить невозможно.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Оттяжка</ns1:t>
            </ns1:r>
            <ns1:r>
              <ns1:rPr sz="1100">
                <ns1:solidFill>
                  <ns1:srgbClr val="212B36"/>
                </ns1:solidFill>
              </ns1:rPr>
              <ns1:t> - канат или верёвка для управления положением груза и предотвращения его раскачивания.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Рым</ns1:t>
            </ns1:r>
            <ns1:r>
              <ns1:rPr sz="1100">
                <ns1:solidFill>
                  <ns1:srgbClr val="212B36"/>
                </ns1:solidFill>
              </ns1:rPr>
              <ns1:t> - кольцо или проушина для крепления стропа к грузу.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6355080" y="1719072"/>
            <ns1:ext cx="4892040" cy="3749039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Сигнальщик</ns1:t>
            </ns1:r>
            <ns1:r>
              <ns1:rPr sz="1100">
                <ns1:solidFill>
                  <ns1:srgbClr val="212B36"/>
                </ns1:solidFill>
              </ns1:rPr>
              <ns1:t> - работник, который подаёт команды крановщику при перемещении груза, если между стропальщиком и крановщиком контакт отсутствует.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СИЗ</ns1:t>
            </ns1:r>
            <ns1:r>
              <ns1:rPr sz="1100">
                <ns1:solidFill>
                  <ns1:srgbClr val="212B36"/>
                </ns1:solidFill>
              </ns1:rPr>
              <ns1:t> - средства индивидуальной защиты.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Строп</ns1:t>
            </ns1:r>
            <ns1:r>
              <ns1:rPr sz="1100">
                <ns1:solidFill>
                  <ns1:srgbClr val="212B36"/>
                </ns1:solidFill>
              </ns1:rPr>
              <ns1:t> - грузозахватное средство.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Стропальщик</ns1:t>
            </ns1:r>
            <ns1:r>
              <ns1:rPr sz="1100">
                <ns1:solidFill>
                  <ns1:srgbClr val="212B36"/>
                </ns1:solidFill>
              </ns1:rPr>
              <ns1:t> - рабочий, который выполняет строповку груза.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Строповка</ns1:t>
            </ns1:r>
            <ns1:r>
              <ns1:rPr sz="1100">
                <ns1:solidFill>
                  <ns1:srgbClr val="212B36"/>
                </ns1:solidFill>
              </ns1:rPr>
              <ns1:t> - способ обвязки и зацепки.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Тара</ns1:t>
            </ns1:r>
            <ns1:r>
              <ns1:rPr sz="1100">
                <ns1:solidFill>
                  <ns1:srgbClr val="212B36"/>
                </ns1:solidFill>
              </ns1:rPr>
              <ns1:t> - ёмкость или приспособление для размещения и перемещения груза.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Траверса</ns1:t>
            </ns1:r>
            <ns1:r>
              <ns1:rPr sz="1100">
                <ns1:solidFill>
                  <ns1:srgbClr val="212B36"/>
                </ns1:solidFill>
              </ns1:rPr>
              <ns1:t> - грузозахватная балка для подъёма длинных или крупногабаритных грузов.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Цапфа</ns1:t>
            </ns1:r>
            <ns1:r>
              <ns1:rPr sz="1100">
                <ns1:solidFill>
                  <ns1:srgbClr val="212B36"/>
                </ns1:solidFill>
              </ns1:rPr>
              <ns1:t> - выступающая часть груза или оборудования, используемая как опора или место строповки.</ns1:t>
            </ns1:r>
          </ns1:p>
        </ns0:txBody>
      </ns0:sp>
      <ns0:sp>
        <ns0:nvSpPr>
          <ns0:cNvPr id="11" name="Rounded Rectangle 10">
            <ns1:hlinkClick ns2:id="rId2" action="ppaction://hlinksldjump"/>
          </ns0:cNvPr>
          <ns0:cNvSpPr/>
          <ns0:nvPr/>
        </ns0:nvSpPr>
        <ns0:spPr>
          <ns1:xfrm>
            <ns1:off x="8366760" y="5989320"/>
            <ns1:ext cx="2788920" cy="457200"/>
          </ns1:xfrm>
          <ns1:prstGeom prst="roundRect">
            <ns1:avLst/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 К КУРСУ</ns1:t>
            </ns1:r>
          </ns1:p>
        </ns0:txBody>
      </ns0:sp>
    </ns0:spTree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Какие документы регулируют работу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B42"/>
                </a:solidFill>
              </a:rPr>
              <a:t>Это основные правовые акты, регулирующие работу стропальщика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6235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Закон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15087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Дата принятия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691640"/>
            <a:ext cx="306324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Кто издал</a:t>
            </a:r>
          </a:p>
        </p:txBody>
      </p:sp>
      <p:sp>
        <p:nvSpPr>
          <p:cNvPr id="10" name="Rectangle 9">
            <a:hlinkClick r:id="rId2" action="ppaction://hlinksldjump"/>
          </p:cNvPr>
          <p:cNvSpPr/>
          <p:nvPr/>
        </p:nvSpPr>
        <p:spPr>
          <a:xfrm>
            <a:off x="640080" y="2203704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203704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30.12.2001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203704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3" name="Rectangle 12">
            <a:hlinkClick r:id="rId3" action="ppaction://hlinksldjump"/>
          </p:cNvPr>
          <p:cNvSpPr/>
          <p:nvPr/>
        </p:nvSpPr>
        <p:spPr>
          <a:xfrm>
            <a:off x="640080" y="2953512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953512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24.12.2021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953512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Правительство РФ</a:t>
            </a:r>
          </a:p>
        </p:txBody>
      </p:sp>
      <p:sp>
        <p:nvSpPr>
          <p:cNvPr id="16" name="Rectangle 15">
            <a:hlinkClick r:id="rId4" action="ppaction://hlinksldjump"/>
          </p:cNvPr>
          <p:cNvSpPr/>
          <p:nvPr/>
        </p:nvSpPr>
        <p:spPr>
          <a:xfrm>
            <a:off x="640080" y="3703320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21.07.1997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703320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9" name="Rectangle 18">
            <a:hlinkClick r:id="rId5" action="ppaction://hlinksldjump"/>
          </p:cNvPr>
          <p:cNvSpPr/>
          <p:nvPr/>
        </p:nvSpPr>
        <p:spPr>
          <a:xfrm>
            <a:off x="640080" y="4453128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453128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26.11.2020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453128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Ростехнадзор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1691640"/>
            <a:ext cx="19659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555480" y="1691640"/>
            <a:ext cx="1965960" cy="56692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Интерактив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478024"/>
            <a:ext cx="150876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12B36"/>
                </a:solidFill>
              </a:rPr>
              <a:t>Нажмите на название документа.</a:t>
            </a:r>
          </a:p>
        </p:txBody>
      </p:sp>
      <p:sp>
        <p:nvSpPr>
          <p:cNvPr id="25" name="Rounded Rectangle 24">
            <a:hlinkClick r:id="rId6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Rounded Rectangle 25">
            <a:hlinkClick r:id="rId7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Трудовой кодекс РФ № 197-ФЗ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Общая рамка по охране труда и допуску к работе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Раздел X "Охрана труда": обязанности работодателя и работника, СИЗ, безопасные условия труда, расследование несчастных случаев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Постановление Правительства РФ № 2464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Обучение по охране труда и проверка знаний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Инструктажи, стажировка, обучение, первая помощь, проверка знаний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Федеральный закон № 116-ФЗ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требования безопасной работы на опасных производственных объектах, подготовки работников, предупреждения аварий и производственного контроля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Нужен при работе на ОПО: подготовка работников, требования промбезопасности, производственный контроль. Для стропальщика важен тем, что требует проходить обучение, соблюдать правила безопасности, выполнять инструкции и сообщать о неисправностях и опасных ситуациях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Приказ Ростехнадзора № 461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правила безопасной эксплуатации кранов и других подъемных сооружений на опасных производственных объектах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п. 19, п. 98-99, п. 155-163: персонал, сигналы, ППР/ТК, строповка, ПРР, складирование. Для стропальщика важен тем, что определяет правила строповки и перемещения грузов, проверки стропов и тары, подачи сигналов и прекращения работы при опасности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Кто такой стропальщик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S004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общая часть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40080" y="1261872"/>
            <ns1:ext cx="6400800" cy="452628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5240">
            <ns1:solidFill>
              <ns1:srgbClr val="D2DAE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pic>
        <ns0:nvPicPr>
          <ns0:cNvPr id="7" name="Picture 6" descr="S004_avatar-1_signal-podnyat-gruz_white-bg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841248" y="1463040"/>
            <ns1:ext cx="5989320" cy="3995928"/>
          </ns1:xfrm>
          <ns1:prstGeom prst="rect">
            <ns1:avLst/>
          </ns1:prstGeom>
        </ns0:spPr>
      </ns0:pic>
      <ns0:sp>
        <ns0:nvSpPr>
          <ns0:cNvPr id="8" name="Rounded Rectangle 7"/>
          <ns0:cNvSpPr/>
          <ns0:nvPr/>
        </ns0:nvSpPr>
        <ns0:spPr>
          <ns1:xfrm>
            <ns1:off x="7269480" y="1261872"/>
            <ns1:ext cx="4343400" cy="388620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269480" y="1261872"/>
            <ns1:ext cx="4343400" cy="621792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Определение профессии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7562088" y="2157984"/>
            <ns1:ext cx="3758184" cy="27706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>
              <ns1:spcAft>
                <ns1:spcPts val="0"/>
              </ns1:spcAft>
            </ns1:pPr>
            <ns1:r>
              <ns1:rPr sz="1800" b="1">
                <ns1:solidFill>
                  <ns1:srgbClr val="122B42"/>
                </ns1:solidFill>
              </ns1:rPr>
              <ns1:t>Стропальщик</ns1:t>
            </ns1:r>
            <ns1:r>
              <ns1:rPr sz="1800">
                <ns1:solidFill>
                  <ns1:srgbClr val="212B36"/>
                </ns1:solidFill>
              </ns1:rPr>
              <ns1:t> — рабочая профессия, связанная с подготовкой, обвязкой, зацепкой и безопасным перемещением грузов с помощью грузоподъёмных механизмов.</ns1:t>
            </ns1:r>
          </ns1:p>
        </ns0:txBody>
      </ns0:sp>
      <ns0:sp>
        <ns0:nvSpPr>
          <ns0:cNvPr id="11" name="Rounded Rectangle 10">
            <ns1:hlinkClick ns2:id="rId3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12" name="Rounded Rectangle 11">
            <ns1:hlinkClick ns2:id="rId4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Кто может работать стропальщиком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общая часть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713232" y="1170432"/>
            <ns1:ext cx="10771632" cy="46177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5240">
            <ns1:solidFill>
              <ns1:srgbClr val="D2DAE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987552" y="1417320"/>
            <ns1:ext cx="7315200" cy="310896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600" b="0">
                <ns1:solidFill>
                  <ns1:srgbClr val="6E7A86"/>
                </ns1:solidFill>
              </ns1:rPr>
              <ns1:t>К работе допускаются работники, которые:</ns1:t>
            </ns1:r>
          </ns1:p>
        </ns0:txBody>
      </ns0:sp>
      <ns0:sp>
        <ns0:nvSpPr>
          <ns0:cNvPr id="8" name="Rounded Rectangle 7">
            <ns1:hlinkClick ns2:id="rId2" action="ppaction://hlinksldjump"/>
          </ns0:cNvPr>
          <ns0:cNvSpPr/>
          <ns0:nvPr/>
        </ns0:nvSpPr>
        <ns0:spPr>
          <ns1:xfrm>
            <ns1:off x="969264" y="1810512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Прошел обучение</ns1:t>
            </ns1:r>
          </ns1:p>
        </ns0:txBody>
      </ns0:sp>
      <ns0:sp>
        <ns0:nvSpPr>
          <ns0:cNvPr id="9" name="Oval 8"/>
          <ns0:cNvSpPr/>
          <ns0:nvPr/>
        </ns0:nvSpPr>
        <ns0:spPr>
          <ns1:xfrm>
            <ns1:off x="1133856" y="1883664"/>
            <ns1:ext cx="402336" cy="402336"/>
          </ns1:xfrm>
          <ns1:prstGeom prst="ellipse">
            <ns1:avLst/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1</ns1:t>
            </ns1:r>
          </ns1:p>
        </ns0:txBody>
      </ns0:sp>
      <ns0:sp>
        <ns0:nvSpPr>
          <ns0:cNvPr id="10" name="Rounded Rectangle 9">
            <ns1:hlinkClick ns2:id="rId3" action="ppaction://hlinksldjump"/>
          </ns0:cNvPr>
          <ns0:cNvSpPr/>
          <ns0:nvPr/>
        </ns0:nvSpPr>
        <ns0:spPr>
          <ns1:xfrm>
            <ns1:off x="969264" y="2468880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Прошел инструктаж</ns1:t>
            </ns1:r>
          </ns1:p>
        </ns0:txBody>
      </ns0:sp>
      <ns0:sp>
        <ns0:nvSpPr>
          <ns0:cNvPr id="11" name="Oval 10"/>
          <ns0:cNvSpPr/>
          <ns0:nvPr/>
        </ns0:nvSpPr>
        <ns0:spPr>
          <ns1:xfrm>
            <ns1:off x="1133856" y="2542032"/>
            <ns1:ext cx="402336" cy="402336"/>
          </ns1:xfrm>
          <ns1:prstGeom prst="ellipse">
            <ns1:avLst/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2</ns1:t>
            </ns1:r>
          </ns1:p>
        </ns0:txBody>
      </ns0:sp>
      <ns0:sp>
        <ns0:nvSpPr>
          <ns0:cNvPr id="12" name="Rounded Rectangle 11">
            <ns1:hlinkClick ns2:id="rId4" action="ppaction://hlinksldjump"/>
          </ns0:cNvPr>
          <ns0:cNvSpPr/>
          <ns0:nvPr/>
        </ns0:nvSpPr>
        <ns0:spPr>
          <ns1:xfrm>
            <ns1:off x="969264" y="3127248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Прошел проверку знаний</ns1:t>
            </ns1:r>
          </ns1:p>
        </ns0:txBody>
      </ns0:sp>
      <ns0:sp>
        <ns0:nvSpPr>
          <ns0:cNvPr id="13" name="Oval 12"/>
          <ns0:cNvSpPr/>
          <ns0:nvPr/>
        </ns0:nvSpPr>
        <ns0:spPr>
          <ns1:xfrm>
            <ns1:off x="1133856" y="3200400"/>
            <ns1:ext cx="402336" cy="402336"/>
          </ns1:xfrm>
          <ns1:prstGeom prst="ellipse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3</ns1:t>
            </ns1:r>
          </ns1:p>
        </ns0:txBody>
      </ns0:sp>
      <ns0:sp>
        <ns0:nvSpPr>
          <ns0:cNvPr id="14" name="Rounded Rectangle 13">
            <ns1:hlinkClick ns2:id="rId5" action="ppaction://hlinksldjump"/>
          </ns0:cNvPr>
          <ns0:cNvSpPr/>
          <ns0:nvPr/>
        </ns0:nvSpPr>
        <ns0:spPr>
          <ns1:xfrm>
            <ns1:off x="969264" y="3785616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Допущен к работе</ns1:t>
            </ns1:r>
          </ns1:p>
        </ns0:txBody>
      </ns0:sp>
      <ns0:sp>
        <ns0:nvSpPr>
          <ns0:cNvPr id="15" name="Oval 14"/>
          <ns0:cNvSpPr/>
          <ns0:nvPr/>
        </ns0:nvSpPr>
        <ns0:spPr>
          <ns1:xfrm>
            <ns1:off x="1133856" y="3858768"/>
            <ns1:ext cx="402336" cy="402336"/>
          </ns1:xfrm>
          <ns1:prstGeom prst="ellipse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4</ns1:t>
            </ns1:r>
          </ns1:p>
        </ns0:txBody>
      </ns0:sp>
      <ns0:sp>
        <ns0:nvSpPr>
          <ns0:cNvPr id="16" name="Rounded Rectangle 15">
            <ns1:hlinkClick ns2:id="rId6" action="ppaction://hlinksldjump"/>
          </ns0:cNvPr>
          <ns0:cNvSpPr/>
          <ns0:nvPr/>
        </ns0:nvSpPr>
        <ns0:spPr>
          <ns1:xfrm>
            <ns1:off x="969264" y="4443983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Использует СИЗ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1133856" y="4517136"/>
            <ns1:ext cx="402336" cy="402336"/>
          </ns1:xfrm>
          <ns1:prstGeom prst="ellipse">
            <ns1:avLst/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5</ns1:t>
            </ns1:r>
          </ns1:p>
        </ns0:txBody>
      </ns0:sp>
      <ns0:sp>
        <ns0:nvSpPr>
          <ns0:cNvPr id="18" name="Rounded Rectangle 17"/>
          <ns0:cNvSpPr/>
          <ns0:nvPr/>
        </ns0:nvSpPr>
        <ns0:spPr>
          <ns1:xfrm>
            <ns1:off x="969264" y="5230368"/>
            <ns1:ext cx="10012680" cy="640080"/>
          </ns1:xfrm>
          <ns1:prstGeom prst="roundRect">
            <ns1:avLst>
              <ns1:gd name="adj" fmla="val 19300"/>
            </ns1:avLst>
          </ns1:prstGeom>
          <ns1:solidFill>
            <ns1:srgbClr val="FAF2EC"/>
          </ns1:solidFill>
          <ns1:ln w="1524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endParaRPr/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1188720" y="5413248"/>
            <ns1:ext cx="9555480" cy="219456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200" b="1">
                <ns1:solidFill>
                  <ns1:srgbClr val="DE7436"/>
                </ns1:solidFill>
              </ns1:rPr>
              <ns1:t>Допуск — это не формальность, а условие безопасной работы.</ns1:t>
            </ns1:r>
          </ns1:p>
        </ns0:txBody>
      </ns0:sp>
      <ns0:sp>
        <ns0:nvSpPr>
          <ns0:cNvPr id="20" name="Rounded Rectangle 19">
            <ns1:hlinkClick ns2:id="rId7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21" name="Rounded Rectangle 20">
            <ns1:hlinkClick ns2:id="rId8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значит пройти обучение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S005-P01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275000"/>
            <ns1:ext cx="4050000" cy="446000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275000"/>
            <ns1:ext cx="4050000" cy="600000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Профессиональное обучение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855800" y="2010000"/>
            <ns1:ext cx="3710000" cy="3440000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algn="l">
              <ns1:lnSpc>
                <ns1:spcPct val="105000"/>
              </ns1:lnSpc>
              <ns1:spcAft>
                <ns1:spcPts val="800"/>
              </ns1:spcAft>
            </ns1:pPr>
            <ns1:r>
              <ns1:rPr sz="1360" b="0">
                <ns1:solidFill>
                  <ns1:srgbClr val="212B36"/>
                </ns1:solidFill>
                <ns1:latin typeface="Arial"/>
              </ns1:rPr>
              <ns1:t>Профессиональное обучение по профессии «стропальщик» может проводить учебный центр или работодатель непосредственно на производстве.</ns1:t>
            </ns1:r>
          </ns1:p>
          <ns1:p>
            <ns1:pPr algn="l">
              <ns1:lnSpc>
                <ns1:spcPct val="105000"/>
              </ns1:lnSpc>
              <ns1:spcAft>
                <ns1:spcPts val="800"/>
              </ns1:spcAft>
            </ns1:pPr>
            <ns1:r>
              <ns1:rPr sz="1360" b="1">
                <ns1:solidFill>
                  <ns1:srgbClr val="212B36"/>
                </ns1:solidFill>
                <ns1:latin typeface="Arial"/>
              </ns1:rPr>
              <ns1:t>Обязательное условие — наличие лицензии на образовательную деятельность по программам профессионального обучения.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4975800" y="1275000"/>
            <ns1:ext cx="6510000" cy="446000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4975800" y="1275000"/>
            <ns1:ext cx="6510000" cy="600000"/>
          </ns1:xfrm>
          <ns1:prstGeom prst="roundRect">
            <ns1:avLst>
              <ns1:gd name="adj" fmla="val 19300"/>
            </ns1:avLst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Обучение по Охрана труда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5125800" y="2010000"/>
            <ns1:ext cx="6210000" cy="3440000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algn="l">
              <ns1:lnSpc>
                <ns1:spcPct val="98000"/>
              </ns1:lnSpc>
              <ns1:spcAft>
                <ns1:spcPts val="400"/>
              </ns1:spcAft>
            </ns1:pPr>
            <ns1:r>
              <ns1:rPr sz="1180" b="0">
                <ns1:solidFill>
                  <ns1:srgbClr val="212B36"/>
                </ns1:solidFill>
                <ns1:latin typeface="Arial"/>
              </ns1:rPr>
              <ns1:t>По ПП РФ № 2464 стропальщик должен пройти: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Программу Б — не менее 16 часов, затем не реже одного раза в 3 года.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Обучение первой помощи — не реже одного раза в 3 года. Отдельная программа длится не менее 8 часов.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Обучение применению СИЗ — если средства защиты требуют практических навыков. Периодичность — не реже одного раза в 3 года.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Программу В и стажировку не менее двух смен — если работа стропальщика включена в перечень работ повышенной опасности. Как правило, обучение по программе В проводится ежегодно.</ns1:t>
            </ns1:r>
          </ns1:p>
          <ns1:p>
            <ns1:pPr algn="l">
              <ns1:lnSpc>
                <ns1:spcPct val="98000"/>
              </ns1:lnSpc>
              <ns1:spcAft>
                <ns1:spcPts val="400"/>
              </ns1:spcAft>
            </ns1:pPr>
            <ns1:r>
              <ns1:rPr sz="1180" b="1">
                <ns1:solidFill>
                  <ns1:srgbClr val="212B36"/>
                </ns1:solidFill>
                <ns1:latin typeface="Arial"/>
              </ns1:rPr>
              <ns1:t>ПП РФ № 2464 регулирует обучение по охране труда, но не заменяет профессиональное обучение по профессии «стропальщик».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603000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такое инструктаж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S005-P02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Инструктаж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1832" y="2240280"/>
            <ns1:ext cx="6025896" cy="3063240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algn="l">
              <ns1:lnSpc>
                <ns1:spcPct val="112000"/>
              </ns1:lnSpc>
              <ns1:spcAft>
                <ns1:spcPts val="1000"/>
              </ns1:spcAft>
            </ns1:pPr>
            <ns1:r>
              <ns1:rPr sz="1700" b="0" dirty="0" err="1" smtClean="0">
                <ns1:solidFill>
                  <ns1:srgbClr val="212B36"/>
                </ns1:solidFill>
                <ns1:latin typeface="Arial"/>
              </ns1:rPr>
              <ns1:t>Инструктажи</ns1:t>
            </ns1:r>
            <ns1:r>
              <ns1:rPr sz="1700" b="0" dirty="0" smtClean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по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охране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труда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: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вводный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,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первичный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и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повторный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.</ns1:t>
            </ns1:r>
          </ns1:p>
          <ns1:p>
            <ns1:pPr algn="l">
              <ns1:lnSpc>
                <ns1:spcPct val="112000"/>
              </ns1:lnSpc>
              <ns1:spcAft>
                <ns1:spcPts val="600"/>
              </ns1:spcAft>
            </ns1:pP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Повторный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—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не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реже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одного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раза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в 6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месяцев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.</ns1:t>
            </ns1:r>
          </ns1:p>
          <ns1:p>
            <ns1:pPr algn="l">
              <ns1:lnSpc>
                <ns1:spcPct val="112000"/>
              </ns1:lnSpc>
              <ns1:spcAft>
                <ns1:spcPts val="600"/>
              </ns1:spcAft>
            </ns1:pP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Внеплановый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и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целевой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—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при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необходимости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543800" y="1325880"/>
            <ns1:ext cx="393192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Зачем нужен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240280"/>
            <ns1:ext cx="341985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Объяснили.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Понял.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Применяешь на работе.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такое проверка знаний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S005-P03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Проверка знаний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1832" y="2240280"/>
            <ns1:ext cx="602589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Показывает, что работник понял требования.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Подтверждает готовность к допуску.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Не является формальностью.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543800" y="1325880"/>
            <ns1:ext cx="393192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Логика допуска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240280"/>
            <ns1:ext cx="341985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Знание.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Допуск.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Безопасная работа.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значит допуск к работе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S005-P04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Допуск к работе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1832" y="2240280"/>
            <ns1:ext cx="602589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Оформляется после обучения, инструктажа и проверки знаний.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Подтверждает, что работник может работать самостоятельно.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Без допуска самостоятельная работа недопустима.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543800" y="1325880"/>
            <ns1:ext cx="393192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Что это дает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240280"/>
            <ns1:ext cx="341985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Понятный статус допуска.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Право выполнять работу по правилам.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Основу для безопасной самостоятельной работы.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входит в СИЗ стропальщика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S005-P05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r>
              <ns1:t>Общепроизводственные СИЗ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7543800" y="1325880"/>
            <ns1:ext cx="3931920" cy="4142232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778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r>
              <ns1:t>Требования к СИЗ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130552"/>
            <ns1:ext cx="3419856" cy="3172968"/>
          </ns1:xfrm>
          <ns1:prstGeom prst="rect">
            <ns1:avLst/>
          </ns1:prstGeom>
          <ns1:noFill/>
        </ns0:spPr>
        <ns0:txBody>
          <ns1:bodyPr wrap="square" anchor="t" lIns="36576" rIns="36576" tIns="18288" bIns="18288">
            <ns1:spAutoFit/>
          </ns1:bodyPr>
          <ns1:lstStyle/>
          <ns1:p>
            <ns1:pPr algn="l">
              <ns1:spcAft>
                <ns1:spcPts val="300"/>
              </ns1:spcAft>
            </ns1:pPr>
            <ns1:r>
              <ns1:rPr sz="1140">
                <ns1:solidFill>
                  <ns1:srgbClr val="212B36"/>
                </ns1:solidFill>
              </ns1:rPr>
              <ns1:t>Главные требования к общепроизводственным СИЗ (спецодежде, обуви, перчаткам, очкам и каскам) закреплены в Техническом регламенте Таможенного союза ТР ТС 019/2011 «О безопасности средств индивидуальной защиты».</ns1:t>
            </ns1:r>
          </ns1:p>
          <ns1:p>
            <ns1:pPr algn="l">
              <ns1:spcAft>
                <ns1:spcPts val="300"/>
              </ns1:spcAft>
            </ns1:pPr>
            <ns1:r>
              <ns1:rPr sz="1180" b="1">
                <ns1:solidFill>
                  <ns1:srgbClr val="212B36"/>
                </ns1:solidFill>
              </ns1:rPr>
              <ns1:t>СИЗ должны отвечать пяти ключевым критериям:</ns1:t>
            </ns1:r>
          </ns1:p>
          <ns1:p>
            <ns1:pPr algn="l">
              <ns1:spcAft>
                <ns1:spcPts val="300"/>
              </ns1:spcAft>
            </ns1:pPr>
            <ns1:r>
              <ns1:rPr sz="1140">
                <ns1:solidFill>
                  <ns1:srgbClr val="212B36"/>
                </ns1:solidFill>
              </ns1:rPr>
              <ns1:t>безопасность самого изделия / защитная эффективность / эргономика и комфорт / стойкость к уходу / обязательная маркировка</ns1:t>
            </ns1:r>
          </ns1:p>
          <ns1:p>
            <ns1:pPr algn="l">
              <ns1:spcAft>
                <ns1:spcPts val="0"/>
              </ns1:spcAft>
            </ns1:pPr>
            <ns1:r>
              <ns1:rPr sz="1140">
                <ns1:solidFill>
                  <ns1:srgbClr val="5F6D7B"/>
                </ns1:solidFill>
              </ns1:rPr>
              <ns1:t>На каждом СИЗ (или его ярлыке) должна быть понятная, несмываемая маркировка: наименование, размер, дата изготовления, срок годности, защитные свойства и единый знак обращения продукции на рынке (EAC).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pic>
        <ns0:nvPicPr>
          <ns0:cNvPr id="13" name="Picture 12" descr="VIS-0011_siz_s005-p05_body-clean_v21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758952" y="2076173"/>
            <ns1:ext cx="6391656" cy="3318300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1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Разряды 2-4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S006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общая часть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40080" y="1325880"/>
            <ns1:ext cx="5303520" cy="429768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40080" y="1325880"/>
            <ns1:ext cx="530352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Что входит в курс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896112" y="2240280"/>
            <ns1:ext cx="4791456" cy="32004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2 разряд - простые грузы до 5 т.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3 разряд - простые грузы свыше 5 т до 25 т.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4 разряд - сложные грузы до 5 т.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6309360" y="1325880"/>
            <ns1:ext cx="5212080" cy="429768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6309360" y="1325880"/>
            <ns1:ext cx="5212080" cy="65836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Как читать маршрут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6565392" y="2240280"/>
            <ns1:ext cx="4700016" cy="32004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Базовая часть курса закрывает 2-4 разряд.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Для 5-6 разряда будут отдельные углубленные блоки.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Дальше начинается практическая тема 2.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13" name="Rounded Rectangle 12">
            <ns1:hlinkClick ns2:id="rId3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1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Тема 2. Стропальные работы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S007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Переход к основному практическому блоку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822960" y="1463040"/>
            <ns1:ext cx="5074920" cy="406908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822960" y="1463040"/>
            <ns1:ext cx="507492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Что дальше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1078992" y="2377440"/>
            <ns1:ext cx="4562856" cy="29718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В Теме 2 начинается прикладная часть курса.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Здесь будут грузы, схемы строповки, сигналы и опасные зоны.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Это точка перехода из вводной части в основную работу.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6217920" y="1645920"/>
            <ns1:ext cx="4572000" cy="25603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6583680" y="1965960"/>
            <ns1:ext cx="3840480" cy="1417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900" b="1">
                <ns1:solidFill>
                  <ns1:srgbClr val="212B36"/>
                </ns1:solidFill>
              </ns1:rPr>
              <ns1:t>Тема 2.1 Грузы
→ Тема 2.2 Технология
→ Тема 2.3 Производство работ</ns1:t>
            </ns1:r>
          </ns1:p>
        </ns0:txBody>
      </ns0:sp>
      <ns0:sp>
        <ns0:nvSpPr>
          <ns0:cNvPr id="11" name="Rounded Rectangle 10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1214</Words>
  <Application>Microsoft Office PowerPoint</Application>
  <PresentationFormat>Произвольный</PresentationFormat>
  <Paragraphs>242</Paragraphs>
  <Slides>18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Дмитрий</cp:lastModifiedBy>
  <cp:revision>4</cp:revision>
  <dcterms:created xsi:type="dcterms:W3CDTF">2013-01-27T09:14:16Z</dcterms:created>
  <dcterms:modified xsi:type="dcterms:W3CDTF">2026-06-23T19:11:25Z</dcterms:modified>
  <cp:category/>
</cp:coreProperties>
</file>