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  <p:sldId id="274" r:id="rId20"/>
    <p:sldId id="289" r:id="rId21"/>
    <p:sldId id="288" r:id="rId22"/>
    <p:sldId id="290" r:id="rId23"/>
    <p:sldId id="291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94476-88AA-4532-A775-D2B93421F1E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E7DAB-478A-4411-B2FA-19AE8ECA84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88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E7DAB-478A-4411-B2FA-19AE8ECA847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007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13.xml"/><Relationship Id="rId7" Type="http://schemas.openxmlformats.org/officeDocument/2006/relationships/slide" Target="slide10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3.wdp"/><Relationship Id="rId3" Type="http://schemas.openxmlformats.org/officeDocument/2006/relationships/slide" Target="slide21.xml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slide" Target="slide19.xml"/><Relationship Id="rId9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>
              <a:gd name="adj" fmla="val 3050"/>
            </a:avLst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45952" cy="46177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Термины расположены по алфавиту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627632"/>
            <a:ext cx="18288" cy="379476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Гак</a:t>
            </a:r>
            <a:r>
              <a:rPr sz="1100">
                <a:solidFill>
                  <a:srgbClr val="212B36"/>
                </a:solidFill>
              </a:rPr>
              <a:t> - крюк грузоподъёмного механизма.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</a:t>
            </a:r>
            <a:r>
              <a:rPr sz="1100">
                <a:solidFill>
                  <a:srgbClr val="212B36"/>
                </a:solidFill>
              </a:rPr>
              <a:t> - предмет или конструкция для подъёма.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Грузозахватное приспособление</a:t>
            </a:r>
            <a:r>
              <a:rPr sz="1100">
                <a:solidFill>
                  <a:srgbClr val="212B36"/>
                </a:solidFill>
              </a:rPr>
              <a:t> - устройство для захвата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Зажимы</a:t>
            </a:r>
            <a:r>
              <a:rPr sz="1100">
                <a:solidFill>
                  <a:srgbClr val="212B36"/>
                </a:solidFill>
              </a:rPr>
              <a:t> - устройства для закрепления концов каната.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Коуш</a:t>
            </a:r>
            <a:r>
              <a:rPr sz="1100">
                <a:solidFill>
                  <a:srgbClr val="212B36"/>
                </a:solidFill>
              </a:rPr>
              <a:t> - металлическая вставка, защищающая петлю каната от залома и износа.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Магнитные зажимы</a:t>
            </a:r>
            <a:r>
              <a:rPr sz="1100">
                <a:solidFill>
                  <a:srgbClr val="212B36"/>
                </a:solidFill>
              </a:rPr>
              <a:t> - устройства, удерживающие металлический груз с помощью магнита.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Мёртвый груз</a:t>
            </a:r>
            <a:r>
              <a:rPr sz="1100">
                <a:solidFill>
                  <a:srgbClr val="212B36"/>
                </a:solidFill>
              </a:rPr>
              <a:t> - груз, массу которого определить невозможно.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Оттяжка</a:t>
            </a:r>
            <a:r>
              <a:rPr sz="1100">
                <a:solidFill>
                  <a:srgbClr val="212B36"/>
                </a:solidFill>
              </a:rPr>
              <a:t> - канат или верёвка для управления положением груза и предотвращения его раскачивания.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Рым</a:t>
            </a:r>
            <a:r>
              <a:rPr sz="1100">
                <a:solidFill>
                  <a:srgbClr val="212B36"/>
                </a:solidFill>
              </a:rPr>
              <a:t> - кольцо или проушина для крепления стропа к грузу.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Сигнальщик</a:t>
            </a:r>
            <a:r>
              <a:rPr sz="1100">
                <a:solidFill>
                  <a:srgbClr val="212B36"/>
                </a:solidFill>
              </a:rPr>
              <a:t> - работник, который подаёт команды крановщику при перемещении груза, если между стропальщиком и крановщиком контакт отсутствует.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СИЗ</a:t>
            </a:r>
            <a:r>
              <a:rPr sz="1100">
                <a:solidFill>
                  <a:srgbClr val="212B36"/>
                </a:solidFill>
              </a:rPr>
              <a:t> - средства индивидуальной защиты.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</a:t>
            </a:r>
            <a:r>
              <a:rPr sz="1100">
                <a:solidFill>
                  <a:srgbClr val="212B36"/>
                </a:solidFill>
              </a:rPr>
              <a:t> - грузозахватное средство.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Стропальщик</a:t>
            </a:r>
            <a:r>
              <a:rPr sz="1100">
                <a:solidFill>
                  <a:srgbClr val="212B36"/>
                </a:solidFill>
              </a:rPr>
              <a:t> - рабочий, который выполняет строповку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Строповка</a:t>
            </a:r>
            <a:r>
              <a:rPr sz="1100">
                <a:solidFill>
                  <a:srgbClr val="212B36"/>
                </a:solidFill>
              </a:rPr>
              <a:t> - способ обвязки и зацепки.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Тара</a:t>
            </a:r>
            <a:r>
              <a:rPr sz="1100">
                <a:solidFill>
                  <a:srgbClr val="212B36"/>
                </a:solidFill>
              </a:rPr>
              <a:t> - ёмкость или приспособление для размещения и перемещения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Траверса</a:t>
            </a:r>
            <a:r>
              <a:rPr sz="1100">
                <a:solidFill>
                  <a:srgbClr val="212B36"/>
                </a:solidFill>
              </a:rPr>
              <a:t> - грузозахватная балка для подъёма длинных или крупногабаритных грузов.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Цапфа</a:t>
            </a:r>
            <a:r>
              <a:rPr sz="1100">
                <a:solidFill>
                  <a:srgbClr val="212B36"/>
                </a:solidFill>
              </a:rPr>
              <a:t> - выступающая часть груза или оборудования, используемая как опора или место строповки.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6400800" cy="45262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5989320" cy="3995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261872"/>
            <a:ext cx="4343400" cy="38862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9480" y="1261872"/>
            <a:ext cx="4343400" cy="621792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Определение профессии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157984"/>
            <a:ext cx="3758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B42"/>
                </a:solidFill>
              </a:rPr>
              <a:t>Стропальщик</a:t>
            </a:r>
            <a:r>
              <a:rPr sz="1800">
                <a:solidFill>
                  <a:srgbClr val="212B36"/>
                </a:solidFill>
              </a:rPr>
              <a:t> — рабочая профессия, связанная с подготовкой, обвязкой, зацепкой и безопасным перемещением грузов с помощью грузоподъёмных механизмов.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70432"/>
            <a:ext cx="10771632" cy="46177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173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7A86"/>
                </a:solidFill>
              </a:rPr>
              <a:t>К работе допускаются работники, которые: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969264" y="1810512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обучение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109472" y="1882902"/>
            <a:ext cx="402336" cy="402336"/>
          </a:xfrm>
          <a:prstGeom prst="ellipse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969264" y="2468880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инструктаж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09472" y="2530222"/>
            <a:ext cx="402336" cy="402336"/>
          </a:xfrm>
          <a:prstGeom prst="ellipse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969264" y="3127248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проверку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знаний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09472" y="3154680"/>
            <a:ext cx="402336" cy="402336"/>
          </a:xfrm>
          <a:prstGeom prst="ellipse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969264" y="3785616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Допущен</a:t>
            </a:r>
            <a:r>
              <a:rPr sz="1600" b="1" dirty="0">
                <a:solidFill>
                  <a:srgbClr val="212B36"/>
                </a:solidFill>
              </a:rPr>
              <a:t> к </a:t>
            </a:r>
            <a:r>
              <a:rPr sz="1600" b="1" dirty="0" err="1">
                <a:solidFill>
                  <a:srgbClr val="212B36"/>
                </a:solidFill>
              </a:rPr>
              <a:t>работе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24331" y="3867912"/>
            <a:ext cx="402336" cy="402336"/>
          </a:xfrm>
          <a:prstGeom prst="ellipse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69264" y="4443983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Использует</a:t>
            </a:r>
            <a:r>
              <a:rPr sz="1600" b="1" dirty="0">
                <a:solidFill>
                  <a:srgbClr val="212B36"/>
                </a:solidFill>
              </a:rPr>
              <a:t> СИЗ</a:t>
            </a:r>
          </a:p>
        </p:txBody>
      </p:sp>
      <p:sp>
        <p:nvSpPr>
          <p:cNvPr id="17" name="Oval 16"/>
          <p:cNvSpPr/>
          <p:nvPr/>
        </p:nvSpPr>
        <p:spPr>
          <a:xfrm>
            <a:off x="1141095" y="4507611"/>
            <a:ext cx="402336" cy="402336"/>
          </a:xfrm>
          <a:prstGeom prst="ellipse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5230368"/>
            <a:ext cx="10012680" cy="640080"/>
          </a:xfrm>
          <a:prstGeom prst="roundRect">
            <a:avLst>
              <a:gd name="adj" fmla="val 19300"/>
            </a:avLst>
          </a:prstGeom>
          <a:solidFill>
            <a:srgbClr val="FAF2EC"/>
          </a:solidFill>
          <a:ln w="1524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9555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E7436"/>
                </a:solidFill>
              </a:rPr>
              <a:t>Допуск — это не формальность, а условие безопасной работы.</a:t>
            </a:r>
          </a:p>
        </p:txBody>
      </p:sp>
      <p:sp>
        <p:nvSpPr>
          <p:cNvPr id="20" name="Rounded Rectangle 19">
            <a:hlinkClick r:id="rId7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Rounded Rectangle 20">
            <a:hlinkClick r:id="rId8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пройти обучение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75000"/>
            <a:ext cx="4050000" cy="44600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75000"/>
            <a:ext cx="4050000" cy="600000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Профессиональное 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800" y="2010000"/>
            <a:ext cx="37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0">
                <a:solidFill>
                  <a:srgbClr val="212B36"/>
                </a:solidFill>
                <a:latin typeface="Arial"/>
              </a:rPr>
              <a:t>Профессиональное обучение по профессии «стропальщик» может проводить учебный центр или работодатель непосредственно на производстве.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1">
                <a:solidFill>
                  <a:srgbClr val="212B36"/>
                </a:solidFill>
                <a:latin typeface="Arial"/>
              </a:rPr>
              <a:t>Обязательное условие — наличие лицензии на образовательную деятельность по программам профессионального обучения.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75800" y="1275000"/>
            <a:ext cx="6510000" cy="44600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75800" y="1275000"/>
            <a:ext cx="6510000" cy="600000"/>
          </a:xfrm>
          <a:prstGeom prst="roundRect">
            <a:avLst>
              <a:gd name="adj" fmla="val 19300"/>
            </a:avLst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Обучение по Охрана труда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800" y="2010000"/>
            <a:ext cx="62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0">
                <a:solidFill>
                  <a:srgbClr val="212B36"/>
                </a:solidFill>
                <a:latin typeface="Arial"/>
              </a:rPr>
              <a:t>По ПП РФ № 2464 стропальщик должен пройти: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Б — не менее 16 часов, затем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первой помощи — не реже одного раза в 3 года. Отдельная программа длится не менее 8 часов.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применению СИЗ — если средства защиты требуют практических навыков. Периодичность —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1">
                <a:solidFill>
                  <a:srgbClr val="212B36"/>
                </a:solidFill>
                <a:latin typeface="Arial"/>
              </a:rPr>
              <a:t>ПП РФ № 2464 регулирует обучение по охране труда, но не заменяет профессиональное обучение по профессии «стропальщик».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603000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инструктаж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Инструктаж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Инструктажи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по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охране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труда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: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вводный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,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первичный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повторный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Повторный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не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реже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одного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раза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в 6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месяцев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Внеплановый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целевой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при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необходимости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Зачем нужен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Объяснили.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Применяешь на работе.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проверка знаний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Проверка знаний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Показывает, что работник понял требования.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 готовность к допуску.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Не является формальностью.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Логика допуска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Знание.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Допуск.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Безопасная работа.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допуск к работе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Допуск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Оформляется после обучения, инструктажа и проверки знаний.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Подтверждает, что работник может работать самостоятельно.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 допуска самостоятельная работа недопустима.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это дает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Понятный статус допуска.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Право выполнять работу по правилам.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Основу для безопасной самостоятельной работы.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входит в СИЗ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Общепроизводственные СИЗ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325880"/>
            <a:ext cx="3931920" cy="41422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Требования к СИЗ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130552"/>
            <a:ext cx="3419856" cy="31729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40">
                <a:solidFill>
                  <a:srgbClr val="212B36"/>
                </a:solidFill>
              </a:rPr>
              <a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a:t>
            </a:r>
          </a:p>
          <a:p>
            <a:pPr algn="l">
              <a:spcAft>
                <a:spcPts val="300"/>
              </a:spcAft>
            </a:pPr>
            <a:r>
              <a:rPr sz="1180" b="1">
                <a:solidFill>
                  <a:srgbClr val="212B36"/>
                </a:solidFill>
              </a:rPr>
              <a:t>СИЗ должны отвечать пяти ключевым критериям:</a:t>
            </a:r>
          </a:p>
          <a:p>
            <a:pPr algn="l">
              <a:spcAft>
                <a:spcPts val="300"/>
              </a:spcAft>
            </a:pPr>
            <a:r>
              <a:rPr sz="1140">
                <a:solidFill>
                  <a:srgbClr val="212B36"/>
                </a:solidFill>
              </a:rPr>
              <a:t>безопасность самого изделия / защитная эффективность / эргономика и комфорт / стойкость к уходу / обязательная маркировка</a:t>
            </a:r>
          </a:p>
          <a:p>
            <a:pPr algn="l">
              <a:spcAft>
                <a:spcPts val="0"/>
              </a:spcAft>
            </a:pPr>
            <a:r>
              <a:rPr sz="1140">
                <a:solidFill>
                  <a:srgbClr val="5F6D7B"/>
                </a:solidFill>
              </a:rPr>
              <a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pic>
        <p:nvPicPr>
          <p:cNvPr id="13" name="Picture 12" descr="VIS-0011_siz_s005-p05_body-clean_v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76173"/>
            <a:ext cx="6391656" cy="331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Квалификация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881360" cy="42976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Разряды 2-6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9808" y="1984248"/>
          <a:ext cx="10533888" cy="3593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Разряд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Допустимый
вес груза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Сложность груза
и конструкций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Длина лесных
грузов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2 разряд</a:t>
                      </a:r>
                    </a:p>
                  </a:txBody>
                  <a:tcPr marL="64008" marR="64008" marT="27432" marB="27432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Простые изделия и
детали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3 разряд</a:t>
                      </a:r>
                    </a:p>
                  </a:txBody>
                  <a:tcPr marL="64008" marR="64008" marT="27432" marB="27432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25 тонн (простые)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Простые и средней
сложности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4 разряд</a:t>
                      </a:r>
                    </a:p>
                  </a:txBody>
                  <a:tcPr marL="64008" marR="64008" marT="27432" marB="27432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25 тонн (простые)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Средние, штучные,
требующие
осторожности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25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 (сложные)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5 разряд</a:t>
                      </a:r>
                    </a:p>
                  </a:txBody>
                  <a:tcPr marL="64008" marR="64008" marT="27432" marB="27432">
                    <a:solidFill>
                      <a:srgbClr val="FA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25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Сложные конструкции,
стапельная сборка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3 до 6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50 тонн (сложные)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6 разряд</a:t>
                      </a:r>
                    </a:p>
                  </a:txBody>
                  <a:tcPr marL="64008" marR="64008" marT="27432" marB="27432">
                    <a:solidFill>
                      <a:srgbClr val="FA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50 тонн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12B36"/>
                          </a:solidFill>
                        </a:rPr>
                        <a:t>Особо
ответственные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6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A0FD0E7D-EB26-1287-2045-2E4F1AFED33D}"/>
              </a:ext>
            </a:extLst>
          </p:cNvPr>
          <p:cNvSpPr/>
          <p:nvPr/>
        </p:nvSpPr>
        <p:spPr>
          <a:xfrm>
            <a:off x="8540496" y="557784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К теме 2.1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FE125AB-A7DE-CFB6-23D1-253EF2CC22BD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6ECBF-CFE6-6A0A-76F8-C6539475737C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Кран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453332-B46B-8F05-3704-A0B7AFCD951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Первый опорный слайд темы 2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A7E07BC-DF8E-51C1-EDAE-831BC548793B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062CE-4050-4A06-8BDF-090A7C495F2F}"/>
              </a:ext>
            </a:extLst>
          </p:cNvPr>
          <p:cNvSpPr txBox="1"/>
          <p:nvPr/>
        </p:nvSpPr>
        <p:spPr>
          <a:xfrm>
            <a:off x="749808" y="1572768"/>
            <a:ext cx="530352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600" b="1" dirty="0">
                <a:solidFill>
                  <a:srgbClr val="2D3136"/>
                </a:solidFill>
              </a:rPr>
              <a:t>Важно понимать как работает кран</a:t>
            </a:r>
          </a:p>
        </p:txBody>
      </p:sp>
      <p:sp>
        <p:nvSpPr>
          <p:cNvPr id="8" name="Прямоугольник: скругленные углы 7">
            <a:hlinkClick r:id="rId2" action="ppaction://hlinksldjump"/>
            <a:extLst>
              <a:ext uri="{FF2B5EF4-FFF2-40B4-BE49-F238E27FC236}">
                <a16:creationId xmlns:a16="http://schemas.microsoft.com/office/drawing/2014/main" id="{D2346819-5A7E-A244-E909-25D77BBED097}"/>
              </a:ext>
            </a:extLst>
          </p:cNvPr>
          <p:cNvSpPr/>
          <p:nvPr/>
        </p:nvSpPr>
        <p:spPr>
          <a:xfrm>
            <a:off x="749808" y="3749040"/>
            <a:ext cx="3310128" cy="188976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CE9E3EA-89DF-43DD-DC9D-D5AA081228B1}"/>
              </a:ext>
            </a:extLst>
          </p:cNvPr>
          <p:cNvSpPr/>
          <p:nvPr/>
        </p:nvSpPr>
        <p:spPr>
          <a:xfrm>
            <a:off x="914400" y="3913632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6F422-301E-4987-24D9-D2DC7617DBEB}"/>
              </a:ext>
            </a:extLst>
          </p:cNvPr>
          <p:cNvSpPr txBox="1"/>
          <p:nvPr/>
        </p:nvSpPr>
        <p:spPr>
          <a:xfrm>
            <a:off x="1499616" y="3913632"/>
            <a:ext cx="2350008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Типы кранов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657EA-AC6E-1D3F-F55D-E1D1FE99F7EF}"/>
              </a:ext>
            </a:extLst>
          </p:cNvPr>
          <p:cNvSpPr txBox="1"/>
          <p:nvPr/>
        </p:nvSpPr>
        <p:spPr>
          <a:xfrm>
            <a:off x="914400" y="4425696"/>
            <a:ext cx="2980944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стреловые</a:t>
            </a:r>
          </a:p>
          <a:p>
            <a:r>
              <a:rPr lang="ru-RU" sz="1300">
                <a:solidFill>
                  <a:srgbClr val="2D3136"/>
                </a:solidFill>
              </a:rPr>
              <a:t>башенные</a:t>
            </a:r>
          </a:p>
          <a:p>
            <a:r>
              <a:rPr lang="ru-RU" sz="1300">
                <a:solidFill>
                  <a:srgbClr val="2D3136"/>
                </a:solidFill>
              </a:rPr>
              <a:t>мостовые</a:t>
            </a:r>
          </a:p>
          <a:p>
            <a:r>
              <a:rPr lang="ru-RU" sz="1300">
                <a:solidFill>
                  <a:srgbClr val="2D3136"/>
                </a:solidFill>
              </a:rPr>
              <a:t>козловые</a:t>
            </a:r>
          </a:p>
          <a:p>
            <a:r>
              <a:rPr lang="ru-RU" sz="1300">
                <a:solidFill>
                  <a:srgbClr val="2D3136"/>
                </a:solidFill>
              </a:rPr>
              <a:t>портальные</a:t>
            </a: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E87C15F3-928B-E474-B16D-1EB25C21D850}"/>
              </a:ext>
            </a:extLst>
          </p:cNvPr>
          <p:cNvSpPr/>
          <p:nvPr/>
        </p:nvSpPr>
        <p:spPr>
          <a:xfrm>
            <a:off x="4443984" y="3749039"/>
            <a:ext cx="3310129" cy="1889759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8216DB6-5F9C-9CC7-5EEF-1825EA9D1774}"/>
              </a:ext>
            </a:extLst>
          </p:cNvPr>
          <p:cNvSpPr/>
          <p:nvPr/>
        </p:nvSpPr>
        <p:spPr>
          <a:xfrm>
            <a:off x="4608576" y="3913632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FE908-7CF1-9ADE-AEA1-40C9251C841F}"/>
              </a:ext>
            </a:extLst>
          </p:cNvPr>
          <p:cNvSpPr txBox="1"/>
          <p:nvPr/>
        </p:nvSpPr>
        <p:spPr>
          <a:xfrm>
            <a:off x="5193792" y="3913632"/>
            <a:ext cx="2350008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Основные параметры крана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E6B41-B9C3-3A63-2D7A-83477A1B3DBC}"/>
              </a:ext>
            </a:extLst>
          </p:cNvPr>
          <p:cNvSpPr txBox="1"/>
          <p:nvPr/>
        </p:nvSpPr>
        <p:spPr>
          <a:xfrm>
            <a:off x="4608576" y="4425696"/>
            <a:ext cx="2980944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 dirty="0">
                <a:solidFill>
                  <a:srgbClr val="2D3136"/>
                </a:solidFill>
              </a:rPr>
              <a:t>Что важно для понимания возможностей крана перед работой с грузом.</a:t>
            </a:r>
          </a:p>
        </p:txBody>
      </p:sp>
      <p:sp>
        <p:nvSpPr>
          <p:cNvPr id="16" name="Прямоугольник: скругленные углы 15">
            <a:hlinkClick r:id="rId4" action="ppaction://hlinksldjump"/>
            <a:extLst>
              <a:ext uri="{FF2B5EF4-FFF2-40B4-BE49-F238E27FC236}">
                <a16:creationId xmlns:a16="http://schemas.microsoft.com/office/drawing/2014/main" id="{23B7FBF7-2937-5FA2-CB81-428B759C1D91}"/>
              </a:ext>
            </a:extLst>
          </p:cNvPr>
          <p:cNvSpPr/>
          <p:nvPr/>
        </p:nvSpPr>
        <p:spPr>
          <a:xfrm>
            <a:off x="8138160" y="3749040"/>
            <a:ext cx="3090672" cy="1889758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372B6F0-E106-C556-6586-B8276A1A16B8}"/>
              </a:ext>
            </a:extLst>
          </p:cNvPr>
          <p:cNvSpPr/>
          <p:nvPr/>
        </p:nvSpPr>
        <p:spPr>
          <a:xfrm>
            <a:off x="8302752" y="3913632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DEA551-1775-9565-E57E-1283F943077C}"/>
              </a:ext>
            </a:extLst>
          </p:cNvPr>
          <p:cNvSpPr txBox="1"/>
          <p:nvPr/>
        </p:nvSpPr>
        <p:spPr>
          <a:xfrm>
            <a:off x="8887968" y="3913632"/>
            <a:ext cx="213055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Конструктивные особенности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E4899D-7D06-AF45-D845-952CCA2203BE}"/>
              </a:ext>
            </a:extLst>
          </p:cNvPr>
          <p:cNvSpPr txBox="1"/>
          <p:nvPr/>
        </p:nvSpPr>
        <p:spPr>
          <a:xfrm>
            <a:off x="8302752" y="4425696"/>
            <a:ext cx="2761488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Какие элементы конструкции влияют на безопасную организацию стропальных работ.</a:t>
            </a:r>
          </a:p>
        </p:txBody>
      </p:sp>
      <p:sp>
        <p:nvSpPr>
          <p:cNvPr id="20" name="Прямоугольник: скругленные углы 19">
            <a:hlinkClick r:id="rId5" action="ppaction://hlinksldjump"/>
            <a:extLst>
              <a:ext uri="{FF2B5EF4-FFF2-40B4-BE49-F238E27FC236}">
                <a16:creationId xmlns:a16="http://schemas.microsoft.com/office/drawing/2014/main" id="{46E8429F-3C93-6B4C-E3E8-1BB268A16051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Прямоугольник: скругленные углы 20">
            <a:hlinkClick r:id="rId6" action="ppaction://hlinksldjump"/>
            <a:extLst>
              <a:ext uri="{FF2B5EF4-FFF2-40B4-BE49-F238E27FC236}">
                <a16:creationId xmlns:a16="http://schemas.microsoft.com/office/drawing/2014/main" id="{EC20FB3B-134D-9329-2A54-04515A83D34E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875323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2AC11A0-D922-FBD0-5575-7048F810D363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9C86F-7E96-4BBC-F3DF-A04A5D2F9A38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Типы кранов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3029E-051B-B06A-34B9-7B9AEA03E67D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Подвал к слайду </a:t>
            </a:r>
            <a:r>
              <a:rPr lang="en-US" sz="1200">
                <a:solidFill>
                  <a:srgbClr val="FFFFFF"/>
                </a:solidFill>
              </a:rPr>
              <a:t>S008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082CB74-4CDC-B167-B03D-823469ADBF9D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9C671F"/>
                </a:solidFill>
              </a:rPr>
              <a:t>S008-P01</a:t>
            </a:r>
            <a:endParaRPr lang="ru-RU" b="1" dirty="0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6A01D74-314B-8515-423B-32D8EDDD0945}"/>
              </a:ext>
            </a:extLst>
          </p:cNvPr>
          <p:cNvSpPr/>
          <p:nvPr/>
        </p:nvSpPr>
        <p:spPr>
          <a:xfrm>
            <a:off x="738049" y="1371600"/>
            <a:ext cx="10479024" cy="448056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800" b="1" dirty="0">
              <a:solidFill>
                <a:srgbClr val="2D3136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B0B847E-5ECA-F872-B097-80638BD45F97}"/>
              </a:ext>
            </a:extLst>
          </p:cNvPr>
          <p:cNvSpPr/>
          <p:nvPr/>
        </p:nvSpPr>
        <p:spPr>
          <a:xfrm>
            <a:off x="896112" y="164592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Типы кранов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2B743972-A25F-26C8-0268-BA9D6F60A204}"/>
              </a:ext>
            </a:extLst>
          </p:cNvPr>
          <p:cNvSpPr/>
          <p:nvPr/>
        </p:nvSpPr>
        <p:spPr>
          <a:xfrm>
            <a:off x="7239000" y="1612900"/>
            <a:ext cx="3238500" cy="431800"/>
          </a:xfrm>
          <a:prstGeom prst="roundRect">
            <a:avLst/>
          </a:prstGeom>
          <a:solidFill>
            <a:srgbClr val="18569B"/>
          </a:solidFill>
          <a:ln>
            <a:solidFill>
              <a:srgbClr val="185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Для чего нужны - описание</a:t>
            </a:r>
          </a:p>
        </p:txBody>
      </p:sp>
      <p:sp>
        <p:nvSpPr>
          <p:cNvPr id="37" name="Прямоугольник: скругленные углы 36">
            <a:hlinkClick r:id="rId4" action="ppaction://hlinksldjump"/>
            <a:extLst>
              <a:ext uri="{FF2B5EF4-FFF2-40B4-BE49-F238E27FC236}">
                <a16:creationId xmlns:a16="http://schemas.microsoft.com/office/drawing/2014/main" id="{B5482EF9-F28C-811D-9EC6-067C3772FE13}"/>
              </a:ext>
            </a:extLst>
          </p:cNvPr>
          <p:cNvSpPr/>
          <p:nvPr/>
        </p:nvSpPr>
        <p:spPr>
          <a:xfrm>
            <a:off x="658368" y="6053328"/>
            <a:ext cx="235915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Вернуться к </a:t>
            </a:r>
            <a:r>
              <a:rPr lang="en-US" sz="1600" b="1">
                <a:solidFill>
                  <a:srgbClr val="FFFFFF"/>
                </a:solidFill>
              </a:rPr>
              <a:t>S008</a:t>
            </a:r>
            <a:endParaRPr lang="ru-RU" sz="1600" b="1">
              <a:solidFill>
                <a:srgbClr val="FFFFFF"/>
              </a:solidFill>
            </a:endParaRPr>
          </a:p>
        </p:txBody>
      </p:sp>
      <p:pic>
        <p:nvPicPr>
          <p:cNvPr id="17" name="Рисунок 16" descr="Изображение выглядит как кран, транспорт, Строительное оборудование, строитель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D8A218-5470-4C8B-A7ED-E002495DB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452" y="2057400"/>
            <a:ext cx="979159" cy="914400"/>
          </a:xfrm>
          <a:prstGeom prst="rect">
            <a:avLst/>
          </a:prstGeom>
        </p:spPr>
      </p:pic>
      <p:pic>
        <p:nvPicPr>
          <p:cNvPr id="29" name="Рисунок 28" descr="Изображение выглядит как портальный, лестница, кр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2744A5-FB77-6291-A08E-7BAD4618F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9311" y="3124200"/>
            <a:ext cx="1108778" cy="914400"/>
          </a:xfrm>
          <a:prstGeom prst="rect">
            <a:avLst/>
          </a:prstGeom>
        </p:spPr>
      </p:pic>
      <p:pic>
        <p:nvPicPr>
          <p:cNvPr id="39" name="Рисунок 38" descr="Изображение выглядит как кран, транспорт, колесо, ш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3A2BC76-419B-4B57-CB12-BEF8CC5DEA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120" y="2057400"/>
            <a:ext cx="504496" cy="914400"/>
          </a:xfrm>
          <a:prstGeom prst="rect">
            <a:avLst/>
          </a:prstGeom>
        </p:spPr>
      </p:pic>
      <p:pic>
        <p:nvPicPr>
          <p:cNvPr id="44" name="Рисунок 43" descr="Изображение выглядит как Масштабная модель&#10;&#10;Автоматически созданное описание">
            <a:extLst>
              <a:ext uri="{FF2B5EF4-FFF2-40B4-BE49-F238E27FC236}">
                <a16:creationId xmlns:a16="http://schemas.microsoft.com/office/drawing/2014/main" id="{E1B77F9A-0A79-CA06-4008-33818D61EF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3146806"/>
            <a:ext cx="1498600" cy="869188"/>
          </a:xfrm>
          <a:prstGeom prst="rect">
            <a:avLst/>
          </a:prstGeom>
        </p:spPr>
      </p:pic>
      <p:pic>
        <p:nvPicPr>
          <p:cNvPr id="45" name="Рисунок 44" descr="Изображение выглядит как колесо, транспортное средство, Наземный транспорт, транспорт&#10;&#10;Автоматически созданное описание">
            <a:extLst>
              <a:ext uri="{FF2B5EF4-FFF2-40B4-BE49-F238E27FC236}">
                <a16:creationId xmlns:a16="http://schemas.microsoft.com/office/drawing/2014/main" id="{0B5B641C-6896-2208-EB3B-35817D241CE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54" y="4191000"/>
            <a:ext cx="1245292" cy="914400"/>
          </a:xfrm>
          <a:prstGeom prst="rect">
            <a:avLst/>
          </a:prstGeom>
        </p:spPr>
      </p:pic>
      <p:pic>
        <p:nvPicPr>
          <p:cNvPr id="46" name="Рисунок 45" descr="Изображение выглядит как транспорт, Строительное оборудование, бульдозер&#10;&#10;Автоматически созданное описание">
            <a:extLst>
              <a:ext uri="{FF2B5EF4-FFF2-40B4-BE49-F238E27FC236}">
                <a16:creationId xmlns:a16="http://schemas.microsoft.com/office/drawing/2014/main" id="{F23CF184-6EAB-11F9-2D8D-D529AE1DEF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56" y="4191000"/>
            <a:ext cx="1444487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E1BDCC-D211-7C3F-057B-A31810CC0930}"/>
              </a:ext>
            </a:extLst>
          </p:cNvPr>
          <p:cNvSpPr txBox="1"/>
          <p:nvPr/>
        </p:nvSpPr>
        <p:spPr>
          <a:xfrm>
            <a:off x="2921000" y="2171700"/>
            <a:ext cx="2667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  <a:latin typeface="Arial" panose="020B0604020202020204" pitchFamily="34" charset="0"/>
              </a:rPr>
              <a:t>Башенные краны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0C0F3-5CA3-08DE-27CF-F6A38ED1B563}"/>
              </a:ext>
            </a:extLst>
          </p:cNvPr>
          <p:cNvSpPr txBox="1"/>
          <p:nvPr/>
        </p:nvSpPr>
        <p:spPr>
          <a:xfrm>
            <a:off x="7747000" y="2171700"/>
            <a:ext cx="2667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  <a:latin typeface="Arial" panose="020B0604020202020204" pitchFamily="34" charset="0"/>
              </a:rPr>
              <a:t>Стреловые краны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3F06A-2782-184F-8108-CA19FF637216}"/>
              </a:ext>
            </a:extLst>
          </p:cNvPr>
          <p:cNvSpPr txBox="1"/>
          <p:nvPr/>
        </p:nvSpPr>
        <p:spPr>
          <a:xfrm>
            <a:off x="2921000" y="3238500"/>
            <a:ext cx="2667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  <a:latin typeface="Arial" panose="020B0604020202020204" pitchFamily="34" charset="0"/>
              </a:rPr>
              <a:t>Мостовые краны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88A96-4977-D655-C8DE-C2716F303851}"/>
              </a:ext>
            </a:extLst>
          </p:cNvPr>
          <p:cNvSpPr txBox="1"/>
          <p:nvPr/>
        </p:nvSpPr>
        <p:spPr>
          <a:xfrm>
            <a:off x="7747000" y="3238500"/>
            <a:ext cx="2667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  <a:latin typeface="Arial" panose="020B0604020202020204" pitchFamily="34" charset="0"/>
              </a:rPr>
              <a:t>Козловые краны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9FDF2-6E6D-2EF4-E08C-AEC5225684D9}"/>
              </a:ext>
            </a:extLst>
          </p:cNvPr>
          <p:cNvSpPr txBox="1"/>
          <p:nvPr/>
        </p:nvSpPr>
        <p:spPr>
          <a:xfrm>
            <a:off x="2921000" y="4305300"/>
            <a:ext cx="2667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  <a:latin typeface="Arial" panose="020B0604020202020204" pitchFamily="34" charset="0"/>
              </a:rPr>
              <a:t>Кран манипулятор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9E244-A57A-25F5-B457-583BD60FFC6A}"/>
              </a:ext>
            </a:extLst>
          </p:cNvPr>
          <p:cNvSpPr txBox="1"/>
          <p:nvPr/>
        </p:nvSpPr>
        <p:spPr>
          <a:xfrm>
            <a:off x="7747000" y="4305300"/>
            <a:ext cx="2667000" cy="36933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  <a:latin typeface="Arial" panose="020B0604020202020204" pitchFamily="34" charset="0"/>
              </a:rPr>
              <a:t>Кран трубоукладчик</a:t>
            </a:r>
          </a:p>
        </p:txBody>
      </p:sp>
    </p:spTree>
    <p:extLst>
      <p:ext uri="{BB962C8B-B14F-4D97-AF65-F5344CB8AC3E}">
        <p14:creationId xmlns:p14="http://schemas.microsoft.com/office/powerpoint/2010/main" val="1270455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65223D4-100A-6DCE-6EBB-7FE6E14340E6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30744-0ECF-A9F2-0352-1C904B693905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Для чего нужны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3A9B5-29B1-2CB2-71EA-798369F6C25E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Поподвал к слайду </a:t>
            </a:r>
            <a:r>
              <a:rPr lang="en-US" sz="1200">
                <a:solidFill>
                  <a:srgbClr val="FFFFFF"/>
                </a:solidFill>
              </a:rPr>
              <a:t>S008-P01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C384682-5703-9062-F517-DD480ED3FCBE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S008-P01-PP01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5B0357-BA20-F108-94BC-07F7EF036DED}"/>
              </a:ext>
            </a:extLst>
          </p:cNvPr>
          <p:cNvSpPr/>
          <p:nvPr/>
        </p:nvSpPr>
        <p:spPr>
          <a:xfrm>
            <a:off x="749808" y="1499616"/>
            <a:ext cx="10479024" cy="4498848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E31DC77-693A-159A-5A6E-FAE512CF3414}"/>
              </a:ext>
            </a:extLst>
          </p:cNvPr>
          <p:cNvSpPr/>
          <p:nvPr/>
        </p:nvSpPr>
        <p:spPr>
          <a:xfrm>
            <a:off x="896112" y="164592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Для чего нужны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01CDA-31D5-77A2-7480-2383E0A3C24D}"/>
              </a:ext>
            </a:extLst>
          </p:cNvPr>
          <p:cNvSpPr txBox="1"/>
          <p:nvPr/>
        </p:nvSpPr>
        <p:spPr>
          <a:xfrm>
            <a:off x="1005840" y="2029968"/>
            <a:ext cx="9930384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D3136"/>
                </a:solidFill>
              </a:rPr>
              <a:t>Стреловые — для мобильных работ. Сами приезжают на объект. Нужны для разгрузки машин и мелких рассредоточенных строек.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Башенные — для многоэтажного строительства. Поднимают грузы на любую высоту и занимают минимум места на земле.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Мостовые — для заводов и цехов. Ездят под потолком, переносят тяжелые детали и не занимают место на полу.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Козловые — для открытых складов. Стоят на «ногах», разгружают ж/д вагоны, контейнеры и длинномерные грузы.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Портальные — для морских и речных портов. Разгружают корабли, пропуская под собой поезда и грузовики.</a:t>
            </a:r>
          </a:p>
        </p:txBody>
      </p:sp>
      <p:sp>
        <p:nvSpPr>
          <p:cNvPr id="9" name="Прямоугольник: скругленные углы 8">
            <a:hlinkClick r:id="rId2" action="ppaction://hlinksldjump"/>
            <a:extLst>
              <a:ext uri="{FF2B5EF4-FFF2-40B4-BE49-F238E27FC236}">
                <a16:creationId xmlns:a16="http://schemas.microsoft.com/office/drawing/2014/main" id="{54B393EC-1469-C216-B70F-064BF6E74B65}"/>
              </a:ext>
            </a:extLst>
          </p:cNvPr>
          <p:cNvSpPr/>
          <p:nvPr/>
        </p:nvSpPr>
        <p:spPr>
          <a:xfrm>
            <a:off x="658368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</p:spTree>
    <p:extLst>
      <p:ext uri="{BB962C8B-B14F-4D97-AF65-F5344CB8AC3E}">
        <p14:creationId xmlns:p14="http://schemas.microsoft.com/office/powerpoint/2010/main" val="3185198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E4F0FD0-3385-6A74-5D73-705C0A428ECA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CEC41-0481-8183-2C89-0DBF884CEC75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Основные параметры крана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7A867-8AB2-2E93-F6C9-B4EDD7968C33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Подвал к слайду </a:t>
            </a:r>
            <a:r>
              <a:rPr lang="en-US" sz="1200">
                <a:solidFill>
                  <a:srgbClr val="FFFFFF"/>
                </a:solidFill>
              </a:rPr>
              <a:t>S008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A696540-55EC-F1CC-AE58-61F2220B7102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S008-P02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7D11C-4C75-447C-B3FB-CE82EA1D0B14}"/>
              </a:ext>
            </a:extLst>
          </p:cNvPr>
          <p:cNvSpPr txBox="1"/>
          <p:nvPr/>
        </p:nvSpPr>
        <p:spPr>
          <a:xfrm>
            <a:off x="749808" y="1554480"/>
            <a:ext cx="1024128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300" b="1">
                <a:solidFill>
                  <a:srgbClr val="2D3136"/>
                </a:solidFill>
              </a:rPr>
              <a:t>Подробный материал по основным параметрам крана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96F97B1-6CF7-0E8A-40A9-A1C75F890F96}"/>
              </a:ext>
            </a:extLst>
          </p:cNvPr>
          <p:cNvSpPr/>
          <p:nvPr/>
        </p:nvSpPr>
        <p:spPr>
          <a:xfrm>
            <a:off x="749808" y="2231136"/>
            <a:ext cx="5102352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D77F27F-A66C-827E-E110-2EFE020B3EB8}"/>
              </a:ext>
            </a:extLst>
          </p:cNvPr>
          <p:cNvSpPr/>
          <p:nvPr/>
        </p:nvSpPr>
        <p:spPr>
          <a:xfrm>
            <a:off x="8961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Назначение подвала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5EE76-EB2F-4DEA-4100-A0ABE65AC5F8}"/>
              </a:ext>
            </a:extLst>
          </p:cNvPr>
          <p:cNvSpPr txBox="1"/>
          <p:nvPr/>
        </p:nvSpPr>
        <p:spPr>
          <a:xfrm>
            <a:off x="1097280" y="2999232"/>
            <a:ext cx="4462272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Здесь раскрываем тему подробнее, без перегруза основного линейного слайда.</a:t>
            </a:r>
          </a:p>
          <a:p>
            <a:r>
              <a:rPr lang="ru-RU" sz="1900">
                <a:solidFill>
                  <a:srgbClr val="2D3136"/>
                </a:solidFill>
              </a:rPr>
              <a:t>• Содержимое можно достраивать по ходу сборки темы 2.</a:t>
            </a:r>
          </a:p>
          <a:p>
            <a:r>
              <a:rPr lang="ru-RU" sz="1900">
                <a:solidFill>
                  <a:srgbClr val="2D3136"/>
                </a:solidFill>
              </a:rPr>
              <a:t>• Структура уже готова для дальнейшего наполнения.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522E4EC-178A-8DE1-30FC-A59453910167}"/>
              </a:ext>
            </a:extLst>
          </p:cNvPr>
          <p:cNvSpPr/>
          <p:nvPr/>
        </p:nvSpPr>
        <p:spPr>
          <a:xfrm>
            <a:off x="6236208" y="2231136"/>
            <a:ext cx="4992624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C1EFB8D-5B41-2E39-A8D8-757C3A1B49DF}"/>
              </a:ext>
            </a:extLst>
          </p:cNvPr>
          <p:cNvSpPr/>
          <p:nvPr/>
        </p:nvSpPr>
        <p:spPr>
          <a:xfrm>
            <a:off x="63825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сюда можно добавить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6C9715-AEED-D9E4-79EB-12C9C9B7EC4B}"/>
              </a:ext>
            </a:extLst>
          </p:cNvPr>
          <p:cNvSpPr txBox="1"/>
          <p:nvPr/>
        </p:nvSpPr>
        <p:spPr>
          <a:xfrm>
            <a:off x="6583680" y="2999232"/>
            <a:ext cx="4352544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Краткие пояснения и классификацию.</a:t>
            </a:r>
          </a:p>
          <a:p>
            <a:r>
              <a:rPr lang="ru-RU" sz="1900">
                <a:solidFill>
                  <a:srgbClr val="2D3136"/>
                </a:solidFill>
              </a:rPr>
              <a:t>• Опорные схемы, таблицы или фото.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Практические акценты для стропальщика.</a:t>
            </a:r>
          </a:p>
        </p:txBody>
      </p:sp>
      <p:sp>
        <p:nvSpPr>
          <p:cNvPr id="13" name="Прямоугольник: скругленные углы 12">
            <a:hlinkClick r:id="rId2" action="ppaction://hlinksldjump"/>
            <a:extLst>
              <a:ext uri="{FF2B5EF4-FFF2-40B4-BE49-F238E27FC236}">
                <a16:creationId xmlns:a16="http://schemas.microsoft.com/office/drawing/2014/main" id="{C23C9232-11EE-AE7B-93E7-42F846DC7502}"/>
              </a:ext>
            </a:extLst>
          </p:cNvPr>
          <p:cNvSpPr/>
          <p:nvPr/>
        </p:nvSpPr>
        <p:spPr>
          <a:xfrm>
            <a:off x="658368" y="6053328"/>
            <a:ext cx="235915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Вернуться к </a:t>
            </a:r>
            <a:r>
              <a:rPr lang="en-US" sz="1600" b="1">
                <a:solidFill>
                  <a:srgbClr val="FFFFFF"/>
                </a:solidFill>
              </a:rPr>
              <a:t>S008</a:t>
            </a:r>
            <a:endParaRPr lang="ru-RU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972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4BC1F46-9A7B-7C42-DAF9-72BB45049EC4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688F0-7DC0-9DFC-119D-1D4ADE53A336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Конструктивные особенности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B09D3-0F65-2505-B7EE-9004E4E8630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Подвал к слайду </a:t>
            </a:r>
            <a:r>
              <a:rPr lang="en-US" sz="1200">
                <a:solidFill>
                  <a:srgbClr val="FFFFFF"/>
                </a:solidFill>
              </a:rPr>
              <a:t>S008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CDD0D64-DE25-3A0F-36FA-A3CE1DCEDE50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S008-P03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5FB93-828D-5821-F1A3-6609CC156EF7}"/>
              </a:ext>
            </a:extLst>
          </p:cNvPr>
          <p:cNvSpPr txBox="1"/>
          <p:nvPr/>
        </p:nvSpPr>
        <p:spPr>
          <a:xfrm>
            <a:off x="749808" y="1554480"/>
            <a:ext cx="1024128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300" b="1">
                <a:solidFill>
                  <a:srgbClr val="2D3136"/>
                </a:solidFill>
              </a:rPr>
              <a:t>Подробный материал по конструктивным особенностям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838F71-E24D-7CDF-F775-8CA0265098DA}"/>
              </a:ext>
            </a:extLst>
          </p:cNvPr>
          <p:cNvSpPr/>
          <p:nvPr/>
        </p:nvSpPr>
        <p:spPr>
          <a:xfrm>
            <a:off x="749808" y="2231136"/>
            <a:ext cx="5102352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61B73C8-AF70-7FC4-F284-AFD10A2DD403}"/>
              </a:ext>
            </a:extLst>
          </p:cNvPr>
          <p:cNvSpPr/>
          <p:nvPr/>
        </p:nvSpPr>
        <p:spPr>
          <a:xfrm>
            <a:off x="8961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Назначение подвала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586C7-6AE4-A808-C93D-D25DAE13A653}"/>
              </a:ext>
            </a:extLst>
          </p:cNvPr>
          <p:cNvSpPr txBox="1"/>
          <p:nvPr/>
        </p:nvSpPr>
        <p:spPr>
          <a:xfrm>
            <a:off x="1097280" y="2999232"/>
            <a:ext cx="4462272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Здесь раскрываем тему подробнее, без перегруза основного линейного слайда.</a:t>
            </a:r>
          </a:p>
          <a:p>
            <a:r>
              <a:rPr lang="ru-RU" sz="1900">
                <a:solidFill>
                  <a:srgbClr val="2D3136"/>
                </a:solidFill>
              </a:rPr>
              <a:t>• Содержимое можно достраивать по ходу сборки темы 2.</a:t>
            </a:r>
          </a:p>
          <a:p>
            <a:r>
              <a:rPr lang="ru-RU" sz="1900">
                <a:solidFill>
                  <a:srgbClr val="2D3136"/>
                </a:solidFill>
              </a:rPr>
              <a:t>• Структура уже готова для дальнейшего наполнения.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1C7E036-7981-0BB3-E162-E5CB8AC29514}"/>
              </a:ext>
            </a:extLst>
          </p:cNvPr>
          <p:cNvSpPr/>
          <p:nvPr/>
        </p:nvSpPr>
        <p:spPr>
          <a:xfrm>
            <a:off x="6236208" y="2231136"/>
            <a:ext cx="4992624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849D056-D580-43D6-DF18-6439DEBCED2C}"/>
              </a:ext>
            </a:extLst>
          </p:cNvPr>
          <p:cNvSpPr/>
          <p:nvPr/>
        </p:nvSpPr>
        <p:spPr>
          <a:xfrm>
            <a:off x="63825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сюда можно добавить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B17C6-29F1-E4A1-B3D5-79537DDAF94A}"/>
              </a:ext>
            </a:extLst>
          </p:cNvPr>
          <p:cNvSpPr txBox="1"/>
          <p:nvPr/>
        </p:nvSpPr>
        <p:spPr>
          <a:xfrm>
            <a:off x="6583680" y="2999232"/>
            <a:ext cx="4352544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Краткие пояснения и классификацию.</a:t>
            </a:r>
          </a:p>
          <a:p>
            <a:r>
              <a:rPr lang="ru-RU" sz="1900">
                <a:solidFill>
                  <a:srgbClr val="2D3136"/>
                </a:solidFill>
              </a:rPr>
              <a:t>• Опорные схемы, таблицы или фото.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Практические акценты для стропальщика.</a:t>
            </a:r>
          </a:p>
        </p:txBody>
      </p:sp>
      <p:sp>
        <p:nvSpPr>
          <p:cNvPr id="13" name="Прямоугольник: скругленные углы 12">
            <a:hlinkClick r:id="rId2" action="ppaction://hlinksldjump"/>
            <a:extLst>
              <a:ext uri="{FF2B5EF4-FFF2-40B4-BE49-F238E27FC236}">
                <a16:creationId xmlns:a16="http://schemas.microsoft.com/office/drawing/2014/main" id="{2AC294C8-B3B1-FB46-409F-8AC8E0FA1607}"/>
              </a:ext>
            </a:extLst>
          </p:cNvPr>
          <p:cNvSpPr/>
          <p:nvPr/>
        </p:nvSpPr>
        <p:spPr>
          <a:xfrm>
            <a:off x="658368" y="6053328"/>
            <a:ext cx="235915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Вернуться к </a:t>
            </a:r>
            <a:r>
              <a:rPr lang="en-US" sz="1600" b="1">
                <a:solidFill>
                  <a:srgbClr val="FFFFFF"/>
                </a:solidFill>
              </a:rPr>
              <a:t>S008</a:t>
            </a:r>
            <a:endParaRPr lang="ru-RU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161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980E535-3670-D266-0FD9-7C210D5D904C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0022F-A1BF-ED31-3EF6-27923757AEE9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Тема 2.1. Строповка грузов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AAC17B-C277-F1FE-3157-E091377EFBC8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Безопасность начинается до подъема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9087B6C-5F26-B0CD-D4CB-25475EB892D5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S009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6877B-3FA5-C990-F5B5-EC9B0E027F8A}"/>
              </a:ext>
            </a:extLst>
          </p:cNvPr>
          <p:cNvSpPr txBox="1"/>
          <p:nvPr/>
        </p:nvSpPr>
        <p:spPr>
          <a:xfrm>
            <a:off x="713232" y="1554480"/>
            <a:ext cx="534924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800" b="1">
                <a:solidFill>
                  <a:srgbClr val="2D3136"/>
                </a:solidFill>
              </a:rPr>
              <a:t>Сначала оцени груз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CD6C2-CDFF-6BDC-DD99-58D6EBEC138E}"/>
              </a:ext>
            </a:extLst>
          </p:cNvPr>
          <p:cNvSpPr txBox="1"/>
          <p:nvPr/>
        </p:nvSpPr>
        <p:spPr>
          <a:xfrm>
            <a:off x="731520" y="2176272"/>
            <a:ext cx="5138928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D3136"/>
                </a:solidFill>
              </a:rPr>
              <a:t>Безопасная строповка начинается не со спешки и не с сигнала крановщику.</a:t>
            </a:r>
          </a:p>
          <a:p>
            <a:r>
              <a:rPr lang="ru-RU" sz="1600">
                <a:solidFill>
                  <a:srgbClr val="2D3136"/>
                </a:solidFill>
              </a:rPr>
              <a:t>Сначала разбираемся, что именно поднимаем и какая схема подойдет этому грузу.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F75E8E3-4DF1-C75F-BC98-97CE50B4BC72}"/>
              </a:ext>
            </a:extLst>
          </p:cNvPr>
          <p:cNvSpPr/>
          <p:nvPr/>
        </p:nvSpPr>
        <p:spPr>
          <a:xfrm>
            <a:off x="6400800" y="1517904"/>
            <a:ext cx="4983480" cy="3456432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7A890AF-E2F9-6E5E-240E-0E0DE66FA7A3}"/>
              </a:ext>
            </a:extLst>
          </p:cNvPr>
          <p:cNvSpPr/>
          <p:nvPr/>
        </p:nvSpPr>
        <p:spPr>
          <a:xfrm>
            <a:off x="6547104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внутри блока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05A84-6938-F7E9-CADA-2E3CB2C40D60}"/>
              </a:ext>
            </a:extLst>
          </p:cNvPr>
          <p:cNvSpPr txBox="1"/>
          <p:nvPr/>
        </p:nvSpPr>
        <p:spPr>
          <a:xfrm>
            <a:off x="6748272" y="2286000"/>
            <a:ext cx="43434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Сведения о грузах</a:t>
            </a:r>
          </a:p>
          <a:p>
            <a:r>
              <a:rPr lang="ru-RU" sz="1900">
                <a:solidFill>
                  <a:srgbClr val="2D3136"/>
                </a:solidFill>
              </a:rPr>
              <a:t>• Стропы и приспособления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Правила строповки</a:t>
            </a:r>
          </a:p>
          <a:p>
            <a:r>
              <a:rPr lang="ru-RU" sz="1900">
                <a:solidFill>
                  <a:srgbClr val="2D3136"/>
                </a:solidFill>
              </a:rPr>
              <a:t>• Проверка схемы</a:t>
            </a:r>
          </a:p>
          <a:p>
            <a:r>
              <a:rPr lang="ru-RU" sz="1900">
                <a:solidFill>
                  <a:srgbClr val="2D3136"/>
                </a:solidFill>
              </a:rPr>
              <a:t>• Типовые ошибки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87326F6-6CA5-8687-E8E3-A5BC4EF524A8}"/>
              </a:ext>
            </a:extLst>
          </p:cNvPr>
          <p:cNvSpPr/>
          <p:nvPr/>
        </p:nvSpPr>
        <p:spPr>
          <a:xfrm>
            <a:off x="749808" y="3913632"/>
            <a:ext cx="1737360" cy="109728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F957279A-C8B9-64BC-D8A6-B4D3E9EC0684}"/>
              </a:ext>
            </a:extLst>
          </p:cNvPr>
          <p:cNvSpPr/>
          <p:nvPr/>
        </p:nvSpPr>
        <p:spPr>
          <a:xfrm>
            <a:off x="914400" y="4078224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0B746-E528-514A-C29E-29CB3A635F85}"/>
              </a:ext>
            </a:extLst>
          </p:cNvPr>
          <p:cNvSpPr txBox="1"/>
          <p:nvPr/>
        </p:nvSpPr>
        <p:spPr>
          <a:xfrm>
            <a:off x="1499616" y="4078224"/>
            <a:ext cx="77724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Оцени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F067ED-266C-B775-E758-5A8AFF12C01C}"/>
              </a:ext>
            </a:extLst>
          </p:cNvPr>
          <p:cNvSpPr txBox="1"/>
          <p:nvPr/>
        </p:nvSpPr>
        <p:spPr>
          <a:xfrm>
            <a:off x="914400" y="4590288"/>
            <a:ext cx="140817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Масса, габариты, центр тяжести.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B403B21-FC9C-2C56-1C4D-3BFFC0FAA762}"/>
              </a:ext>
            </a:extLst>
          </p:cNvPr>
          <p:cNvSpPr/>
          <p:nvPr/>
        </p:nvSpPr>
        <p:spPr>
          <a:xfrm>
            <a:off x="2724912" y="3913632"/>
            <a:ext cx="1737360" cy="1097280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B2332671-460B-E233-BB0B-6CC4606A70F7}"/>
              </a:ext>
            </a:extLst>
          </p:cNvPr>
          <p:cNvSpPr/>
          <p:nvPr/>
        </p:nvSpPr>
        <p:spPr>
          <a:xfrm>
            <a:off x="2889504" y="4078224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51FD5-60F1-BBF2-8124-97E9860E65D2}"/>
              </a:ext>
            </a:extLst>
          </p:cNvPr>
          <p:cNvSpPr txBox="1"/>
          <p:nvPr/>
        </p:nvSpPr>
        <p:spPr>
          <a:xfrm>
            <a:off x="3474720" y="4078224"/>
            <a:ext cx="77724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Выбери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18188A-B92C-572E-F596-0491C477302C}"/>
              </a:ext>
            </a:extLst>
          </p:cNvPr>
          <p:cNvSpPr txBox="1"/>
          <p:nvPr/>
        </p:nvSpPr>
        <p:spPr>
          <a:xfrm>
            <a:off x="2889504" y="4590288"/>
            <a:ext cx="140817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Подходящий строп и способ зацепки.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BDECB27-8F8A-8FFA-142D-8CC0650F08F6}"/>
              </a:ext>
            </a:extLst>
          </p:cNvPr>
          <p:cNvSpPr/>
          <p:nvPr/>
        </p:nvSpPr>
        <p:spPr>
          <a:xfrm>
            <a:off x="4700016" y="3913632"/>
            <a:ext cx="1737360" cy="1097280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D3836AA-2B6E-F83E-C5DF-9467C7CC5948}"/>
              </a:ext>
            </a:extLst>
          </p:cNvPr>
          <p:cNvSpPr/>
          <p:nvPr/>
        </p:nvSpPr>
        <p:spPr>
          <a:xfrm>
            <a:off x="4864608" y="4078224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5CC23E-9BF7-8DD3-8A0B-F44E7FF9238F}"/>
              </a:ext>
            </a:extLst>
          </p:cNvPr>
          <p:cNvSpPr txBox="1"/>
          <p:nvPr/>
        </p:nvSpPr>
        <p:spPr>
          <a:xfrm>
            <a:off x="5449824" y="4078224"/>
            <a:ext cx="77724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Проверь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5D3E2-3E7A-ACAA-AFC5-0C8C6A2F9D75}"/>
              </a:ext>
            </a:extLst>
          </p:cNvPr>
          <p:cNvSpPr txBox="1"/>
          <p:nvPr/>
        </p:nvSpPr>
        <p:spPr>
          <a:xfrm>
            <a:off x="4864608" y="4590288"/>
            <a:ext cx="140817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Схему и условия до подъема.</a:t>
            </a:r>
          </a:p>
        </p:txBody>
      </p:sp>
      <p:sp>
        <p:nvSpPr>
          <p:cNvPr id="23" name="Прямоугольник: скругленные углы 22">
            <a:hlinkClick r:id="rId2" action="ppaction://hlinksldjump"/>
            <a:extLst>
              <a:ext uri="{FF2B5EF4-FFF2-40B4-BE49-F238E27FC236}">
                <a16:creationId xmlns:a16="http://schemas.microsoft.com/office/drawing/2014/main" id="{AB8B9A74-CBA9-FAE9-379A-B16B2AE075BA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4" name="Прямоугольник: скругленные углы 23">
            <a:hlinkClick r:id="rId3" action="ppaction://hlinksldjump"/>
            <a:extLst>
              <a:ext uri="{FF2B5EF4-FFF2-40B4-BE49-F238E27FC236}">
                <a16:creationId xmlns:a16="http://schemas.microsoft.com/office/drawing/2014/main" id="{A7AD3D9E-9D3E-499C-3242-FA43BCB0E902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3656327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3490A16-DD99-EBB5-7246-BD8D5BEE42E2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677F6-4D20-95A9-409F-A117E4328579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Маршрут подтемы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31C7C-080E-DA35-A948-07499EE75E77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От анализа груза до проверки понимания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0FFADEF-CF11-9951-515E-B19986B24D2F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S010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C646A-FE6C-0EAE-763C-E21F07BADEF6}"/>
              </a:ext>
            </a:extLst>
          </p:cNvPr>
          <p:cNvSpPr txBox="1"/>
          <p:nvPr/>
        </p:nvSpPr>
        <p:spPr>
          <a:xfrm>
            <a:off x="749808" y="1517904"/>
            <a:ext cx="104241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D3136"/>
                </a:solidFill>
              </a:rPr>
              <a:t>Внутри подтемы идем по понятной логике: от груза и оснастки к правилам, проверке схемы и мини-тесту.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8E3CE9E-E1DD-6EA7-B27A-4CF5B5534A9F}"/>
              </a:ext>
            </a:extLst>
          </p:cNvPr>
          <p:cNvSpPr/>
          <p:nvPr/>
        </p:nvSpPr>
        <p:spPr>
          <a:xfrm>
            <a:off x="749808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50AA797-A726-4D6E-C964-6FD72B8956FD}"/>
              </a:ext>
            </a:extLst>
          </p:cNvPr>
          <p:cNvSpPr/>
          <p:nvPr/>
        </p:nvSpPr>
        <p:spPr>
          <a:xfrm>
            <a:off x="914400" y="2176272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590A4-368F-8B6F-8999-47D7793ADC3F}"/>
              </a:ext>
            </a:extLst>
          </p:cNvPr>
          <p:cNvSpPr txBox="1"/>
          <p:nvPr/>
        </p:nvSpPr>
        <p:spPr>
          <a:xfrm>
            <a:off x="1499616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Грузы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39065-575E-C3C1-2554-F6BE5792848F}"/>
              </a:ext>
            </a:extLst>
          </p:cNvPr>
          <p:cNvSpPr txBox="1"/>
          <p:nvPr/>
        </p:nvSpPr>
        <p:spPr>
          <a:xfrm>
            <a:off x="914400" y="2688336"/>
            <a:ext cx="177393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Что нужно понять до выбора стропа.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32784E1-B2A1-6B86-EFF0-38AE81289B15}"/>
              </a:ext>
            </a:extLst>
          </p:cNvPr>
          <p:cNvSpPr/>
          <p:nvPr/>
        </p:nvSpPr>
        <p:spPr>
          <a:xfrm>
            <a:off x="2999232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F727219-A441-FC0C-22D5-E1E413E06F53}"/>
              </a:ext>
            </a:extLst>
          </p:cNvPr>
          <p:cNvSpPr/>
          <p:nvPr/>
        </p:nvSpPr>
        <p:spPr>
          <a:xfrm>
            <a:off x="3163824" y="2176272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500429-AD94-CFE2-26AB-BF5797E72CD0}"/>
              </a:ext>
            </a:extLst>
          </p:cNvPr>
          <p:cNvSpPr txBox="1"/>
          <p:nvPr/>
        </p:nvSpPr>
        <p:spPr>
          <a:xfrm>
            <a:off x="3749040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Стропы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603259-C1A4-F82A-ACB8-92FC313C03CB}"/>
              </a:ext>
            </a:extLst>
          </p:cNvPr>
          <p:cNvSpPr txBox="1"/>
          <p:nvPr/>
        </p:nvSpPr>
        <p:spPr>
          <a:xfrm>
            <a:off x="3163824" y="2688336"/>
            <a:ext cx="177393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Какие средства используются на практике.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2A1D8C8-2C62-A122-FB4F-2FFCCE842699}"/>
              </a:ext>
            </a:extLst>
          </p:cNvPr>
          <p:cNvSpPr/>
          <p:nvPr/>
        </p:nvSpPr>
        <p:spPr>
          <a:xfrm>
            <a:off x="5248656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3E52BE44-C913-6CC7-6F0A-C26351B6DF09}"/>
              </a:ext>
            </a:extLst>
          </p:cNvPr>
          <p:cNvSpPr/>
          <p:nvPr/>
        </p:nvSpPr>
        <p:spPr>
          <a:xfrm>
            <a:off x="5413248" y="2176272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732CA2-8414-731A-A0CB-C5333E421AFF}"/>
              </a:ext>
            </a:extLst>
          </p:cNvPr>
          <p:cNvSpPr txBox="1"/>
          <p:nvPr/>
        </p:nvSpPr>
        <p:spPr>
          <a:xfrm>
            <a:off x="5998464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Правила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37EF66-65B9-E736-134C-FFD25A69834C}"/>
              </a:ext>
            </a:extLst>
          </p:cNvPr>
          <p:cNvSpPr txBox="1"/>
          <p:nvPr/>
        </p:nvSpPr>
        <p:spPr>
          <a:xfrm>
            <a:off x="5413248" y="2688336"/>
            <a:ext cx="177393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Точка зацепки и работа по схеме.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58AD4B8-7AED-941C-B656-1F8FA12143C2}"/>
              </a:ext>
            </a:extLst>
          </p:cNvPr>
          <p:cNvSpPr/>
          <p:nvPr/>
        </p:nvSpPr>
        <p:spPr>
          <a:xfrm>
            <a:off x="7498080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9DE85FC9-0653-75E8-CD19-4081EB639264}"/>
              </a:ext>
            </a:extLst>
          </p:cNvPr>
          <p:cNvSpPr/>
          <p:nvPr/>
        </p:nvSpPr>
        <p:spPr>
          <a:xfrm>
            <a:off x="7662672" y="2176272"/>
            <a:ext cx="438912" cy="438912"/>
          </a:xfrm>
          <a:prstGeom prst="ellipse">
            <a:avLst/>
          </a:prstGeom>
          <a:solidFill>
            <a:srgbClr val="CF8D3E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5A255A-721B-4364-ADC9-803BDD67D6FE}"/>
              </a:ext>
            </a:extLst>
          </p:cNvPr>
          <p:cNvSpPr txBox="1"/>
          <p:nvPr/>
        </p:nvSpPr>
        <p:spPr>
          <a:xfrm>
            <a:off x="8247888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CF8D3E"/>
                </a:solidFill>
              </a:rPr>
              <a:t>Проверка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C52B02-1ED6-32BA-4E09-7DAA2B48DC84}"/>
              </a:ext>
            </a:extLst>
          </p:cNvPr>
          <p:cNvSpPr txBox="1"/>
          <p:nvPr/>
        </p:nvSpPr>
        <p:spPr>
          <a:xfrm>
            <a:off x="7662672" y="2688336"/>
            <a:ext cx="177393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Что перепроверить до сигнала.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97D639E-920E-4137-BE2D-33E83D2DDFB3}"/>
              </a:ext>
            </a:extLst>
          </p:cNvPr>
          <p:cNvSpPr/>
          <p:nvPr/>
        </p:nvSpPr>
        <p:spPr>
          <a:xfrm>
            <a:off x="9747504" y="2011680"/>
            <a:ext cx="1572768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F1426086-6D45-F85D-9699-EBF07E2FA932}"/>
              </a:ext>
            </a:extLst>
          </p:cNvPr>
          <p:cNvSpPr/>
          <p:nvPr/>
        </p:nvSpPr>
        <p:spPr>
          <a:xfrm>
            <a:off x="9912096" y="2176272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EAA8A4-0C48-050D-B07E-7EA00B95DC2A}"/>
              </a:ext>
            </a:extLst>
          </p:cNvPr>
          <p:cNvSpPr txBox="1"/>
          <p:nvPr/>
        </p:nvSpPr>
        <p:spPr>
          <a:xfrm>
            <a:off x="10497312" y="2176272"/>
            <a:ext cx="612648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Ошибки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CFDCE7-BF9B-1339-52FD-D5D70CD7C951}"/>
              </a:ext>
            </a:extLst>
          </p:cNvPr>
          <p:cNvSpPr txBox="1"/>
          <p:nvPr/>
        </p:nvSpPr>
        <p:spPr>
          <a:xfrm>
            <a:off x="9912096" y="2688336"/>
            <a:ext cx="1243584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Где чаще всего срывается безопасность.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2963F49D-77D9-FDB4-E7B1-60C75BC886DA}"/>
              </a:ext>
            </a:extLst>
          </p:cNvPr>
          <p:cNvSpPr/>
          <p:nvPr/>
        </p:nvSpPr>
        <p:spPr>
          <a:xfrm>
            <a:off x="749808" y="3675888"/>
            <a:ext cx="10570464" cy="168249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1E88FC9-18F0-EBF8-14E7-37C394AAD25A}"/>
              </a:ext>
            </a:extLst>
          </p:cNvPr>
          <p:cNvSpPr/>
          <p:nvPr/>
        </p:nvSpPr>
        <p:spPr>
          <a:xfrm>
            <a:off x="896112" y="3822192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Зачем такая последовательность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E5DED-C9E6-18E0-4B8F-3F57A7F1F21D}"/>
              </a:ext>
            </a:extLst>
          </p:cNvPr>
          <p:cNvSpPr txBox="1"/>
          <p:nvPr/>
        </p:nvSpPr>
        <p:spPr>
          <a:xfrm>
            <a:off x="1097280" y="4443984"/>
            <a:ext cx="9930384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Сначала понимаем сам груз.</a:t>
            </a:r>
          </a:p>
          <a:p>
            <a:r>
              <a:rPr lang="ru-RU" sz="1900">
                <a:solidFill>
                  <a:srgbClr val="2D3136"/>
                </a:solidFill>
              </a:rPr>
              <a:t>• Потом выбираем средство строповки.</a:t>
            </a:r>
          </a:p>
          <a:p>
            <a:r>
              <a:rPr lang="ru-RU" sz="1900">
                <a:solidFill>
                  <a:srgbClr val="2D3136"/>
                </a:solidFill>
              </a:rPr>
              <a:t>• После этого проверяем, можно ли поднимать безопасно.</a:t>
            </a:r>
          </a:p>
        </p:txBody>
      </p:sp>
      <p:sp>
        <p:nvSpPr>
          <p:cNvPr id="30" name="Прямоугольник: скругленные углы 29">
            <a:hlinkClick r:id="rId2" action="ppaction://hlinksldjump"/>
            <a:extLst>
              <a:ext uri="{FF2B5EF4-FFF2-40B4-BE49-F238E27FC236}">
                <a16:creationId xmlns:a16="http://schemas.microsoft.com/office/drawing/2014/main" id="{4877BB7C-624A-6F62-3491-E5E80905C9D5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31" name="Прямоугольник: скругленные углы 30">
            <a:hlinkClick r:id="rId3" action="ppaction://hlinksldjump"/>
            <a:extLst>
              <a:ext uri="{FF2B5EF4-FFF2-40B4-BE49-F238E27FC236}">
                <a16:creationId xmlns:a16="http://schemas.microsoft.com/office/drawing/2014/main" id="{CD378CDB-05FB-1E97-DDEE-BFCF03C32BA3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145700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4628E19-A89C-2979-C078-1DAEAAA195D1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C6EBE-F299-E8E1-0B40-D2E8C311DDF4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Сведения о грузах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5BABE-BEF9-C6BE-B437-BD1FBEF0FB2F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Один груз — не одно и то же решение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FF75899-1B0E-AD41-F2E4-1CC574AF8AAB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DD9F651-F4AD-905A-2EBB-817420222022}"/>
              </a:ext>
            </a:extLst>
          </p:cNvPr>
          <p:cNvSpPr/>
          <p:nvPr/>
        </p:nvSpPr>
        <p:spPr>
          <a:xfrm>
            <a:off x="749808" y="1517904"/>
            <a:ext cx="517550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B872E46-16E4-D603-6C67-65A3DFC6602A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 что смотрим сначала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395E6-072C-E8C5-A7C2-792E805AB91F}"/>
              </a:ext>
            </a:extLst>
          </p:cNvPr>
          <p:cNvSpPr txBox="1"/>
          <p:nvPr/>
        </p:nvSpPr>
        <p:spPr>
          <a:xfrm>
            <a:off x="1097280" y="2286000"/>
            <a:ext cx="4535424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Не работай на спешке.</a:t>
            </a:r>
          </a:p>
          <a:p>
            <a:r>
              <a:rPr lang="ru-RU" sz="1900">
                <a:solidFill>
                  <a:srgbClr val="2D3136"/>
                </a:solidFill>
              </a:rPr>
              <a:t>• Определи тип груза и условия подъема.</a:t>
            </a:r>
          </a:p>
          <a:p>
            <a:r>
              <a:rPr lang="ru-RU" sz="1900">
                <a:solidFill>
                  <a:srgbClr val="2D3136"/>
                </a:solidFill>
              </a:rPr>
              <a:t>• Проверь, одинаково ли удобно и безопасно его брать.</a:t>
            </a:r>
          </a:p>
          <a:p>
            <a:r>
              <a:rPr lang="ru-RU" sz="1900">
                <a:solidFill>
                  <a:srgbClr val="2D3136"/>
                </a:solidFill>
              </a:rPr>
              <a:t>• Один и тот же кран работает по-разному с разными грузами.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03339F7-F95F-3754-4839-B444008E0353}"/>
              </a:ext>
            </a:extLst>
          </p:cNvPr>
          <p:cNvSpPr/>
          <p:nvPr/>
        </p:nvSpPr>
        <p:spPr>
          <a:xfrm>
            <a:off x="6419088" y="1591056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DE24C07-8108-F1EF-3F34-DF42AFC3C514}"/>
              </a:ext>
            </a:extLst>
          </p:cNvPr>
          <p:cNvSpPr/>
          <p:nvPr/>
        </p:nvSpPr>
        <p:spPr>
          <a:xfrm>
            <a:off x="6583680" y="1755648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BC10C-BCE9-2F3D-9AE5-DEB659C5437C}"/>
              </a:ext>
            </a:extLst>
          </p:cNvPr>
          <p:cNvSpPr txBox="1"/>
          <p:nvPr/>
        </p:nvSpPr>
        <p:spPr>
          <a:xfrm>
            <a:off x="7168896" y="1755648"/>
            <a:ext cx="12801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Габаритный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9F5A7-21FE-8DE3-1B31-3B8ADBA54DD9}"/>
              </a:ext>
            </a:extLst>
          </p:cNvPr>
          <p:cNvSpPr txBox="1"/>
          <p:nvPr/>
        </p:nvSpPr>
        <p:spPr>
          <a:xfrm>
            <a:off x="6583680" y="2267712"/>
            <a:ext cx="191109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Обычный размер, понятные точки зацепки.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AEC4294-BED5-25A4-EBBB-5D91039B0EBC}"/>
              </a:ext>
            </a:extLst>
          </p:cNvPr>
          <p:cNvSpPr/>
          <p:nvPr/>
        </p:nvSpPr>
        <p:spPr>
          <a:xfrm>
            <a:off x="8851392" y="1591056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B9E0FD87-A103-D53E-7652-428FF18CAB49}"/>
              </a:ext>
            </a:extLst>
          </p:cNvPr>
          <p:cNvSpPr/>
          <p:nvPr/>
        </p:nvSpPr>
        <p:spPr>
          <a:xfrm>
            <a:off x="9015984" y="1755648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835F8-4685-6BA7-10BF-697B88988923}"/>
              </a:ext>
            </a:extLst>
          </p:cNvPr>
          <p:cNvSpPr txBox="1"/>
          <p:nvPr/>
        </p:nvSpPr>
        <p:spPr>
          <a:xfrm>
            <a:off x="9601200" y="1755648"/>
            <a:ext cx="128016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Длинномерный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B2D85-4B3F-D041-959A-7EE7A1365234}"/>
              </a:ext>
            </a:extLst>
          </p:cNvPr>
          <p:cNvSpPr txBox="1"/>
          <p:nvPr/>
        </p:nvSpPr>
        <p:spPr>
          <a:xfrm>
            <a:off x="9015984" y="2267712"/>
            <a:ext cx="191109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Нужен контроль баланса и раскачивания.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302840F-61D6-C374-F368-C965E429B1E8}"/>
              </a:ext>
            </a:extLst>
          </p:cNvPr>
          <p:cNvSpPr/>
          <p:nvPr/>
        </p:nvSpPr>
        <p:spPr>
          <a:xfrm>
            <a:off x="6419088" y="3163824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462A598-FE64-0163-101D-68F5D4D5D38D}"/>
              </a:ext>
            </a:extLst>
          </p:cNvPr>
          <p:cNvSpPr/>
          <p:nvPr/>
        </p:nvSpPr>
        <p:spPr>
          <a:xfrm>
            <a:off x="6583680" y="3328416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1A39FB-19FF-C5EF-8D0F-FF6079FB82EA}"/>
              </a:ext>
            </a:extLst>
          </p:cNvPr>
          <p:cNvSpPr txBox="1"/>
          <p:nvPr/>
        </p:nvSpPr>
        <p:spPr>
          <a:xfrm>
            <a:off x="7168896" y="3328416"/>
            <a:ext cx="12801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Листовой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D185D-3C3C-6B51-0C0F-BDF09378A9AD}"/>
              </a:ext>
            </a:extLst>
          </p:cNvPr>
          <p:cNvSpPr txBox="1"/>
          <p:nvPr/>
        </p:nvSpPr>
        <p:spPr>
          <a:xfrm>
            <a:off x="6583680" y="3840480"/>
            <a:ext cx="191109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Важно не повредить кромки и не сорвать строп.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2807134-4FEC-AD60-C414-2DFC7115BE14}"/>
              </a:ext>
            </a:extLst>
          </p:cNvPr>
          <p:cNvSpPr/>
          <p:nvPr/>
        </p:nvSpPr>
        <p:spPr>
          <a:xfrm>
            <a:off x="8851392" y="3163824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78FF30BD-0725-1215-3ADB-F138C0D71738}"/>
              </a:ext>
            </a:extLst>
          </p:cNvPr>
          <p:cNvSpPr/>
          <p:nvPr/>
        </p:nvSpPr>
        <p:spPr>
          <a:xfrm>
            <a:off x="9015984" y="3328416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Г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F8562-EFF3-F268-F847-D4854EC09E6E}"/>
              </a:ext>
            </a:extLst>
          </p:cNvPr>
          <p:cNvSpPr txBox="1"/>
          <p:nvPr/>
        </p:nvSpPr>
        <p:spPr>
          <a:xfrm>
            <a:off x="9601200" y="3328416"/>
            <a:ext cx="128016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Железобетон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9201DF-7E5E-572A-3819-097715B4BF51}"/>
              </a:ext>
            </a:extLst>
          </p:cNvPr>
          <p:cNvSpPr txBox="1"/>
          <p:nvPr/>
        </p:nvSpPr>
        <p:spPr>
          <a:xfrm>
            <a:off x="9015984" y="3840480"/>
            <a:ext cx="19110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Критичны масса, опоры и схема зацепки.</a:t>
            </a:r>
          </a:p>
        </p:txBody>
      </p:sp>
      <p:sp>
        <p:nvSpPr>
          <p:cNvPr id="25" name="Прямоугольник: скругленные углы 24">
            <a:hlinkClick r:id="rId2" action="ppaction://hlinksldjump"/>
            <a:extLst>
              <a:ext uri="{FF2B5EF4-FFF2-40B4-BE49-F238E27FC236}">
                <a16:creationId xmlns:a16="http://schemas.microsoft.com/office/drawing/2014/main" id="{336AF860-3EB3-12FF-5C95-416AD513818E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Прямоугольник: скругленные углы 25">
            <a:hlinkClick r:id="rId3" action="ppaction://hlinksldjump"/>
            <a:extLst>
              <a:ext uri="{FF2B5EF4-FFF2-40B4-BE49-F238E27FC236}">
                <a16:creationId xmlns:a16="http://schemas.microsoft.com/office/drawing/2014/main" id="{F7C05108-1B5D-A14B-F09E-FD7C2CDBC89F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589339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7EBFAD6-F078-7E22-AE59-F12C83330B87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02E50-370C-486D-E8F0-21A1D7F7028F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Ключевые факторы груза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2213E-C877-784B-917F-455ED745EF1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Что влияет на устойчивость и выбор схемы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1D1F14D-70C7-6EA6-7C84-B1676D143073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S012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437A6AC-AA58-B542-9E95-B75D01D55B2A}"/>
              </a:ext>
            </a:extLst>
          </p:cNvPr>
          <p:cNvSpPr/>
          <p:nvPr/>
        </p:nvSpPr>
        <p:spPr>
          <a:xfrm>
            <a:off x="749808" y="1517904"/>
            <a:ext cx="5248656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A821373-E80C-F62C-8DC3-A70C44A92E19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Факторы, которые нельзя пропустить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ACFFC-6E93-E8F2-2BD6-B76776351DB5}"/>
              </a:ext>
            </a:extLst>
          </p:cNvPr>
          <p:cNvSpPr txBox="1"/>
          <p:nvPr/>
        </p:nvSpPr>
        <p:spPr>
          <a:xfrm>
            <a:off x="1097280" y="2286000"/>
            <a:ext cx="4608576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Масса груза</a:t>
            </a:r>
          </a:p>
          <a:p>
            <a:r>
              <a:rPr lang="ru-RU" sz="1900">
                <a:solidFill>
                  <a:srgbClr val="2D3136"/>
                </a:solidFill>
              </a:rPr>
              <a:t>• Габариты</a:t>
            </a:r>
          </a:p>
          <a:p>
            <a:r>
              <a:rPr lang="ru-RU" sz="1900">
                <a:solidFill>
                  <a:srgbClr val="2D3136"/>
                </a:solidFill>
              </a:rPr>
              <a:t>• Центр тяжести</a:t>
            </a:r>
          </a:p>
          <a:p>
            <a:r>
              <a:rPr lang="ru-RU" sz="1900">
                <a:solidFill>
                  <a:srgbClr val="2D3136"/>
                </a:solidFill>
              </a:rPr>
              <a:t>• Маркировка и знаки</a:t>
            </a:r>
          </a:p>
          <a:p>
            <a:r>
              <a:rPr lang="ru-RU" sz="1900">
                <a:solidFill>
                  <a:srgbClr val="2D3136"/>
                </a:solidFill>
              </a:rPr>
              <a:t>• Неизвестная масса - стоп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86BBEA5-4AF0-FA8E-7299-A95E030A7F7E}"/>
              </a:ext>
            </a:extLst>
          </p:cNvPr>
          <p:cNvSpPr/>
          <p:nvPr/>
        </p:nvSpPr>
        <p:spPr>
          <a:xfrm>
            <a:off x="6345936" y="1517904"/>
            <a:ext cx="5010912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4274932-A1D2-7C69-13DE-2D6D494B285A}"/>
              </a:ext>
            </a:extLst>
          </p:cNvPr>
          <p:cNvSpPr/>
          <p:nvPr/>
        </p:nvSpPr>
        <p:spPr>
          <a:xfrm>
            <a:off x="6492240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Опорная схема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215FC29-85A7-A0C9-909C-867A5E35D48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67712"/>
            <a:ext cx="4462272" cy="2510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E67975-DB4D-3464-03C4-5787EBD0399D}"/>
              </a:ext>
            </a:extLst>
          </p:cNvPr>
          <p:cNvSpPr txBox="1"/>
          <p:nvPr/>
        </p:nvSpPr>
        <p:spPr>
          <a:xfrm>
            <a:off x="6638544" y="4942332"/>
            <a:ext cx="44256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Готовый visual asset уже показывает главный риск: смещенный центр тяжести сразу меняет поведение груза.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F9B9B691-AD4E-8555-7E86-E576C6D34335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A7DC1E77-E41C-5412-CB6D-760FCC82E769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160522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AEDE806-E321-F13D-5123-D46691F49A1B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CCED94-3E5A-D24F-2071-4FF0EFBF76A2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Стропы и приспособления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1D5D7-B788-D61D-B89A-95C81638E30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Средство выбирают под задачу, а не на глаз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701CC4D-B2E8-67EE-CAB8-EBF1E636C719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S013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1D70FE0-90C3-4171-E3F2-04E797C5FFFF}"/>
              </a:ext>
            </a:extLst>
          </p:cNvPr>
          <p:cNvSpPr/>
          <p:nvPr/>
        </p:nvSpPr>
        <p:spPr>
          <a:xfrm>
            <a:off x="749808" y="1517904"/>
            <a:ext cx="2743200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37866A8-E017-CDE3-074A-2E615D83DB70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нужно различать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94EFE-E462-C26C-219B-71356F27C67E}"/>
              </a:ext>
            </a:extLst>
          </p:cNvPr>
          <p:cNvSpPr txBox="1"/>
          <p:nvPr/>
        </p:nvSpPr>
        <p:spPr>
          <a:xfrm>
            <a:off x="1097280" y="2286000"/>
            <a:ext cx="2103120" cy="21390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Канатные стропы</a:t>
            </a:r>
          </a:p>
          <a:p>
            <a:r>
              <a:rPr lang="ru-RU" sz="1900">
                <a:solidFill>
                  <a:srgbClr val="2D3136"/>
                </a:solidFill>
              </a:rPr>
              <a:t>• Цепные стропы</a:t>
            </a:r>
          </a:p>
          <a:p>
            <a:r>
              <a:rPr lang="ru-RU" sz="1900">
                <a:solidFill>
                  <a:srgbClr val="2D3136"/>
                </a:solidFill>
              </a:rPr>
              <a:t>• Текстильные стропы</a:t>
            </a:r>
          </a:p>
          <a:p>
            <a:r>
              <a:rPr lang="ru-RU" sz="1900">
                <a:solidFill>
                  <a:srgbClr val="2D3136"/>
                </a:solidFill>
              </a:rPr>
              <a:t>• Грузозахватные приспособления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4C8EB05-AFD1-45EC-3F2E-EEAB3374F9AD}"/>
              </a:ext>
            </a:extLst>
          </p:cNvPr>
          <p:cNvSpPr/>
          <p:nvPr/>
        </p:nvSpPr>
        <p:spPr>
          <a:xfrm>
            <a:off x="3712464" y="1627632"/>
            <a:ext cx="187452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ED8C78D-9290-6E3D-9FB9-5D2312439895}"/>
              </a:ext>
            </a:extLst>
          </p:cNvPr>
          <p:cNvSpPr/>
          <p:nvPr/>
        </p:nvSpPr>
        <p:spPr>
          <a:xfrm>
            <a:off x="3877056" y="1792224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A8021-15C5-B735-06C0-BC3B6618220D}"/>
              </a:ext>
            </a:extLst>
          </p:cNvPr>
          <p:cNvSpPr txBox="1"/>
          <p:nvPr/>
        </p:nvSpPr>
        <p:spPr>
          <a:xfrm>
            <a:off x="4462272" y="1792224"/>
            <a:ext cx="914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Канатные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C84AF-7F66-242B-51BB-B6CA5CA8393C}"/>
              </a:ext>
            </a:extLst>
          </p:cNvPr>
          <p:cNvSpPr txBox="1"/>
          <p:nvPr/>
        </p:nvSpPr>
        <p:spPr>
          <a:xfrm>
            <a:off x="3877056" y="2304288"/>
            <a:ext cx="1545336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Универсальный рабочий вариант, важен осмотр и состояние ветвей.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0AE10BB-7469-4C43-831F-3A5A46FB8A6C}"/>
              </a:ext>
            </a:extLst>
          </p:cNvPr>
          <p:cNvSpPr/>
          <p:nvPr/>
        </p:nvSpPr>
        <p:spPr>
          <a:xfrm>
            <a:off x="5742432" y="1627632"/>
            <a:ext cx="187452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F4928CA9-31FD-9D41-DCB4-697467C96A51}"/>
              </a:ext>
            </a:extLst>
          </p:cNvPr>
          <p:cNvSpPr/>
          <p:nvPr/>
        </p:nvSpPr>
        <p:spPr>
          <a:xfrm>
            <a:off x="5907024" y="1792224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02E98-D3B7-3355-7288-C6D9F8B86ADA}"/>
              </a:ext>
            </a:extLst>
          </p:cNvPr>
          <p:cNvSpPr txBox="1"/>
          <p:nvPr/>
        </p:nvSpPr>
        <p:spPr>
          <a:xfrm>
            <a:off x="6492240" y="1792224"/>
            <a:ext cx="914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Цепные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F548FF-1CB5-4241-0291-8FE2B331DAE3}"/>
              </a:ext>
            </a:extLst>
          </p:cNvPr>
          <p:cNvSpPr txBox="1"/>
          <p:nvPr/>
        </p:nvSpPr>
        <p:spPr>
          <a:xfrm>
            <a:off x="5907024" y="2304288"/>
            <a:ext cx="154533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Хороши для жестких условий и тяжелых грузов.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F0ADA7A-F799-00EF-A0B9-5EB3ED7F0EF5}"/>
              </a:ext>
            </a:extLst>
          </p:cNvPr>
          <p:cNvSpPr/>
          <p:nvPr/>
        </p:nvSpPr>
        <p:spPr>
          <a:xfrm>
            <a:off x="7772400" y="1627632"/>
            <a:ext cx="187452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92B2B483-AED5-606B-3874-50E95964623E}"/>
              </a:ext>
            </a:extLst>
          </p:cNvPr>
          <p:cNvSpPr/>
          <p:nvPr/>
        </p:nvSpPr>
        <p:spPr>
          <a:xfrm>
            <a:off x="7936992" y="1792224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630D3D-743C-7179-9CC9-D166AA1FB56E}"/>
              </a:ext>
            </a:extLst>
          </p:cNvPr>
          <p:cNvSpPr txBox="1"/>
          <p:nvPr/>
        </p:nvSpPr>
        <p:spPr>
          <a:xfrm>
            <a:off x="8522208" y="1792224"/>
            <a:ext cx="914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Текстильные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2E27CE-EE07-7064-F732-608F2ED1CEAE}"/>
              </a:ext>
            </a:extLst>
          </p:cNvPr>
          <p:cNvSpPr txBox="1"/>
          <p:nvPr/>
        </p:nvSpPr>
        <p:spPr>
          <a:xfrm>
            <a:off x="7936992" y="2304288"/>
            <a:ext cx="1545336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Нужны там, где важна бережная работа с поверхностью.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9791D5A-8F22-B4A3-2421-83CC5CA391F9}"/>
              </a:ext>
            </a:extLst>
          </p:cNvPr>
          <p:cNvSpPr/>
          <p:nvPr/>
        </p:nvSpPr>
        <p:spPr>
          <a:xfrm>
            <a:off x="9802368" y="1627632"/>
            <a:ext cx="1444752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0EDF87B3-35C1-4664-3CC0-E50660D8AB16}"/>
              </a:ext>
            </a:extLst>
          </p:cNvPr>
          <p:cNvSpPr/>
          <p:nvPr/>
        </p:nvSpPr>
        <p:spPr>
          <a:xfrm>
            <a:off x="9966960" y="1792224"/>
            <a:ext cx="438912" cy="438912"/>
          </a:xfrm>
          <a:prstGeom prst="ellipse">
            <a:avLst/>
          </a:prstGeom>
          <a:solidFill>
            <a:srgbClr val="CF8D3E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BDFC69-E00B-920A-42AB-A1A405AA438B}"/>
              </a:ext>
            </a:extLst>
          </p:cNvPr>
          <p:cNvSpPr txBox="1"/>
          <p:nvPr/>
        </p:nvSpPr>
        <p:spPr>
          <a:xfrm>
            <a:off x="10552176" y="1792224"/>
            <a:ext cx="484632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CF8D3E"/>
                </a:solidFill>
              </a:rPr>
              <a:t>Оснастка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C4E8A6-E49C-231A-7719-3A5A9D635CFA}"/>
              </a:ext>
            </a:extLst>
          </p:cNvPr>
          <p:cNvSpPr txBox="1"/>
          <p:nvPr/>
        </p:nvSpPr>
        <p:spPr>
          <a:xfrm>
            <a:off x="9966960" y="2304288"/>
            <a:ext cx="1115568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Траверсы, захваты, скобы и другие решения под конкретную задачу.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DCDD76E1-E261-BE62-AE48-F2BA9255172A}"/>
              </a:ext>
            </a:extLst>
          </p:cNvPr>
          <p:cNvSpPr/>
          <p:nvPr/>
        </p:nvSpPr>
        <p:spPr>
          <a:xfrm>
            <a:off x="3712464" y="3803904"/>
            <a:ext cx="7534656" cy="1444752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78200F00-641C-6CD3-B0BD-23D5F7CBF866}"/>
              </a:ext>
            </a:extLst>
          </p:cNvPr>
          <p:cNvSpPr/>
          <p:nvPr/>
        </p:nvSpPr>
        <p:spPr>
          <a:xfrm>
            <a:off x="3858768" y="3950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Ключевой вывод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AB2659-A4B5-94A1-9149-D52EF253B989}"/>
              </a:ext>
            </a:extLst>
          </p:cNvPr>
          <p:cNvSpPr txBox="1"/>
          <p:nvPr/>
        </p:nvSpPr>
        <p:spPr>
          <a:xfrm>
            <a:off x="4059936" y="4572000"/>
            <a:ext cx="6894576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Выбор зависит от массы, формы груза и условий работы.</a:t>
            </a:r>
          </a:p>
          <a:p>
            <a:r>
              <a:rPr lang="ru-RU" sz="1900">
                <a:solidFill>
                  <a:srgbClr val="2D3136"/>
                </a:solidFill>
              </a:rPr>
              <a:t>• Перед использованием средство не только выбирают, но и обязательно осматривают.</a:t>
            </a:r>
          </a:p>
        </p:txBody>
      </p:sp>
      <p:sp>
        <p:nvSpPr>
          <p:cNvPr id="28" name="Прямоугольник: скругленные углы 27">
            <a:hlinkClick r:id="rId2" action="ppaction://hlinksldjump"/>
            <a:extLst>
              <a:ext uri="{FF2B5EF4-FFF2-40B4-BE49-F238E27FC236}">
                <a16:creationId xmlns:a16="http://schemas.microsoft.com/office/drawing/2014/main" id="{53AE3339-3688-4350-7EFF-A12283D0E9E7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9" name="Прямоугольник: скругленные углы 28">
            <a:hlinkClick r:id="rId3" action="ppaction://hlinksldjump"/>
            <a:extLst>
              <a:ext uri="{FF2B5EF4-FFF2-40B4-BE49-F238E27FC236}">
                <a16:creationId xmlns:a16="http://schemas.microsoft.com/office/drawing/2014/main" id="{1FEF4641-CAFF-B171-5A26-DA281AE8AB7F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958101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9D67E64-F851-8685-50CD-98DEF21ED03F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DB986-76B1-AF64-397C-5C947C1D11F5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Что проверять перед использованием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71D4F-6DA8-68DB-458D-4FD1EB9C77C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Осмотр - это часть допуска к работе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8B7D102-4DE7-2CC5-AD87-BEC1BBBEF86F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S014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A033719-38DB-320B-B22B-F19D5F6107D2}"/>
              </a:ext>
            </a:extLst>
          </p:cNvPr>
          <p:cNvSpPr/>
          <p:nvPr/>
        </p:nvSpPr>
        <p:spPr>
          <a:xfrm>
            <a:off x="749808" y="1517904"/>
            <a:ext cx="5212080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E438A74-F51F-B067-861E-CF86B35C2BCD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Перед подъемом обязательно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9F5A5-E023-610E-CD78-8B7C219161B6}"/>
              </a:ext>
            </a:extLst>
          </p:cNvPr>
          <p:cNvSpPr txBox="1"/>
          <p:nvPr/>
        </p:nvSpPr>
        <p:spPr>
          <a:xfrm>
            <a:off x="1097280" y="2286000"/>
            <a:ext cx="45720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Осмотреть строп или приспособление.</a:t>
            </a:r>
          </a:p>
          <a:p>
            <a:r>
              <a:rPr lang="ru-RU" sz="1900">
                <a:solidFill>
                  <a:srgbClr val="2D3136"/>
                </a:solidFill>
              </a:rPr>
              <a:t>• Проверить бирку и маркировку.</a:t>
            </a:r>
          </a:p>
          <a:p>
            <a:r>
              <a:rPr lang="ru-RU" sz="1900">
                <a:solidFill>
                  <a:srgbClr val="2D3136"/>
                </a:solidFill>
              </a:rPr>
              <a:t>• Убедиться, что нет повреждений и износа.</a:t>
            </a:r>
          </a:p>
          <a:p>
            <a:r>
              <a:rPr lang="ru-RU" sz="1900">
                <a:solidFill>
                  <a:srgbClr val="2D3136"/>
                </a:solidFill>
              </a:rPr>
              <a:t>• Неисправное - не использовать.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AB572AD-4963-7789-3418-196B8D7B3447}"/>
              </a:ext>
            </a:extLst>
          </p:cNvPr>
          <p:cNvSpPr/>
          <p:nvPr/>
        </p:nvSpPr>
        <p:spPr>
          <a:xfrm>
            <a:off x="6345936" y="1517904"/>
            <a:ext cx="5010912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AE7EFD2-98DB-1977-CA64-78B6BE4871DE}"/>
              </a:ext>
            </a:extLst>
          </p:cNvPr>
          <p:cNvSpPr/>
          <p:nvPr/>
        </p:nvSpPr>
        <p:spPr>
          <a:xfrm>
            <a:off x="6492240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Опорный экран осмотра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3B65506-F406-374F-46F2-1CB3769DB03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67712"/>
            <a:ext cx="4462272" cy="2510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54F19E-E254-A9F8-C810-73F3CF70F23A}"/>
              </a:ext>
            </a:extLst>
          </p:cNvPr>
          <p:cNvSpPr txBox="1"/>
          <p:nvPr/>
        </p:nvSpPr>
        <p:spPr>
          <a:xfrm>
            <a:off x="6638544" y="4942332"/>
            <a:ext cx="44256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Экран осмотра уже можно использовать как рабочий визуальный каркас для линейного объяснения.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C8526A81-904C-7BCB-7222-5BD59A5ACBF3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4C2F3BA1-5553-8683-FC9E-FAD3BDC72191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184104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839A8-6E88-569B-DA89-DB8F8E4C7414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66332-2E5F-0E70-EB41-0FE307951053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Правила строповки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32231-C769-53D9-7600-70ECDBFC695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Правильная зацепка начинается с дисциплины схемы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5FD77BC-FBD2-092C-EBA2-A01A22635B2D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S015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731E538-567E-8BED-27A5-86A1B016FEA6}"/>
              </a:ext>
            </a:extLst>
          </p:cNvPr>
          <p:cNvSpPr/>
          <p:nvPr/>
        </p:nvSpPr>
        <p:spPr>
          <a:xfrm>
            <a:off x="749808" y="1645920"/>
            <a:ext cx="3419856" cy="1883664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35DF037B-5199-5826-9833-82369B91817E}"/>
              </a:ext>
            </a:extLst>
          </p:cNvPr>
          <p:cNvSpPr/>
          <p:nvPr/>
        </p:nvSpPr>
        <p:spPr>
          <a:xfrm>
            <a:off x="914400" y="1810512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3572D-DF50-9C4E-D3BE-7C0540F37091}"/>
              </a:ext>
            </a:extLst>
          </p:cNvPr>
          <p:cNvSpPr txBox="1"/>
          <p:nvPr/>
        </p:nvSpPr>
        <p:spPr>
          <a:xfrm>
            <a:off x="1499616" y="1810512"/>
            <a:ext cx="2459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Точка зацепки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950E9-9C93-BE47-FC44-E05D535C3CBF}"/>
              </a:ext>
            </a:extLst>
          </p:cNvPr>
          <p:cNvSpPr txBox="1"/>
          <p:nvPr/>
        </p:nvSpPr>
        <p:spPr>
          <a:xfrm>
            <a:off x="914400" y="2322576"/>
            <a:ext cx="30906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Выбираем понятную и безопасную точку, а не случайный удобный хват.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6FBB340-06C1-05CB-E4EF-0FED3445D6F7}"/>
              </a:ext>
            </a:extLst>
          </p:cNvPr>
          <p:cNvSpPr/>
          <p:nvPr/>
        </p:nvSpPr>
        <p:spPr>
          <a:xfrm>
            <a:off x="4370832" y="1645920"/>
            <a:ext cx="3419856" cy="1883664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62375B8-0CEA-2CFE-E830-69FFF3B2BE00}"/>
              </a:ext>
            </a:extLst>
          </p:cNvPr>
          <p:cNvSpPr/>
          <p:nvPr/>
        </p:nvSpPr>
        <p:spPr>
          <a:xfrm>
            <a:off x="4535424" y="1810512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03F2EC-3325-B493-6BF2-05796655E2D8}"/>
              </a:ext>
            </a:extLst>
          </p:cNvPr>
          <p:cNvSpPr txBox="1"/>
          <p:nvPr/>
        </p:nvSpPr>
        <p:spPr>
          <a:xfrm>
            <a:off x="5120640" y="1810512"/>
            <a:ext cx="2459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Схема строповки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FC0F0-AAA8-C403-9E55-F1F886639E09}"/>
              </a:ext>
            </a:extLst>
          </p:cNvPr>
          <p:cNvSpPr txBox="1"/>
          <p:nvPr/>
        </p:nvSpPr>
        <p:spPr>
          <a:xfrm>
            <a:off x="4535424" y="2322576"/>
            <a:ext cx="30906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Работаем по схеме, а не по привычке или похожему варианту.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3166C3-5858-C05B-66C5-04DB6639E230}"/>
              </a:ext>
            </a:extLst>
          </p:cNvPr>
          <p:cNvSpPr/>
          <p:nvPr/>
        </p:nvSpPr>
        <p:spPr>
          <a:xfrm>
            <a:off x="7991856" y="1645920"/>
            <a:ext cx="3236976" cy="1883664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7D8D491-F2D4-977A-0AEB-199F3BBA28F2}"/>
              </a:ext>
            </a:extLst>
          </p:cNvPr>
          <p:cNvSpPr/>
          <p:nvPr/>
        </p:nvSpPr>
        <p:spPr>
          <a:xfrm>
            <a:off x="8156448" y="1810512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920C84-84E5-B93B-8BDE-3D4DD23B6295}"/>
              </a:ext>
            </a:extLst>
          </p:cNvPr>
          <p:cNvSpPr txBox="1"/>
          <p:nvPr/>
        </p:nvSpPr>
        <p:spPr>
          <a:xfrm>
            <a:off x="8741664" y="1810512"/>
            <a:ext cx="227685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Без случайной обвязки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1466A2-041C-954A-6A00-4ADAC86BDB6B}"/>
              </a:ext>
            </a:extLst>
          </p:cNvPr>
          <p:cNvSpPr txBox="1"/>
          <p:nvPr/>
        </p:nvSpPr>
        <p:spPr>
          <a:xfrm>
            <a:off x="8156448" y="2322576"/>
            <a:ext cx="290779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Если схема вызывает сомнение, ее нельзя считать допустимой.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BBF7E4-587F-B34F-BD12-CBA8EE832EA2}"/>
              </a:ext>
            </a:extLst>
          </p:cNvPr>
          <p:cNvSpPr/>
          <p:nvPr/>
        </p:nvSpPr>
        <p:spPr>
          <a:xfrm>
            <a:off x="749808" y="3858768"/>
            <a:ext cx="10479024" cy="1572768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2096F72-E831-EB11-9EC2-BA121CE4AE87}"/>
              </a:ext>
            </a:extLst>
          </p:cNvPr>
          <p:cNvSpPr/>
          <p:nvPr/>
        </p:nvSpPr>
        <p:spPr>
          <a:xfrm>
            <a:off x="896112" y="4005072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Главный смысл экрана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93EF1-5738-F6A9-FC93-978B73AB5E35}"/>
              </a:ext>
            </a:extLst>
          </p:cNvPr>
          <p:cNvSpPr txBox="1"/>
          <p:nvPr/>
        </p:nvSpPr>
        <p:spPr>
          <a:xfrm>
            <a:off x="1097280" y="4626864"/>
            <a:ext cx="9838944" cy="6771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Безопасность рушится в тот момент, когда зацепку принимают на глаз.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Правило простое: понятная точка, проверенная схема, никакой самодеятельности.</a:t>
            </a:r>
          </a:p>
        </p:txBody>
      </p:sp>
      <p:sp>
        <p:nvSpPr>
          <p:cNvPr id="21" name="Прямоугольник: скругленные углы 20">
            <a:hlinkClick r:id="rId2" action="ppaction://hlinksldjump"/>
            <a:extLst>
              <a:ext uri="{FF2B5EF4-FFF2-40B4-BE49-F238E27FC236}">
                <a16:creationId xmlns:a16="http://schemas.microsoft.com/office/drawing/2014/main" id="{CC5D7914-FE12-6BF9-A316-351ADF96346E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2" name="Прямоугольник: скругленные углы 21">
            <a:hlinkClick r:id="rId3" action="ppaction://hlinksldjump"/>
            <a:extLst>
              <a:ext uri="{FF2B5EF4-FFF2-40B4-BE49-F238E27FC236}">
                <a16:creationId xmlns:a16="http://schemas.microsoft.com/office/drawing/2014/main" id="{BE690D38-4995-9C8F-EEE9-0764172396EB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721048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F5ED12F-10D8-F9E8-A3F5-D6CD388F023F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C28B12-82C9-12A0-AC1B-910AFAE866F9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Запреты и риски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A1457-FCF2-8BC4-FD48-7929A83744A2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Где схема внешне выглядит рабочей, но уже опасна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EE7A120-7BE5-5202-D1C9-E5D857E17A84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S016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7610DA9-DC37-7DD1-DBFC-0CB81212A56F}"/>
              </a:ext>
            </a:extLst>
          </p:cNvPr>
          <p:cNvSpPr/>
          <p:nvPr/>
        </p:nvSpPr>
        <p:spPr>
          <a:xfrm>
            <a:off x="749808" y="1517904"/>
            <a:ext cx="517550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CDA394E-E075-0DB8-90A3-B2E6C41D5841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Нагрузка на ветви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7161BD-30B1-0EA6-064B-D751CDD84F4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67712"/>
            <a:ext cx="4626864" cy="2602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6A372B-2454-E91C-7C3E-9DC11D31C043}"/>
              </a:ext>
            </a:extLst>
          </p:cNvPr>
          <p:cNvSpPr txBox="1"/>
          <p:nvPr/>
        </p:nvSpPr>
        <p:spPr>
          <a:xfrm>
            <a:off x="1042416" y="5034915"/>
            <a:ext cx="4590288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Готовая схема помогает объяснить, почему угол между ветвями нельзя игнорировать.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C2E2462-4EB1-155A-0B0A-C4186E90A8C4}"/>
              </a:ext>
            </a:extLst>
          </p:cNvPr>
          <p:cNvSpPr/>
          <p:nvPr/>
        </p:nvSpPr>
        <p:spPr>
          <a:xfrm>
            <a:off x="6327648" y="1517904"/>
            <a:ext cx="5029200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20C7D95-6311-A11E-AC3D-21D920A27B2E}"/>
              </a:ext>
            </a:extLst>
          </p:cNvPr>
          <p:cNvSpPr/>
          <p:nvPr/>
        </p:nvSpPr>
        <p:spPr>
          <a:xfrm>
            <a:off x="647395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нельзя пропускать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2C6089-1558-286F-DA66-BA19D36C8663}"/>
              </a:ext>
            </a:extLst>
          </p:cNvPr>
          <p:cNvSpPr txBox="1"/>
          <p:nvPr/>
        </p:nvSpPr>
        <p:spPr>
          <a:xfrm>
            <a:off x="6675120" y="2286000"/>
            <a:ext cx="4389120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Угол между ветвями влияет на нагрузку.</a:t>
            </a:r>
          </a:p>
          <a:p>
            <a:r>
              <a:rPr lang="ru-RU" sz="1900">
                <a:solidFill>
                  <a:srgbClr val="2D3136"/>
                </a:solidFill>
              </a:rPr>
              <a:t>• Острые ребра требуют защиты стропа.</a:t>
            </a:r>
          </a:p>
          <a:p>
            <a:r>
              <a:rPr lang="ru-RU" sz="1900">
                <a:solidFill>
                  <a:srgbClr val="2D3136"/>
                </a:solidFill>
              </a:rPr>
              <a:t>• Опасная зацепка не становится нормой, даже если раньше так делали.</a:t>
            </a:r>
          </a:p>
          <a:p>
            <a:r>
              <a:rPr lang="ru-RU" sz="1900">
                <a:solidFill>
                  <a:srgbClr val="2D3136"/>
                </a:solidFill>
              </a:rPr>
              <a:t>• При риске - стоп.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887F88EB-2868-7ADF-B432-77F222341685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70601F3E-9EC3-07D2-40D0-5840FC9DFA88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625982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C78F7CE-0D19-61F3-FF15-7CB670007440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B37681-BFDD-4CD2-ADBD-38DDF0495B51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Проверка схемы строповки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D8BD3-C41C-8A7A-C365-B0AFA672C52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Перед сигналом должна быть короткая, но обязательная проверка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ABA2462-F64B-FD4D-2146-741F0523949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S017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2CC4FE-6244-E3FE-A2D5-F6F8F876822A}"/>
              </a:ext>
            </a:extLst>
          </p:cNvPr>
          <p:cNvSpPr/>
          <p:nvPr/>
        </p:nvSpPr>
        <p:spPr>
          <a:xfrm>
            <a:off x="749808" y="1517904"/>
            <a:ext cx="5248656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59CADBE-467C-031E-9167-D3CDE05C716B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Проверка по шагам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DC043C5-D1ED-C4F2-552C-60B0B19BCD48}"/>
              </a:ext>
            </a:extLst>
          </p:cNvPr>
          <p:cNvSpPr/>
          <p:nvPr/>
        </p:nvSpPr>
        <p:spPr>
          <a:xfrm>
            <a:off x="987552" y="2066544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C3FBDC0-0B14-DFA0-A300-6095DDFB89BD}"/>
              </a:ext>
            </a:extLst>
          </p:cNvPr>
          <p:cNvSpPr/>
          <p:nvPr/>
        </p:nvSpPr>
        <p:spPr>
          <a:xfrm>
            <a:off x="1133856" y="2148840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94E6B-7DA6-0CCA-1DD8-E1A02FF71E10}"/>
              </a:ext>
            </a:extLst>
          </p:cNvPr>
          <p:cNvSpPr txBox="1"/>
          <p:nvPr/>
        </p:nvSpPr>
        <p:spPr>
          <a:xfrm>
            <a:off x="1719072" y="2212848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массу груза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52D3ED4-66E1-76EF-E2DC-DCEF3935B03E}"/>
              </a:ext>
            </a:extLst>
          </p:cNvPr>
          <p:cNvSpPr/>
          <p:nvPr/>
        </p:nvSpPr>
        <p:spPr>
          <a:xfrm>
            <a:off x="987552" y="2779776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C8AC02E9-C2A2-758A-5576-7AF62874D81C}"/>
              </a:ext>
            </a:extLst>
          </p:cNvPr>
          <p:cNvSpPr/>
          <p:nvPr/>
        </p:nvSpPr>
        <p:spPr>
          <a:xfrm>
            <a:off x="1133856" y="2862072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86F581-08D0-CCD7-BB7C-5364E12F047C}"/>
              </a:ext>
            </a:extLst>
          </p:cNvPr>
          <p:cNvSpPr txBox="1"/>
          <p:nvPr/>
        </p:nvSpPr>
        <p:spPr>
          <a:xfrm>
            <a:off x="1719072" y="2926080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схему строповки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71B6896-C914-FD48-926D-6DFF3F22AECF}"/>
              </a:ext>
            </a:extLst>
          </p:cNvPr>
          <p:cNvSpPr/>
          <p:nvPr/>
        </p:nvSpPr>
        <p:spPr>
          <a:xfrm>
            <a:off x="987552" y="3493008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D2566A10-2082-EFF7-0944-ECB26285CECC}"/>
              </a:ext>
            </a:extLst>
          </p:cNvPr>
          <p:cNvSpPr/>
          <p:nvPr/>
        </p:nvSpPr>
        <p:spPr>
          <a:xfrm>
            <a:off x="1133856" y="3575304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4BD8AF-F9EE-4216-2A40-009F7DFBBE1A}"/>
              </a:ext>
            </a:extLst>
          </p:cNvPr>
          <p:cNvSpPr txBox="1"/>
          <p:nvPr/>
        </p:nvSpPr>
        <p:spPr>
          <a:xfrm>
            <a:off x="1719072" y="3639312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устойчивость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4B275D4-DB0E-A3F5-232F-996697C7D9D9}"/>
              </a:ext>
            </a:extLst>
          </p:cNvPr>
          <p:cNvSpPr/>
          <p:nvPr/>
        </p:nvSpPr>
        <p:spPr>
          <a:xfrm>
            <a:off x="987552" y="4206240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0620E879-7E64-2F5A-1053-31C50E3C45DB}"/>
              </a:ext>
            </a:extLst>
          </p:cNvPr>
          <p:cNvSpPr/>
          <p:nvPr/>
        </p:nvSpPr>
        <p:spPr>
          <a:xfrm>
            <a:off x="1133856" y="4288536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6D7E9-EE18-D33E-F4FB-9C8044F1E9D4}"/>
              </a:ext>
            </a:extLst>
          </p:cNvPr>
          <p:cNvSpPr txBox="1"/>
          <p:nvPr/>
        </p:nvSpPr>
        <p:spPr>
          <a:xfrm>
            <a:off x="1719072" y="4352544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стропы и приспособления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27B57E8-8477-97C6-97B1-07CFE5D240BB}"/>
              </a:ext>
            </a:extLst>
          </p:cNvPr>
          <p:cNvSpPr/>
          <p:nvPr/>
        </p:nvSpPr>
        <p:spPr>
          <a:xfrm>
            <a:off x="6345936" y="1517904"/>
            <a:ext cx="5010912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331B2B1-D398-60CA-BE04-CD1E1D13D7DE}"/>
              </a:ext>
            </a:extLst>
          </p:cNvPr>
          <p:cNvSpPr/>
          <p:nvPr/>
        </p:nvSpPr>
        <p:spPr>
          <a:xfrm>
            <a:off x="6492240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Опорная последовательность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8939811-CFF6-5D44-9ADA-D663135143D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67712"/>
            <a:ext cx="4462272" cy="251002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7A2C84A-65AE-3DF9-34EC-A7EF0DFF11FD}"/>
              </a:ext>
            </a:extLst>
          </p:cNvPr>
          <p:cNvSpPr txBox="1"/>
          <p:nvPr/>
        </p:nvSpPr>
        <p:spPr>
          <a:xfrm>
            <a:off x="6638544" y="4942332"/>
            <a:ext cx="44256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Сначала схема и проверка, потом сигнал и только затем подъем.</a:t>
            </a:r>
          </a:p>
        </p:txBody>
      </p:sp>
      <p:sp>
        <p:nvSpPr>
          <p:cNvPr id="25" name="Прямоугольник: скругленные углы 24">
            <a:hlinkClick r:id="rId3" action="ppaction://hlinksldjump"/>
            <a:extLst>
              <a:ext uri="{FF2B5EF4-FFF2-40B4-BE49-F238E27FC236}">
                <a16:creationId xmlns:a16="http://schemas.microsoft.com/office/drawing/2014/main" id="{0CC1D79C-0DBC-0F72-DCBC-AE88C7895010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Прямоугольник: скругленные углы 25">
            <a:hlinkClick r:id="rId4" action="ppaction://hlinksldjump"/>
            <a:extLst>
              <a:ext uri="{FF2B5EF4-FFF2-40B4-BE49-F238E27FC236}">
                <a16:creationId xmlns:a16="http://schemas.microsoft.com/office/drawing/2014/main" id="{9EAAAC33-84DB-C7E2-BA29-6036DDDE43F4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014751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86F5B27-4DB2-0749-2508-E2E4403AAF46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8AEE2-8904-E987-2BED-ECBC6A694167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Когда работу нужно остановить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BDA460-8F4F-86FD-3C55-5427B75344F2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Стоп - это обязанность, а не пауза из осторожности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65146C3-06F6-8932-C4CD-5521706732A4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S018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E248476-F528-254C-E19E-79096F9277B2}"/>
              </a:ext>
            </a:extLst>
          </p:cNvPr>
          <p:cNvSpPr/>
          <p:nvPr/>
        </p:nvSpPr>
        <p:spPr>
          <a:xfrm>
            <a:off x="749808" y="1517904"/>
            <a:ext cx="5230368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3507644-04C2-71F8-8E37-9D86BFF1A022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Сигналы на остановку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0AA90-EB86-3DE9-83AB-8D8B379EF80D}"/>
              </a:ext>
            </a:extLst>
          </p:cNvPr>
          <p:cNvSpPr txBox="1"/>
          <p:nvPr/>
        </p:nvSpPr>
        <p:spPr>
          <a:xfrm>
            <a:off x="1097280" y="2286000"/>
            <a:ext cx="4590288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Неясна масса груза.</a:t>
            </a:r>
          </a:p>
          <a:p>
            <a:r>
              <a:rPr lang="ru-RU" sz="1900">
                <a:solidFill>
                  <a:srgbClr val="2D3136"/>
                </a:solidFill>
              </a:rPr>
              <a:t>• Нет надежной схемы.</a:t>
            </a:r>
          </a:p>
          <a:p>
            <a:r>
              <a:rPr lang="ru-RU" sz="1900">
                <a:solidFill>
                  <a:srgbClr val="2D3136"/>
                </a:solidFill>
              </a:rPr>
              <a:t>• Есть риск перекоса или разворота.</a:t>
            </a:r>
          </a:p>
          <a:p>
            <a:r>
              <a:rPr lang="ru-RU" sz="1900">
                <a:solidFill>
                  <a:srgbClr val="2D3136"/>
                </a:solidFill>
              </a:rPr>
              <a:t>• Оснастка неисправна.</a:t>
            </a:r>
          </a:p>
          <a:p>
            <a:r>
              <a:rPr lang="ru-RU" sz="1900">
                <a:solidFill>
                  <a:srgbClr val="2D3136"/>
                </a:solidFill>
              </a:rPr>
              <a:t>• Опасность заметили раньше, чем груз пошел в движение.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3DF6F62-BB41-9957-ABFA-FD7CC23D5C12}"/>
              </a:ext>
            </a:extLst>
          </p:cNvPr>
          <p:cNvSpPr/>
          <p:nvPr/>
        </p:nvSpPr>
        <p:spPr>
          <a:xfrm>
            <a:off x="6364224" y="1517904"/>
            <a:ext cx="499262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EE57B3F-02D1-67B5-5DB9-D90035CD861A}"/>
              </a:ext>
            </a:extLst>
          </p:cNvPr>
          <p:cNvSpPr/>
          <p:nvPr/>
        </p:nvSpPr>
        <p:spPr>
          <a:xfrm>
            <a:off x="6510528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Опорный </a:t>
            </a:r>
            <a:r>
              <a:rPr lang="en-US" sz="1400" b="1">
                <a:solidFill>
                  <a:srgbClr val="FFFFFF"/>
                </a:solidFill>
              </a:rPr>
              <a:t>visual asset</a:t>
            </a:r>
            <a:endParaRPr lang="ru-RU" sz="1400" b="1">
              <a:solidFill>
                <a:srgbClr val="FFFFFF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54FEA1C-429C-163F-287C-1B912B82F9F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67712"/>
            <a:ext cx="4443984" cy="2499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8BD438-F42F-D427-D04A-C1201BFA004D}"/>
              </a:ext>
            </a:extLst>
          </p:cNvPr>
          <p:cNvSpPr txBox="1"/>
          <p:nvPr/>
        </p:nvSpPr>
        <p:spPr>
          <a:xfrm>
            <a:off x="6656832" y="4932045"/>
            <a:ext cx="4407408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Подъем не продолжают на сомнительной схеме: сначала устраняют риск, потом возобновляют работу.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FF0559E5-0186-5006-A905-ACD568285BC8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E44A36C7-8EC1-0B39-81EA-8499CEC44E0E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861121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0D41EA7-7237-56CC-071D-00A025BD8FB5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7DCE8-73B4-D81F-1997-1A0A83FF545C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Типовые схемы и ошибки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FABEC-E870-980A-2DB1-74225D14B5B7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Переход от правил к распознаванию опасных вариантов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657A1DA-73B6-FECB-44B9-FD1B244508F8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S019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821572C-9AF6-7138-10BA-DB974BDB3D97}"/>
              </a:ext>
            </a:extLst>
          </p:cNvPr>
          <p:cNvSpPr/>
          <p:nvPr/>
        </p:nvSpPr>
        <p:spPr>
          <a:xfrm>
            <a:off x="749808" y="1627632"/>
            <a:ext cx="250545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188C5DE2-86E6-A75D-4D01-DB1E4A530F17}"/>
              </a:ext>
            </a:extLst>
          </p:cNvPr>
          <p:cNvSpPr/>
          <p:nvPr/>
        </p:nvSpPr>
        <p:spPr>
          <a:xfrm>
            <a:off x="914400" y="1792224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8BAAF-18B3-A688-0AD4-38A2F60940FE}"/>
              </a:ext>
            </a:extLst>
          </p:cNvPr>
          <p:cNvSpPr txBox="1"/>
          <p:nvPr/>
        </p:nvSpPr>
        <p:spPr>
          <a:xfrm>
            <a:off x="1499616" y="1792224"/>
            <a:ext cx="154533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Длинномерные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6B2118-01CE-FDA5-006E-3B09F35DC0DB}"/>
              </a:ext>
            </a:extLst>
          </p:cNvPr>
          <p:cNvSpPr txBox="1"/>
          <p:nvPr/>
        </p:nvSpPr>
        <p:spPr>
          <a:xfrm>
            <a:off x="914400" y="2304288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Важно удержать баланс и исключить раскачивание.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089DB6F-A1AD-25AF-F968-B35B99ADFE16}"/>
              </a:ext>
            </a:extLst>
          </p:cNvPr>
          <p:cNvSpPr/>
          <p:nvPr/>
        </p:nvSpPr>
        <p:spPr>
          <a:xfrm>
            <a:off x="3456432" y="1627632"/>
            <a:ext cx="250545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8A0035EC-4719-BA27-843B-D073C191458D}"/>
              </a:ext>
            </a:extLst>
          </p:cNvPr>
          <p:cNvSpPr/>
          <p:nvPr/>
        </p:nvSpPr>
        <p:spPr>
          <a:xfrm>
            <a:off x="3621024" y="1792224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142F9B-37D9-6C2D-96AD-DD3201A2CDC8}"/>
              </a:ext>
            </a:extLst>
          </p:cNvPr>
          <p:cNvSpPr txBox="1"/>
          <p:nvPr/>
        </p:nvSpPr>
        <p:spPr>
          <a:xfrm>
            <a:off x="4206240" y="1792224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Железобетон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007449-BA5D-E9C6-19E5-EB2523333109}"/>
              </a:ext>
            </a:extLst>
          </p:cNvPr>
          <p:cNvSpPr txBox="1"/>
          <p:nvPr/>
        </p:nvSpPr>
        <p:spPr>
          <a:xfrm>
            <a:off x="3621024" y="2304288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Смотрим на массу, опоры и надежность зацепки.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5067E5A-0203-D8D6-C1DC-BEF5E498AAB2}"/>
              </a:ext>
            </a:extLst>
          </p:cNvPr>
          <p:cNvSpPr/>
          <p:nvPr/>
        </p:nvSpPr>
        <p:spPr>
          <a:xfrm>
            <a:off x="6163056" y="1627632"/>
            <a:ext cx="250545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94EB7CEB-FD7B-0E01-7D2D-8F253464AEF4}"/>
              </a:ext>
            </a:extLst>
          </p:cNvPr>
          <p:cNvSpPr/>
          <p:nvPr/>
        </p:nvSpPr>
        <p:spPr>
          <a:xfrm>
            <a:off x="6327648" y="1792224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48C66-4977-9F55-31A4-7990D0C311A9}"/>
              </a:ext>
            </a:extLst>
          </p:cNvPr>
          <p:cNvSpPr txBox="1"/>
          <p:nvPr/>
        </p:nvSpPr>
        <p:spPr>
          <a:xfrm>
            <a:off x="6912864" y="1792224"/>
            <a:ext cx="154533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Листовой металл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9BED38-FD93-DBA5-6685-9DC97B84B21C}"/>
              </a:ext>
            </a:extLst>
          </p:cNvPr>
          <p:cNvSpPr txBox="1"/>
          <p:nvPr/>
        </p:nvSpPr>
        <p:spPr>
          <a:xfrm>
            <a:off x="6327648" y="2304288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Особенно важны кромки и защита стропа.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AC37FA0-C376-15DB-9A7D-8C2BD8A812B1}"/>
              </a:ext>
            </a:extLst>
          </p:cNvPr>
          <p:cNvSpPr/>
          <p:nvPr/>
        </p:nvSpPr>
        <p:spPr>
          <a:xfrm>
            <a:off x="8869680" y="1627632"/>
            <a:ext cx="232257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212EF700-962C-83F3-ABFB-7B549F96929D}"/>
              </a:ext>
            </a:extLst>
          </p:cNvPr>
          <p:cNvSpPr/>
          <p:nvPr/>
        </p:nvSpPr>
        <p:spPr>
          <a:xfrm>
            <a:off x="9034272" y="1792224"/>
            <a:ext cx="438912" cy="438912"/>
          </a:xfrm>
          <a:prstGeom prst="ellipse">
            <a:avLst/>
          </a:prstGeom>
          <a:solidFill>
            <a:srgbClr val="CF8D3E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8D0CE3-98FF-50CA-9E77-81F63ED082B8}"/>
              </a:ext>
            </a:extLst>
          </p:cNvPr>
          <p:cNvSpPr txBox="1"/>
          <p:nvPr/>
        </p:nvSpPr>
        <p:spPr>
          <a:xfrm>
            <a:off x="9619488" y="1792224"/>
            <a:ext cx="1362456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CF8D3E"/>
                </a:solidFill>
              </a:rPr>
              <a:t>Трубы и оборудование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BC5395-39A3-1633-8805-505A6C1D1A2E}"/>
              </a:ext>
            </a:extLst>
          </p:cNvPr>
          <p:cNvSpPr txBox="1"/>
          <p:nvPr/>
        </p:nvSpPr>
        <p:spPr>
          <a:xfrm>
            <a:off x="9034272" y="2304288"/>
            <a:ext cx="1993392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Нужна проверенная схема и контроль устойчивости.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0B1A8E3-FEF0-70A2-9BD9-803AC7BBF91F}"/>
              </a:ext>
            </a:extLst>
          </p:cNvPr>
          <p:cNvSpPr/>
          <p:nvPr/>
        </p:nvSpPr>
        <p:spPr>
          <a:xfrm>
            <a:off x="749808" y="3694176"/>
            <a:ext cx="10442448" cy="1719072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B69C7D7-C2DF-C888-D743-9CB244BC7479}"/>
              </a:ext>
            </a:extLst>
          </p:cNvPr>
          <p:cNvSpPr/>
          <p:nvPr/>
        </p:nvSpPr>
        <p:spPr>
          <a:xfrm>
            <a:off x="896112" y="384048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должен сделать этот экран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756265-36CD-95DF-48E4-3676003555B9}"/>
              </a:ext>
            </a:extLst>
          </p:cNvPr>
          <p:cNvSpPr txBox="1"/>
          <p:nvPr/>
        </p:nvSpPr>
        <p:spPr>
          <a:xfrm>
            <a:off x="1097280" y="4462272"/>
            <a:ext cx="9802368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Связать правила темы с реальными примерами схем.</a:t>
            </a:r>
          </a:p>
          <a:p>
            <a:r>
              <a:rPr lang="ru-RU" sz="1900">
                <a:solidFill>
                  <a:srgbClr val="2D3136"/>
                </a:solidFill>
              </a:rPr>
              <a:t>• Подвести слушателя к проверке понимания: где ошибка и почему она опасна.</a:t>
            </a:r>
          </a:p>
          <a:p>
            <a:r>
              <a:rPr lang="ru-RU" sz="1900">
                <a:solidFill>
                  <a:srgbClr val="2D3136"/>
                </a:solidFill>
              </a:rPr>
              <a:t>• Сделать мост к тесту S020.</a:t>
            </a:r>
          </a:p>
        </p:txBody>
      </p:sp>
      <p:sp>
        <p:nvSpPr>
          <p:cNvPr id="25" name="Прямоугольник: скругленные углы 24">
            <a:hlinkClick r:id="rId2" action="ppaction://hlinksldjump"/>
            <a:extLst>
              <a:ext uri="{FF2B5EF4-FFF2-40B4-BE49-F238E27FC236}">
                <a16:creationId xmlns:a16="http://schemas.microsoft.com/office/drawing/2014/main" id="{24ED1EEA-5A25-D958-C2F5-24090A162F85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Прямоугольник: скругленные углы 25">
            <a:hlinkClick r:id="rId3" action="ppaction://hlinksldjump"/>
            <a:extLst>
              <a:ext uri="{FF2B5EF4-FFF2-40B4-BE49-F238E27FC236}">
                <a16:creationId xmlns:a16="http://schemas.microsoft.com/office/drawing/2014/main" id="{94E127C6-DADE-1E26-FF85-49C171753F39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975156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6351876-6866-A010-68D6-2EBA535B97F0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7631C0-A9C7-5C36-0B22-AB5D1A5296AE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Промежуточный тест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54666-2A7C-4B40-BA54-853D8A2BCF61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Проверка по теме 2.1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C05AAD8-FBE2-7C92-153A-002C6580CA5D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S020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382D2A8-D7D5-5A67-7934-04ACFB7E4A3B}"/>
              </a:ext>
            </a:extLst>
          </p:cNvPr>
          <p:cNvSpPr/>
          <p:nvPr/>
        </p:nvSpPr>
        <p:spPr>
          <a:xfrm>
            <a:off x="749808" y="1517904"/>
            <a:ext cx="526694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C0576CC-F5AA-D564-887D-52471791FE6B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проверяем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ECC05-6171-F3AC-DFA7-F9ED20D1FA95}"/>
              </a:ext>
            </a:extLst>
          </p:cNvPr>
          <p:cNvSpPr txBox="1"/>
          <p:nvPr/>
        </p:nvSpPr>
        <p:spPr>
          <a:xfrm>
            <a:off x="1097280" y="2286000"/>
            <a:ext cx="4626864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Какой груз перед нами и что важно о нем знать.</a:t>
            </a:r>
          </a:p>
          <a:p>
            <a:r>
              <a:rPr lang="ru-RU" sz="1900">
                <a:solidFill>
                  <a:srgbClr val="2D3136"/>
                </a:solidFill>
              </a:rPr>
              <a:t>• Какой строп или приспособление подходит под задачу.</a:t>
            </a:r>
          </a:p>
          <a:p>
            <a:r>
              <a:rPr lang="ru-RU" sz="1900">
                <a:solidFill>
                  <a:srgbClr val="2D3136"/>
                </a:solidFill>
              </a:rPr>
              <a:t>• Какая схема опасна и когда работу нужно остановить.</a:t>
            </a:r>
          </a:p>
          <a:p>
            <a:r>
              <a:rPr lang="ru-RU" sz="1900">
                <a:solidFill>
                  <a:srgbClr val="2D3136"/>
                </a:solidFill>
              </a:rPr>
              <a:t>• Насколько уверенно слушатель распознает типовые ошибки.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5399630-8F59-2ED9-ED37-B48C012A50CC}"/>
              </a:ext>
            </a:extLst>
          </p:cNvPr>
          <p:cNvSpPr/>
          <p:nvPr/>
        </p:nvSpPr>
        <p:spPr>
          <a:xfrm>
            <a:off x="6364224" y="1517904"/>
            <a:ext cx="4956048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59EDA6C-F1E8-9675-033B-FD580130D363}"/>
              </a:ext>
            </a:extLst>
          </p:cNvPr>
          <p:cNvSpPr/>
          <p:nvPr/>
        </p:nvSpPr>
        <p:spPr>
          <a:xfrm>
            <a:off x="6510528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Экран входа в тест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B8DCA7-AAB9-9505-B86F-093C4EA509B6}"/>
              </a:ext>
            </a:extLst>
          </p:cNvPr>
          <p:cNvSpPr txBox="1"/>
          <p:nvPr/>
        </p:nvSpPr>
        <p:spPr>
          <a:xfrm>
            <a:off x="6675120" y="2048256"/>
            <a:ext cx="4315968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000" b="1">
                <a:solidFill>
                  <a:srgbClr val="2D3136"/>
                </a:solidFill>
              </a:rPr>
              <a:t>Категории вопросов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09B37-D99A-EF77-BF51-1A4DDD18551D}"/>
              </a:ext>
            </a:extLst>
          </p:cNvPr>
          <p:cNvSpPr txBox="1"/>
          <p:nvPr/>
        </p:nvSpPr>
        <p:spPr>
          <a:xfrm>
            <a:off x="6675120" y="2578608"/>
            <a:ext cx="4261104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>
                <a:solidFill>
                  <a:srgbClr val="2D3136"/>
                </a:solidFill>
              </a:rPr>
              <a:t>• проверка груза</a:t>
            </a:r>
          </a:p>
          <a:p>
            <a:r>
              <a:rPr lang="ru-RU">
                <a:solidFill>
                  <a:srgbClr val="2D3136"/>
                </a:solidFill>
              </a:rPr>
              <a:t>• неизвестная масса</a:t>
            </a:r>
          </a:p>
          <a:p>
            <a:r>
              <a:rPr lang="ru-RU">
                <a:solidFill>
                  <a:srgbClr val="2D3136"/>
                </a:solidFill>
              </a:rPr>
              <a:t>• центр тяжести</a:t>
            </a:r>
          </a:p>
          <a:p>
            <a:r>
              <a:rPr lang="ru-RU">
                <a:solidFill>
                  <a:srgbClr val="2D3136"/>
                </a:solidFill>
              </a:rPr>
              <a:t>• угол между ветвями</a:t>
            </a:r>
          </a:p>
          <a:p>
            <a:r>
              <a:rPr lang="ru-RU">
                <a:solidFill>
                  <a:srgbClr val="2D3136"/>
                </a:solidFill>
              </a:rPr>
              <a:t>• оснастка, схема и решение стоп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68A28-2F9A-1E5A-F791-965B2F680E18}"/>
              </a:ext>
            </a:extLst>
          </p:cNvPr>
          <p:cNvSpPr txBox="1"/>
          <p:nvPr/>
        </p:nvSpPr>
        <p:spPr>
          <a:xfrm>
            <a:off x="6675120" y="4882896"/>
            <a:ext cx="4315968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686E76"/>
                </a:solidFill>
              </a:rPr>
              <a:t>В этой итерации собираем линейный вход в тест.</a:t>
            </a:r>
          </a:p>
          <a:p>
            <a:r>
              <a:rPr lang="ru-RU" sz="1200">
                <a:solidFill>
                  <a:srgbClr val="686E76"/>
                </a:solidFill>
              </a:rPr>
              <a:t>Разборы ошибок добавим следующим слоем по мере сборки.</a:t>
            </a:r>
          </a:p>
        </p:txBody>
      </p:sp>
      <p:sp>
        <p:nvSpPr>
          <p:cNvPr id="14" name="Прямоугольник: скругленные углы 13">
            <a:hlinkClick r:id="rId2" action="ppaction://hlinksldjump"/>
            <a:extLst>
              <a:ext uri="{FF2B5EF4-FFF2-40B4-BE49-F238E27FC236}">
                <a16:creationId xmlns:a16="http://schemas.microsoft.com/office/drawing/2014/main" id="{0C54A943-6425-2BBE-148F-C2A8A59F48BE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3" action="ppaction://hlinksldjump"/>
            <a:extLst>
              <a:ext uri="{FF2B5EF4-FFF2-40B4-BE49-F238E27FC236}">
                <a16:creationId xmlns:a16="http://schemas.microsoft.com/office/drawing/2014/main" id="{455B5C16-9135-88FF-3876-9A57E9CE7135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47015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21DE74D-4D2F-BC5F-84D5-445919614BE1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824C5-1FEA-17A2-523D-B7C477F2AF7E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Финальный вывод по подтеме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833EF-5C86-BC81-A3DB-7ADA5C108333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Короткая рабочая последовательность перед подъемом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0605151-4494-E861-84CF-717F8A68C6D3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S021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5B627A4-183D-85E6-0919-148C1DC0A6E1}"/>
              </a:ext>
            </a:extLst>
          </p:cNvPr>
          <p:cNvSpPr/>
          <p:nvPr/>
        </p:nvSpPr>
        <p:spPr>
          <a:xfrm>
            <a:off x="749808" y="1755648"/>
            <a:ext cx="250545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94490E2-D8BF-E439-5052-33F16D1B9E95}"/>
              </a:ext>
            </a:extLst>
          </p:cNvPr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A25154-7AD0-6883-A642-1F2ECC095BEA}"/>
              </a:ext>
            </a:extLst>
          </p:cNvPr>
          <p:cNvSpPr txBox="1"/>
          <p:nvPr/>
        </p:nvSpPr>
        <p:spPr>
          <a:xfrm>
            <a:off x="1499616" y="1920240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Оцени груз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5BA9D-147F-CB91-6B6B-2683F1D2063C}"/>
              </a:ext>
            </a:extLst>
          </p:cNvPr>
          <p:cNvSpPr txBox="1"/>
          <p:nvPr/>
        </p:nvSpPr>
        <p:spPr>
          <a:xfrm>
            <a:off x="914400" y="2432304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Масса, габариты, центр тяжести и маркировка.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50FC271-5845-D466-F9DB-38E07999AE8B}"/>
              </a:ext>
            </a:extLst>
          </p:cNvPr>
          <p:cNvSpPr/>
          <p:nvPr/>
        </p:nvSpPr>
        <p:spPr>
          <a:xfrm>
            <a:off x="3456432" y="1755648"/>
            <a:ext cx="250545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0BB33F2-5198-52E6-8ADE-FDC1C7F1FCCE}"/>
              </a:ext>
            </a:extLst>
          </p:cNvPr>
          <p:cNvSpPr/>
          <p:nvPr/>
        </p:nvSpPr>
        <p:spPr>
          <a:xfrm>
            <a:off x="3621024" y="1920240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4568A3-55BB-202F-F6BF-FB74FB7A1949}"/>
              </a:ext>
            </a:extLst>
          </p:cNvPr>
          <p:cNvSpPr txBox="1"/>
          <p:nvPr/>
        </p:nvSpPr>
        <p:spPr>
          <a:xfrm>
            <a:off x="4206240" y="1920240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Выбери строп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86DD2-B6B3-CC9B-7CC6-801DC4100727}"/>
              </a:ext>
            </a:extLst>
          </p:cNvPr>
          <p:cNvSpPr txBox="1"/>
          <p:nvPr/>
        </p:nvSpPr>
        <p:spPr>
          <a:xfrm>
            <a:off x="3621024" y="2432304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Средство и схему под конкретную задачу.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481AAB8-8C43-E795-C10E-F526A2482458}"/>
              </a:ext>
            </a:extLst>
          </p:cNvPr>
          <p:cNvSpPr/>
          <p:nvPr/>
        </p:nvSpPr>
        <p:spPr>
          <a:xfrm>
            <a:off x="6163056" y="1755648"/>
            <a:ext cx="250545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5F4C5AC-D7EF-1B8C-984E-FD09FC2A92FA}"/>
              </a:ext>
            </a:extLst>
          </p:cNvPr>
          <p:cNvSpPr/>
          <p:nvPr/>
        </p:nvSpPr>
        <p:spPr>
          <a:xfrm>
            <a:off x="6327648" y="1920240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A276AF-7688-A370-63B7-489EA6EF57BF}"/>
              </a:ext>
            </a:extLst>
          </p:cNvPr>
          <p:cNvSpPr txBox="1"/>
          <p:nvPr/>
        </p:nvSpPr>
        <p:spPr>
          <a:xfrm>
            <a:off x="6912864" y="1920240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Проверь схему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F88E8-B4F9-E4C3-845C-3CBA8900D499}"/>
              </a:ext>
            </a:extLst>
          </p:cNvPr>
          <p:cNvSpPr txBox="1"/>
          <p:nvPr/>
        </p:nvSpPr>
        <p:spPr>
          <a:xfrm>
            <a:off x="6327648" y="2432304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До сигнала, а не после пробного подъема.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DC713E5-E5D3-8496-3267-FF747D5F100B}"/>
              </a:ext>
            </a:extLst>
          </p:cNvPr>
          <p:cNvSpPr/>
          <p:nvPr/>
        </p:nvSpPr>
        <p:spPr>
          <a:xfrm>
            <a:off x="8869680" y="1755648"/>
            <a:ext cx="232257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2FCB2D02-AB09-A6E3-0B8B-1365C51B1222}"/>
              </a:ext>
            </a:extLst>
          </p:cNvPr>
          <p:cNvSpPr/>
          <p:nvPr/>
        </p:nvSpPr>
        <p:spPr>
          <a:xfrm>
            <a:off x="9034272" y="1920240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D50A63-5306-08F5-AA4F-F3A28FC529DF}"/>
              </a:ext>
            </a:extLst>
          </p:cNvPr>
          <p:cNvSpPr txBox="1"/>
          <p:nvPr/>
        </p:nvSpPr>
        <p:spPr>
          <a:xfrm>
            <a:off x="9619488" y="1920240"/>
            <a:ext cx="136245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Не рискуй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193A2-003B-FA55-4964-CF3D680D1BF3}"/>
              </a:ext>
            </a:extLst>
          </p:cNvPr>
          <p:cNvSpPr txBox="1"/>
          <p:nvPr/>
        </p:nvSpPr>
        <p:spPr>
          <a:xfrm>
            <a:off x="9034272" y="2432304"/>
            <a:ext cx="199339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При сомнении останавливай работу.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DA83F6B5-125A-829A-F65C-6BD9D940EDAC}"/>
              </a:ext>
            </a:extLst>
          </p:cNvPr>
          <p:cNvSpPr/>
          <p:nvPr/>
        </p:nvSpPr>
        <p:spPr>
          <a:xfrm>
            <a:off x="749808" y="3822192"/>
            <a:ext cx="10442448" cy="15910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9C34B5E-6B92-380E-3433-2DB22E1946C5}"/>
              </a:ext>
            </a:extLst>
          </p:cNvPr>
          <p:cNvSpPr/>
          <p:nvPr/>
        </p:nvSpPr>
        <p:spPr>
          <a:xfrm>
            <a:off x="896112" y="3968496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Итоговый тезис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C0A19D-6351-DC05-A148-D910F187E151}"/>
              </a:ext>
            </a:extLst>
          </p:cNvPr>
          <p:cNvSpPr txBox="1"/>
          <p:nvPr/>
        </p:nvSpPr>
        <p:spPr>
          <a:xfrm>
            <a:off x="1097280" y="4590288"/>
            <a:ext cx="9802368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Безопасная строповка - это не отдельный прием, а последовательность решений до подъема.</a:t>
            </a:r>
          </a:p>
          <a:p>
            <a:r>
              <a:rPr lang="ru-RU" sz="1900">
                <a:solidFill>
                  <a:srgbClr val="2D3136"/>
                </a:solidFill>
              </a:rPr>
              <a:t>• Сомнение в схеме или данных о грузе - достаточная причина не продолжать работу.</a:t>
            </a:r>
          </a:p>
        </p:txBody>
      </p:sp>
      <p:sp>
        <p:nvSpPr>
          <p:cNvPr id="25" name="Прямоугольник: скругленные углы 24">
            <a:hlinkClick r:id="rId2" action="ppaction://hlinksldjump"/>
            <a:extLst>
              <a:ext uri="{FF2B5EF4-FFF2-40B4-BE49-F238E27FC236}">
                <a16:creationId xmlns:a16="http://schemas.microsoft.com/office/drawing/2014/main" id="{7203725F-4C3E-F575-45D1-6B98B6D6E83B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</p:spTree>
    <p:extLst>
      <p:ext uri="{BB962C8B-B14F-4D97-AF65-F5344CB8AC3E}">
        <p14:creationId xmlns:p14="http://schemas.microsoft.com/office/powerpoint/2010/main" val="154480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2777</Words>
  <Application>Microsoft Office PowerPoint</Application>
  <PresentationFormat>Широкоэкранный</PresentationFormat>
  <Paragraphs>574</Paragraphs>
  <Slides>36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12</cp:revision>
  <dcterms:created xsi:type="dcterms:W3CDTF">2013-01-27T09:14:16Z</dcterms:created>
  <dcterms:modified xsi:type="dcterms:W3CDTF">2026-06-25T06:40:42Z</dcterms:modified>
  <cp:category/>
</cp:coreProperties>
</file>