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13.xml"/><Relationship Id="rId7" Type="http://schemas.openxmlformats.org/officeDocument/2006/relationships/slide" Target="slide10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>
              <a:gd name="adj" fmla="val 3050"/>
            </a:avLst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45952" cy="46177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Термины расположены по алфавиту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627632"/>
            <a:ext cx="18288" cy="379476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Гак</a:t>
            </a:r>
            <a:r>
              <a:rPr sz="1100">
                <a:solidFill>
                  <a:srgbClr val="212B36"/>
                </a:solidFill>
              </a:rPr>
              <a:t> - крюк грузоподъёмного механизма.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</a:t>
            </a:r>
            <a:r>
              <a:rPr sz="1100">
                <a:solidFill>
                  <a:srgbClr val="212B36"/>
                </a:solidFill>
              </a:rPr>
              <a:t> - предмет или конструкция для подъёма.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Грузозахватное приспособление</a:t>
            </a:r>
            <a:r>
              <a:rPr sz="1100">
                <a:solidFill>
                  <a:srgbClr val="212B36"/>
                </a:solidFill>
              </a:rPr>
              <a:t> - устройство для захвата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Зажимы</a:t>
            </a:r>
            <a:r>
              <a:rPr sz="1100">
                <a:solidFill>
                  <a:srgbClr val="212B36"/>
                </a:solidFill>
              </a:rPr>
              <a:t> - устройства для закрепления концов каната.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Коуш</a:t>
            </a:r>
            <a:r>
              <a:rPr sz="1100">
                <a:solidFill>
                  <a:srgbClr val="212B36"/>
                </a:solidFill>
              </a:rPr>
              <a:t> - металлическая вставка, защищающая петлю каната от залома и износа.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Магнитные зажимы</a:t>
            </a:r>
            <a:r>
              <a:rPr sz="1100">
                <a:solidFill>
                  <a:srgbClr val="212B36"/>
                </a:solidFill>
              </a:rPr>
              <a:t> - устройства, удерживающие металлический груз с помощью магнита.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Мёртвый груз</a:t>
            </a:r>
            <a:r>
              <a:rPr sz="1100">
                <a:solidFill>
                  <a:srgbClr val="212B36"/>
                </a:solidFill>
              </a:rPr>
              <a:t> - груз, массу которого определить невозможно.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Оттяжка</a:t>
            </a:r>
            <a:r>
              <a:rPr sz="1100">
                <a:solidFill>
                  <a:srgbClr val="212B36"/>
                </a:solidFill>
              </a:rPr>
              <a:t> - канат или верёвка для управления положением груза и предотвращения его раскачивания.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Рым</a:t>
            </a:r>
            <a:r>
              <a:rPr sz="1100">
                <a:solidFill>
                  <a:srgbClr val="212B36"/>
                </a:solidFill>
              </a:rPr>
              <a:t> - кольцо или проушина для крепления стропа к грузу.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Сигнальщик</a:t>
            </a:r>
            <a:r>
              <a:rPr sz="1100">
                <a:solidFill>
                  <a:srgbClr val="212B36"/>
                </a:solidFill>
              </a:rPr>
              <a:t> - работник, который подаёт команды крановщику при перемещении груза, если между стропальщиком и крановщиком контакт отсутствует.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СИЗ</a:t>
            </a:r>
            <a:r>
              <a:rPr sz="1100">
                <a:solidFill>
                  <a:srgbClr val="212B36"/>
                </a:solidFill>
              </a:rPr>
              <a:t> - средства индивидуальной защиты.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</a:t>
            </a:r>
            <a:r>
              <a:rPr sz="1100">
                <a:solidFill>
                  <a:srgbClr val="212B36"/>
                </a:solidFill>
              </a:rPr>
              <a:t> - грузозахватное средство.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Стропальщик</a:t>
            </a:r>
            <a:r>
              <a:rPr sz="1100">
                <a:solidFill>
                  <a:srgbClr val="212B36"/>
                </a:solidFill>
              </a:rPr>
              <a:t> - рабочий, который выполняет строповку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Строповка</a:t>
            </a:r>
            <a:r>
              <a:rPr sz="1100">
                <a:solidFill>
                  <a:srgbClr val="212B36"/>
                </a:solidFill>
              </a:rPr>
              <a:t> - способ обвязки и зацепки.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Тара</a:t>
            </a:r>
            <a:r>
              <a:rPr sz="1100">
                <a:solidFill>
                  <a:srgbClr val="212B36"/>
                </a:solidFill>
              </a:rPr>
              <a:t> - ёмкость или приспособление для размещения и перемещения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Траверса</a:t>
            </a:r>
            <a:r>
              <a:rPr sz="1100">
                <a:solidFill>
                  <a:srgbClr val="212B36"/>
                </a:solidFill>
              </a:rPr>
              <a:t> - грузозахватная балка для подъёма длинных или крупногабаритных грузов.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Цапфа</a:t>
            </a:r>
            <a:r>
              <a:rPr sz="1100">
                <a:solidFill>
                  <a:srgbClr val="212B36"/>
                </a:solidFill>
              </a:rPr>
              <a:t> - выступающая часть груза или оборудования, используемая как опора или место строповки.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6400800" cy="45262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5989320" cy="3995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261872"/>
            <a:ext cx="4343400" cy="38862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9480" y="1261872"/>
            <a:ext cx="4343400" cy="621792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Определение профессии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157984"/>
            <a:ext cx="3758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B42"/>
                </a:solidFill>
              </a:rPr>
              <a:t>Стропальщик</a:t>
            </a:r>
            <a:r>
              <a:rPr sz="1800">
                <a:solidFill>
                  <a:srgbClr val="212B36"/>
                </a:solidFill>
              </a:rPr>
              <a:t> — рабочая профессия, связанная с подготовкой, обвязкой, зацепкой и безопасным перемещением грузов с помощью грузоподъёмных механизмов.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70432"/>
            <a:ext cx="10771632" cy="46177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173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7A86"/>
                </a:solidFill>
              </a:rPr>
              <a:t>К работе допускаются работники, которые: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969264" y="1810512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обучение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109472" y="1882902"/>
            <a:ext cx="402336" cy="402336"/>
          </a:xfrm>
          <a:prstGeom prst="ellipse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969264" y="2468880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инструктаж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09472" y="2530222"/>
            <a:ext cx="402336" cy="402336"/>
          </a:xfrm>
          <a:prstGeom prst="ellipse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969264" y="3127248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проверку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знаний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09472" y="3154680"/>
            <a:ext cx="402336" cy="402336"/>
          </a:xfrm>
          <a:prstGeom prst="ellipse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969264" y="3785616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Допущен</a:t>
            </a:r>
            <a:r>
              <a:rPr sz="1600" b="1" dirty="0">
                <a:solidFill>
                  <a:srgbClr val="212B36"/>
                </a:solidFill>
              </a:rPr>
              <a:t> к </a:t>
            </a:r>
            <a:r>
              <a:rPr sz="1600" b="1" dirty="0" err="1">
                <a:solidFill>
                  <a:srgbClr val="212B36"/>
                </a:solidFill>
              </a:rPr>
              <a:t>работе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24331" y="3867912"/>
            <a:ext cx="402336" cy="402336"/>
          </a:xfrm>
          <a:prstGeom prst="ellipse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69264" y="4443983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Использует</a:t>
            </a:r>
            <a:r>
              <a:rPr sz="1600" b="1" dirty="0">
                <a:solidFill>
                  <a:srgbClr val="212B36"/>
                </a:solidFill>
              </a:rPr>
              <a:t> СИЗ</a:t>
            </a:r>
          </a:p>
        </p:txBody>
      </p:sp>
      <p:sp>
        <p:nvSpPr>
          <p:cNvPr id="17" name="Oval 16"/>
          <p:cNvSpPr/>
          <p:nvPr/>
        </p:nvSpPr>
        <p:spPr>
          <a:xfrm>
            <a:off x="1141095" y="4507611"/>
            <a:ext cx="402336" cy="402336"/>
          </a:xfrm>
          <a:prstGeom prst="ellipse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5230368"/>
            <a:ext cx="10012680" cy="640080"/>
          </a:xfrm>
          <a:prstGeom prst="roundRect">
            <a:avLst>
              <a:gd name="adj" fmla="val 19300"/>
            </a:avLst>
          </a:prstGeom>
          <a:solidFill>
            <a:srgbClr val="FAF2EC"/>
          </a:solidFill>
          <a:ln w="1524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9555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E7436"/>
                </a:solidFill>
              </a:rPr>
              <a:t>Допуск — это не формальность, а условие безопасной работы.</a:t>
            </a:r>
          </a:p>
        </p:txBody>
      </p:sp>
      <p:sp>
        <p:nvSpPr>
          <p:cNvPr id="20" name="Rounded Rectangle 19">
            <a:hlinkClick r:id="rId7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Rounded Rectangle 20">
            <a:hlinkClick r:id="rId8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пройти обучение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75000"/>
            <a:ext cx="4050000" cy="44600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75000"/>
            <a:ext cx="4050000" cy="600000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Профессиональное 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800" y="2010000"/>
            <a:ext cx="37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0">
                <a:solidFill>
                  <a:srgbClr val="212B36"/>
                </a:solidFill>
                <a:latin typeface="Arial"/>
              </a:rPr>
              <a:t>Профессиональное обучение по профессии «стропальщик» может проводить учебный центр или работодатель непосредственно на производстве.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1">
                <a:solidFill>
                  <a:srgbClr val="212B36"/>
                </a:solidFill>
                <a:latin typeface="Arial"/>
              </a:rPr>
              <a:t>Обязательное условие — наличие лицензии на образовательную деятельность по программам профессионального обучения.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75800" y="1275000"/>
            <a:ext cx="6510000" cy="44600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75800" y="1275000"/>
            <a:ext cx="6510000" cy="600000"/>
          </a:xfrm>
          <a:prstGeom prst="roundRect">
            <a:avLst>
              <a:gd name="adj" fmla="val 19300"/>
            </a:avLst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Обучение по Охрана труда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800" y="2010000"/>
            <a:ext cx="62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0">
                <a:solidFill>
                  <a:srgbClr val="212B36"/>
                </a:solidFill>
                <a:latin typeface="Arial"/>
              </a:rPr>
              <a:t>По ПП РФ № 2464 стропальщик должен пройти: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Б — не менее 16 часов, затем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первой помощи — не реже одного раза в 3 года. Отдельная программа длится не менее 8 часов.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применению СИЗ — если средства защиты требуют практических навыков. Периодичность —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1">
                <a:solidFill>
                  <a:srgbClr val="212B36"/>
                </a:solidFill>
                <a:latin typeface="Arial"/>
              </a:rPr>
              <a:t>ПП РФ № 2464 регулирует обучение по охране труда, но не заменяет профессиональное обучение по профессии «стропальщик».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603000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инструктаж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Инструктаж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Инструктажи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по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охране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труда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: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вводный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,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первичный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повторный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Повторный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не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реже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одного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раза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в 6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месяцев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Внеплановый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целевой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при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необходимости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Зачем нужен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Объяснили.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Применяешь на работе.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проверка знаний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Проверка знаний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Показывает, что работник понял требования.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 готовность к допуску.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Не является формальностью.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Логика допуска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Знание.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Допуск.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Безопасная работа.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допуск к работе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Допуск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Оформляется после обучения, инструктажа и проверки знаний.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Подтверждает, что работник может работать самостоятельно.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 допуска самостоятельная работа недопустима.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это дает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Понятный статус допуска.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Право выполнять работу по правилам.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Основу для безопасной самостоятельной работы.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входит в СИЗ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Общепроизводственные СИЗ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325880"/>
            <a:ext cx="3931920" cy="41422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Требования к СИЗ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130552"/>
            <a:ext cx="3419856" cy="31729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40">
                <a:solidFill>
                  <a:srgbClr val="212B36"/>
                </a:solidFill>
              </a:rPr>
              <a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a:t>
            </a:r>
          </a:p>
          <a:p>
            <a:pPr algn="l">
              <a:spcAft>
                <a:spcPts val="300"/>
              </a:spcAft>
            </a:pPr>
            <a:r>
              <a:rPr sz="1180" b="1">
                <a:solidFill>
                  <a:srgbClr val="212B36"/>
                </a:solidFill>
              </a:rPr>
              <a:t>СИЗ должны отвечать пяти ключевым критериям:</a:t>
            </a:r>
          </a:p>
          <a:p>
            <a:pPr algn="l">
              <a:spcAft>
                <a:spcPts val="300"/>
              </a:spcAft>
            </a:pPr>
            <a:r>
              <a:rPr sz="1140">
                <a:solidFill>
                  <a:srgbClr val="212B36"/>
                </a:solidFill>
              </a:rPr>
              <a:t>безопасность самого изделия / защитная эффективность / эргономика и комфорт / стойкость к уходу / обязательная маркировка</a:t>
            </a:r>
          </a:p>
          <a:p>
            <a:pPr algn="l">
              <a:spcAft>
                <a:spcPts val="0"/>
              </a:spcAft>
            </a:pPr>
            <a:r>
              <a:rPr sz="1140">
                <a:solidFill>
                  <a:srgbClr val="5F6D7B"/>
                </a:solidFill>
              </a:rPr>
              <a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pic>
        <p:nvPicPr>
          <p:cNvPr id="13" name="Picture 12" descr="VIS-0011_siz_s005-p05_body-clean_v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76173"/>
            <a:ext cx="6391656" cy="331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Квалификация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881360" cy="42976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Разряды 2-6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9808" y="1984248"/>
          <a:ext cx="10533888" cy="3593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Разряд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Допустимый
вес груза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Сложность груза
и конструкций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Длина лесных
грузов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2 разряд</a:t>
                      </a:r>
                    </a:p>
                  </a:txBody>
                  <a:tcPr marL="64008" marR="64008" marT="27432" marB="27432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Простые изделия и
детали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3 разряд</a:t>
                      </a:r>
                    </a:p>
                  </a:txBody>
                  <a:tcPr marL="64008" marR="64008" marT="27432" marB="27432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25 тонн (простые)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Простые и средней
сложности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4 разряд</a:t>
                      </a:r>
                    </a:p>
                  </a:txBody>
                  <a:tcPr marL="64008" marR="64008" marT="27432" marB="27432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25 тонн (простые)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Средние, штучные,
требующие
осторожности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25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 (сложные)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5 разряд</a:t>
                      </a:r>
                    </a:p>
                  </a:txBody>
                  <a:tcPr marL="64008" marR="64008" marT="27432" marB="27432">
                    <a:solidFill>
                      <a:srgbClr val="FA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25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Сложные конструкции,
стапельная сборка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3 до 6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50 тонн (сложные)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6 разряд</a:t>
                      </a:r>
                    </a:p>
                  </a:txBody>
                  <a:tcPr marL="64008" marR="64008" marT="27432" marB="27432">
                    <a:solidFill>
                      <a:srgbClr val="FA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50 тонн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12B36"/>
                          </a:solidFill>
                        </a:rPr>
                        <a:t>Особо
ответственные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6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1408</Words>
  <Application>Microsoft Office PowerPoint</Application>
  <PresentationFormat>Широкоэкранный</PresentationFormat>
  <Paragraphs>264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5</cp:revision>
  <dcterms:created xsi:type="dcterms:W3CDTF">2013-01-27T09:14:16Z</dcterms:created>
  <dcterms:modified xsi:type="dcterms:W3CDTF">2026-06-24T09:30:17Z</dcterms:modified>
  <cp:category/>
</cp:coreProperties>
</file>