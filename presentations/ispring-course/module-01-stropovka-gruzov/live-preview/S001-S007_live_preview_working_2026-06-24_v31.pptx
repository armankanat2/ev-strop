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60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1.xml"/><Relationship Id="rId5" Type="http://schemas.openxmlformats.org/officeDocument/2006/relationships/slide" Target="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2.xml"/><Relationship Id="rId7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16.xml"/><Relationship Id="rId7" Type="http://schemas.openxmlformats.org/officeDocument/2006/relationships/slide" Target="slide10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Титульный экран курса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594360" y="1051560"/>
            <ns1:ext cx="5943600" cy="5029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3000" b="1">
                <ns1:solidFill>
                  <ns1:srgbClr val="212B36"/>
                </ns1:solidFill>
              </ns1:rPr>
              <ns1:t>ЭВ Стропальщик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612648" y="178308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265A89"/>
                </ns1:solidFill>
              </ns1:rPr>
              <ns1:t>Стропальщик 2-4 разряда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12648" y="2084831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1">
                <ns1:solidFill>
                  <ns1:srgbClr val="DE7436"/>
                </ns1:solidFill>
              </ns1:rPr>
              <ns1:t>Стропальщик 5-6 разряда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12648" y="2606040"/>
            <ns1:ext cx="5669280" cy="384048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Практический курс по безопасной работе с грузами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12648" y="3218688"/>
            <ns1:ext cx="5669280" cy="98755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700">
                <ns1:solidFill>
                  <ns1:srgbClr val="212B36"/>
                </ns1:solidFill>
              </ns1:rPr>
              <ns1:t>Базовая часть курса - для 2-4 разряда. Для 5-6 разряда открывайте дополнительные блоки.</ns1:t>
            </ns1:r>
          </ns1:p>
        </ns0:txBody>
      </ns0:sp>
      <ns0:sp>
        <ns0:nvSpPr>
          <ns0:cNvPr id="10" name="Rectangle 9"/>
          <ns0:cNvSpPr/>
          <ns0:nvPr/>
        </ns0:nvSpPr>
        <ns0:spPr>
          <ns1:xfrm>
            <ns1:off x="7223760" y="658368"/>
            <ns1:ext cx="4965192" cy="6199632"/>
          </ns1:xfrm>
          <ns1:prstGeom prst="rect">
            <ns1:avLst/>
          </ns1:prstGeom>
          <ns1:solidFill>
            <ns1:srgbClr val="53779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635240" y="1097280"/>
            <ns1:ext cx="393192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Живая demo-сборка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7589520" y="1645920"/>
            <ns1:ext cx="4069080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800" b="0">
                <ns1:solidFill>
                  <ns1:srgbClr val="FFFFFF"/>
                </ns1:solidFill>
              </ns1:rPr>
              <ns1:t>Сейчас можно посмотреть:
• S001 титул
• S002 экран выбора
• S002-P01 видеоинструкция
• S002-P02 словарь терминов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612648" y="4709160"/>
            <ns1:ext cx="2377440" cy="566928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НАЧАТЬ КУРС</ns1:t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 и глосарий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вводный экран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594360" y="914400"/>
            <ns1:ext cx="411480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Выберите, что открыть:</ns1:t>
            </ns1:r>
          </ns1:p>
        </ns0:txBody>
      </ns0:sp>
      <ns0:sp>
        <ns0:nvSpPr>
          <ns0:cNvPr id="7" name="Rounded Rectangle 6">
            <ns1:hlinkClick ns2:id="rId2" action="ppaction://hlinksldjump"/>
          </ns0:cNvPr>
          <ns0:cNvSpPr/>
          <ns0:nvPr/>
        </ns0:nvSpPr>
        <ns0:spPr>
          <ns1:xfrm>
            <ns1:off x="64008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8" name="Rounded Rectangle 7"/>
          <ns0:cNvSpPr/>
          <ns0:nvPr/>
        </ns0:nvSpPr>
        <ns0:spPr>
          <ns1:xfrm>
            <ns1:off x="64008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Видеоинструкция</ns1:t>
            </ns1: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9611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навигация по курсу.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ознакомьтесь.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S002-P01.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6309360" y="1508760"/>
            <ns1:ext cx="5212080" cy="356616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309360" y="1508760"/>
            <ns1:ext cx="521208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565392" y="2423160"/>
            <ns1:ext cx="4700016" cy="2468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Откройте и прочтите.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Термины вынесены в отдельный подвал.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Переход в подвал S002-P02.</ns1:t>
            </ns1:r>
          </ns1:p>
        </ns0:txBody>
      </ns0:sp>
      <ns0:sp>
        <ns0:nvSpPr>
          <ns0:cNvPr id="13" name="Rounded Rectangle 12">
            <ns1:hlinkClick ns2:id="rId2" action="ppaction://hlinksldjump"/>
          </ns0:cNvPr>
          <ns0:cNvSpPr/>
          <ns0:nvPr/>
        </ns0:nvSpPr>
        <ns0:spPr>
          <ns1:xfrm>
            <ns1:off x="160020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S002-P01</ns1:t>
            </ns1:r>
          </ns1:p>
        </ns0:txBody>
      </ns0:sp>
      <ns0:sp>
        <ns0:nvSpPr>
          <ns0:cNvPr id="14" name="Rounded Rectangle 13">
            <ns1:hlinkClick ns2:id="rId3" action="ppaction://hlinksldjump"/>
          </ns0:cNvPr>
          <ns0:cNvSpPr/>
          <ns0:nvPr/>
        </ns0:nvSpPr>
        <ns0:spPr>
          <ns1:xfrm>
            <ns1:off x="7269480" y="4572000"/>
            <ns1:ext cx="3246120" cy="56692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S002-P02</ns1:t>
            </ns1:r>
          </ns1:p>
        </ns0:txBody>
      </ns0:sp>
      <ns0:sp>
        <ns0:nvSpPr>
          <ns0:cNvPr id="15" name="Rounded Rectangle 14">
            <ns1:hlinkClick ns2:id="rId4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6" name="Rounded Rectangle 15">
            <ns1:hlinkClick ns2:id="rId5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Видеоинструкция по курсу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143000"/>
            <ns1:ext cx="4389120" cy="3520440"/>
          </ns1:xfrm>
          <ns1:prstGeom prst="roundRect">
            <ns1:avLst>
              <ns1:gd name="adj" fmla="val 3050"/>
            </ns1:avLst>
          </ns1:prstGeom>
          <ns1:solidFill>
            <ns1:srgbClr val="E0E8EF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60120" y="1444752"/>
            <ns1:ext cx="3749039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400" b="1">
                <ns1:solidFill>
                  <ns1:srgbClr val="122B42"/>
                </ns1:solidFill>
              </ns1:rPr>
              <ns1:t>Здесь будет видеоролик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68680" y="2148840"/>
            <ns1:ext cx="3886200" cy="1005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700" b="0">
                <ns1:solidFill>
                  <ns1:srgbClr val="212B36"/>
                </ns1:solidFill>
              </ns1:rPr>
              <ns1:t>Рабочая озвучка уже подготовлена:
S002-P01_ozvuchka_55_sec_stress_2026-06-20.mp3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960120" y="4096512"/>
            <ns1:ext cx="3749039" cy="53035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ОТКРЫТЬ ВИДЕОИНСТРУКЦИЮ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440680" y="1188720"/>
            <ns1:ext cx="539496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000" b="1">
                <ns1:solidFill>
                  <ns1:srgbClr val="212B36"/>
                </ns1:solidFill>
              </ns1:rPr>
              <ns1:t>Что должен понять слушатель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5394960" y="1645920"/>
            <ns1:ext cx="5486400" cy="32461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5394960" y="1645920"/>
            <ns1:ext cx="548640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Коротко о логике курса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5650992" y="2560320"/>
            <ns1:ext cx="4974336" cy="21488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Курс интерактивный.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Темы идут по порядку.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тем и блоков будут тесты.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 кнопкам открывайте пояснения.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После просмотра вернитесь в курс.</ns1:t>
            </ns1:r>
          </ns1:p>
        </ns0:txBody>
      </ns0:sp>
      <ns0:sp>
        <ns0:nvSpPr>
          <ns0:cNvPr id="14" name="Rounded Rectangle 13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Словарь терминов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S002-P02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S002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566928" y="1143000"/>
            <ns1:ext cx="1104595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868680" y="1353312"/>
            <ns1:ext cx="47548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Термины расположены по алфавиту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6071616" y="1627632"/>
            <ns1:ext cx="18288" cy="3794760"/>
          </ns1:xfrm>
          <ns1:prstGeom prst="rect">
            <ns1:avLst/>
          </ns1:prstGeom>
          <ns1:solidFill>
            <ns1:srgbClr val="D2DAE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686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Гак</ns1:t>
            </ns1:r>
            <ns1:r>
              <ns1:rPr sz="1100">
                <ns1:solidFill>
                  <ns1:srgbClr val="212B36"/>
                </ns1:solidFill>
              </ns1:rPr>
              <ns1:t> - крюк грузоподъёмного механизма.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</ns1:t>
            </ns1:r>
            <ns1:r>
              <ns1:rPr sz="1100">
                <ns1:solidFill>
                  <ns1:srgbClr val="212B36"/>
                </ns1:solidFill>
              </ns1:rPr>
              <ns1:t> - предмет или конструкция для подъёма.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Грузозахватное приспособление</ns1:t>
            </ns1:r>
            <ns1:r>
              <ns1:rPr sz="1100">
                <ns1:solidFill>
                  <ns1:srgbClr val="212B36"/>
                </ns1:solidFill>
              </ns1:rPr>
              <ns1:t> - устройство для захвата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Зажимы</ns1:t>
            </ns1:r>
            <ns1:r>
              <ns1:rPr sz="1100">
                <ns1:solidFill>
                  <ns1:srgbClr val="212B36"/>
                </ns1:solidFill>
              </ns1:rPr>
              <ns1:t> - устройства для закрепления концов каната.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Коуш</ns1:t>
            </ns1:r>
            <ns1:r>
              <ns1:rPr sz="1100">
                <ns1:solidFill>
                  <ns1:srgbClr val="212B36"/>
                </ns1:solidFill>
              </ns1:rPr>
              <ns1:t> - металлическая вставка, защищающая петлю каната от залома и износа.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Магнитные зажимы</ns1:t>
            </ns1:r>
            <ns1:r>
              <ns1:rPr sz="1100">
                <ns1:solidFill>
                  <ns1:srgbClr val="212B36"/>
                </ns1:solidFill>
              </ns1:rPr>
              <ns1:t> - устройства, удерживающие металлический груз с помощью магнита.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Мёртвый груз</ns1:t>
            </ns1:r>
            <ns1:r>
              <ns1:rPr sz="1100">
                <ns1:solidFill>
                  <ns1:srgbClr val="212B36"/>
                </ns1:solidFill>
              </ns1:rPr>
              <ns1:t> - груз, массу которого определить невозможно.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Оттяжка</ns1:t>
            </ns1:r>
            <ns1:r>
              <ns1:rPr sz="1100">
                <ns1:solidFill>
                  <ns1:srgbClr val="212B36"/>
                </ns1:solidFill>
              </ns1:rPr>
              <ns1:t> - канат или верёвка для управления положением груза и предотвращения его раскачивания.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Рым</ns1:t>
            </ns1:r>
            <ns1:r>
              <ns1:rPr sz="1100">
                <ns1:solidFill>
                  <ns1:srgbClr val="212B36"/>
                </ns1:solidFill>
              </ns1:rPr>
              <ns1:t> - кольцо или проушина для крепления стропа к грузу.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355080" y="1719072"/>
            <ns1:ext cx="4892040" cy="3749039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Сигнальщик</ns1:t>
            </ns1:r>
            <ns1:r>
              <ns1:rPr sz="1100">
                <ns1:solidFill>
                  <ns1:srgbClr val="212B36"/>
                </ns1:solidFill>
              </ns1:rPr>
              <ns1:t> - работник, который подаёт команды крановщику при перемещении груза, если между стропальщиком и крановщиком контакт отсутствует.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СИЗ</ns1:t>
            </ns1:r>
            <ns1:r>
              <ns1:rPr sz="1100">
                <ns1:solidFill>
                  <ns1:srgbClr val="212B36"/>
                </ns1:solidFill>
              </ns1:rPr>
              <ns1:t> - средства индивидуальной защиты.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</ns1:t>
            </ns1:r>
            <ns1:r>
              <ns1:rPr sz="1100">
                <ns1:solidFill>
                  <ns1:srgbClr val="212B36"/>
                </ns1:solidFill>
              </ns1:rPr>
              <ns1:t> - грузозахватное средство.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Стропальщик</ns1:t>
            </ns1:r>
            <ns1:r>
              <ns1:rPr sz="1100">
                <ns1:solidFill>
                  <ns1:srgbClr val="212B36"/>
                </ns1:solidFill>
              </ns1:rPr>
              <ns1:t> - рабочий, который выполняет строповку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Строповка</ns1:t>
            </ns1:r>
            <ns1:r>
              <ns1:rPr sz="1100">
                <ns1:solidFill>
                  <ns1:srgbClr val="212B36"/>
                </ns1:solidFill>
              </ns1:rPr>
              <ns1:t> - способ обвязки и зацепки.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Тара</ns1:t>
            </ns1:r>
            <ns1:r>
              <ns1:rPr sz="1100">
                <ns1:solidFill>
                  <ns1:srgbClr val="212B36"/>
                </ns1:solidFill>
              </ns1:rPr>
              <ns1:t> - ёмкость или приспособление для размещения и перемещения груза.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Траверса</ns1:t>
            </ns1:r>
            <ns1:r>
              <ns1:rPr sz="1100">
                <ns1:solidFill>
                  <ns1:srgbClr val="212B36"/>
                </ns1:solidFill>
              </ns1:rPr>
              <ns1:t> - грузозахватная балка для подъёма длинных или крупногабаритных грузов.</ns1:t>
            </ns1:r>
          </ns1:p>
          <ns1:p>
            <ns1:pPr algn="l">
              <ns1:spcAft>
                <ns1:spcPts val="300"/>
              </ns1:spcAft>
            </ns1:pPr>
            <ns1:r>
              <ns1:rPr sz="1200" b="1">
                <ns1:solidFill>
                  <ns1:srgbClr val="265A89"/>
                </ns1:solidFill>
              </ns1:rPr>
              <ns1:t>Цапфа</ns1:t>
            </ns1:r>
            <ns1:r>
              <ns1:rPr sz="1100">
                <ns1:solidFill>
                  <ns1:srgbClr val="212B36"/>
                </ns1:solidFill>
              </ns1:rPr>
              <ns1:t> - выступающая часть груза или оборудования, используемая как опора или место строповки.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8366760" y="5989320"/>
            <ns1:ext cx="2788920" cy="457200"/>
          </ns1:xfrm>
          <ns1:prstGeom prst="roundRect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 К КУРСУ</ns1:t>
            </ns1:r>
          </ns1:p>
        </ns0:txBody>
      </ns0: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такой стропальщик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261872"/>
            <ns1:ext cx="6400800" cy="45262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pic>
        <ns0:nvPicPr>
          <ns0:cNvPr id="7" name="Picture 6" descr="S004_avatar-1_signal-podnyat-gruz_white-bg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841248" y="1463040"/>
            <ns1:ext cx="5989320" cy="3995928"/>
          </ns1:xfrm>
          <ns1:prstGeom prst="rect">
            <ns1:avLst/>
          </ns1:prstGeom>
        </ns0:spPr>
      </ns0:pic>
      <ns0:sp>
        <ns0:nvSpPr>
          <ns0:cNvPr id="8" name="Rounded Rectangle 7"/>
          <ns0:cNvSpPr/>
          <ns0:nvPr/>
        </ns0:nvSpPr>
        <ns0:spPr>
          <ns1:xfrm>
            <ns1:off x="7269480" y="1261872"/>
            <ns1:ext cx="4343400" cy="38862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269480" y="1261872"/>
            <ns1:ext cx="4343400" cy="621792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Определение профессии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7562088" y="2157984"/>
            <ns1:ext cx="3758184" cy="27706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>
              <ns1:spcAft>
                <ns1:spcPts val="0"/>
              </ns1:spcAft>
            </ns1:pPr>
            <ns1:r>
              <ns1:rPr sz="1800" b="1">
                <ns1:solidFill>
                  <ns1:srgbClr val="122B42"/>
                </ns1:solidFill>
              </ns1:rPr>
              <ns1:t>Стропальщик</ns1:t>
            </ns1:r>
            <ns1:r>
              <ns1:rPr sz="1800">
                <ns1:solidFill>
                  <ns1:srgbClr val="212B36"/>
                </ns1:solidFill>
              </ns1:rPr>
              <ns1:t> — рабочая профессия, связанная с подготовкой, обвязкой, зацепкой и безопасным перемещением грузов с помощью грузоподъёмных механизмов.</ns1:t>
            </ns1:r>
          </ns1:p>
        </ns0:txBody>
      </ns0:sp>
      <ns0:sp>
        <ns0:nvSpPr>
          <ns0:cNvPr id="11" name="Rounded Rectangle 10">
            <ns1:hlinkClick ns2:id="rId3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Кто может работать стропальщиком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713232" y="1170432"/>
            <ns1:ext cx="10771632" cy="46177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5240">
            <ns1:solidFill>
              <ns1:srgbClr val="D2DAE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987552" y="1417320"/>
            <ns1:ext cx="7315200" cy="31089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600" b="0">
                <ns1:solidFill>
                  <ns1:srgbClr val="6E7A86"/>
                </ns1:solidFill>
              </ns1:rPr>
              <ns1:t>К работе допускаются работники, которые:</ns1:t>
            </ns1:r>
          </ns1:p>
        </ns0:txBody>
      </ns0:sp>
      <ns0:sp>
        <ns0:nvSpPr>
          <ns0:cNvPr id="8" name="Rounded Rectangle 7">
            <ns1:hlinkClick ns2:id="rId2" action="ppaction://hlinksldjump"/>
          </ns0:cNvPr>
          <ns0:cNvSpPr/>
          <ns0:nvPr/>
        </ns0:nvSpPr>
        <ns0:spPr>
          <ns1:xfrm>
            <ns1:off x="969264" y="1810512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обучение</ns1:t>
            </ns1:r>
          </ns1:p>
        </ns0:txBody>
      </ns0:sp>
      <ns0:sp>
        <ns0:nvSpPr>
          <ns0:cNvPr id="9" name="Oval 8"/>
          <ns0:cNvSpPr/>
          <ns0:nvPr/>
        </ns0:nvSpPr>
        <ns0:spPr>
          <ns1:xfrm>
            <ns1:off x="1133856" y="1883664"/>
            <ns1:ext cx="402336" cy="402336"/>
          </ns1:xfrm>
          <ns1:prstGeom prst="ellipse">
            <ns1:avLst/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1</ns1:t>
            </ns1:r>
          </ns1:p>
        </ns0:txBody>
      </ns0:sp>
      <ns0:sp>
        <ns0:nvSpPr>
          <ns0:cNvPr id="10" name="Rounded Rectangle 9">
            <ns1:hlinkClick ns2:id="rId3" action="ppaction://hlinksldjump"/>
          </ns0:cNvPr>
          <ns0:cNvSpPr/>
          <ns0:nvPr/>
        </ns0:nvSpPr>
        <ns0:spPr>
          <ns1:xfrm>
            <ns1:off x="969264" y="2468880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инструктаж</ns1:t>
            </ns1:r>
          </ns1:p>
        </ns0:txBody>
      </ns0:sp>
      <ns0:sp>
        <ns0:nvSpPr>
          <ns0:cNvPr id="11" name="Oval 10"/>
          <ns0:cNvSpPr/>
          <ns0:nvPr/>
        </ns0:nvSpPr>
        <ns0:spPr>
          <ns1:xfrm>
            <ns1:off x="1133856" y="2542032"/>
            <ns1:ext cx="402336" cy="402336"/>
          </ns1:xfrm>
          <ns1:prstGeom prst="ellipse">
            <ns1:avLst/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2</ns1:t>
            </ns1:r>
          </ns1:p>
        </ns0:txBody>
      </ns0:sp>
      <ns0:sp>
        <ns0:nvSpPr>
          <ns0:cNvPr id="12" name="Rounded Rectangle 11">
            <ns1:hlinkClick ns2:id="rId4" action="ppaction://hlinksldjump"/>
          </ns0:cNvPr>
          <ns0:cNvSpPr/>
          <ns0:nvPr/>
        </ns0:nvSpPr>
        <ns0:spPr>
          <ns1:xfrm>
            <ns1:off x="969264" y="3127248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Прошел проверку знаний</ns1:t>
            </ns1:r>
          </ns1:p>
        </ns0:txBody>
      </ns0:sp>
      <ns0:sp>
        <ns0:nvSpPr>
          <ns0:cNvPr id="13" name="Oval 12"/>
          <ns0:cNvSpPr/>
          <ns0:nvPr/>
        </ns0:nvSpPr>
        <ns0:spPr>
          <ns1:xfrm>
            <ns1:off x="1133856" y="3200400"/>
            <ns1:ext cx="402336" cy="402336"/>
          </ns1:xfrm>
          <ns1:prstGeom prst="ellipse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3</ns1:t>
            </ns1:r>
          </ns1:p>
        </ns0:txBody>
      </ns0:sp>
      <ns0:sp>
        <ns0:nvSpPr>
          <ns0:cNvPr id="14" name="Rounded Rectangle 13">
            <ns1:hlinkClick ns2:id="rId5" action="ppaction://hlinksldjump"/>
          </ns0:cNvPr>
          <ns0:cNvSpPr/>
          <ns0:nvPr/>
        </ns0:nvSpPr>
        <ns0:spPr>
          <ns1:xfrm>
            <ns1:off x="969264" y="3785616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Допущен к работе</ns1:t>
            </ns1:r>
          </ns1:p>
        </ns0:txBody>
      </ns0:sp>
      <ns0:sp>
        <ns0:nvSpPr>
          <ns0:cNvPr id="15" name="Oval 14"/>
          <ns0:cNvSpPr/>
          <ns0:nvPr/>
        </ns0:nvSpPr>
        <ns0:spPr>
          <ns1:xfrm>
            <ns1:off x="1133856" y="3858768"/>
            <ns1:ext cx="402336" cy="402336"/>
          </ns1:xfrm>
          <ns1:prstGeom prst="ellipse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4</ns1:t>
            </ns1:r>
          </ns1:p>
        </ns0:txBody>
      </ns0:sp>
      <ns0:sp>
        <ns0:nvSpPr>
          <ns0:cNvPr id="16" name="Rounded Rectangle 15">
            <ns1:hlinkClick ns2:id="rId6" action="ppaction://hlinksldjump"/>
          </ns0:cNvPr>
          <ns0:cNvSpPr/>
          <ns0:nvPr/>
        </ns0:nvSpPr>
        <ns0:spPr>
          <ns1:xfrm>
            <ns1:off x="969264" y="4443983"/>
            <ns1:ext cx="10012680" cy="548640"/>
          </ns1:xfrm>
          <ns1:prstGeom prst="roundRect">
            <ns1:avLst>
              <ns1:gd name="adj" fmla="val 19300"/>
            </ns1:avLst>
          </ns1:prstGeom>
          <ns1:solidFill>
            <ns1:srgbClr val="FFFFFF"/>
          </ns1:solidFill>
          <ns1:ln w="1778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lIns="160000" rIns="160000" rtlCol="0" anchor="ctr"/>
          <ns1:lstStyle/>
          <ns1:p>
            <ns1:pPr algn="l"/>
            <ns1:r>
              <ns1:rPr sz="1600" b="1">
                <ns1:solidFill>
                  <ns1:srgbClr val="212B36"/>
                </ns1:solidFill>
              </ns1:rPr>
              <ns1:t>Использует СИЗ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1133856" y="4517136"/>
            <ns1:ext cx="402336" cy="402336"/>
          </ns1:xfrm>
          <ns1:prstGeom prst="ellipse">
            <ns1:avLst/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500" b="1">
                <ns1:solidFill>
                  <ns1:srgbClr val="FFFFFF"/>
                </ns1:solidFill>
              </ns1:rPr>
              <ns1:t>5</ns1:t>
            </ns1: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969264" y="5230368"/>
            <ns1:ext cx="10012680" cy="640080"/>
          </ns1:xfrm>
          <ns1:prstGeom prst="roundRect">
            <ns1:avLst>
              <ns1:gd name="adj" fmla="val 19300"/>
            </ns1:avLst>
          </ns1:prstGeom>
          <ns1:solidFill>
            <ns1:srgbClr val="FAF2EC"/>
          </ns1:solidFill>
          <ns1:ln w="1524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endParaRPr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1188720" y="5413248"/>
            <ns1:ext cx="9555480" cy="219456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200" b="1">
                <ns1:solidFill>
                  <ns1:srgbClr val="DE7436"/>
                </ns1:solidFill>
              </ns1:rPr>
              <ns1:t>Допуск — это не формальность, а условие безопасной работы.</ns1:t>
            </ns1:r>
          </ns1:p>
        </ns0:txBody>
      </ns0:sp>
      <ns0:sp>
        <ns0:nvSpPr>
          <ns0:cNvPr id="20" name="Rounded Rectangle 19">
            <ns1:hlinkClick ns2:id="rId7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21" name="Rounded Rectangle 20">
            <ns1:hlinkClick ns2:id="rId8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</ns0:spTree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пройти обучение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S005-P01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275000"/>
            <ns1:ext cx="405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275000"/>
            <ns1:ext cx="4050000" cy="600000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Профессиональное обучение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855800" y="2010000"/>
            <ns1:ext cx="37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0">
                <ns1:solidFill>
                  <ns1:srgbClr val="212B36"/>
                </ns1:solidFill>
                <ns1:latin typeface="Arial"/>
              </ns1:rPr>
              <ns1:t>Профессиональное обучение по профессии «стропальщик» может проводить учебный центр или работодатель непосредственно на производстве.</ns1:t>
            </ns1:r>
          </ns1:p>
          <ns1:p>
            <ns1:pPr algn="l">
              <ns1:lnSpc>
                <ns1:spcPct val="105000"/>
              </ns1:lnSpc>
              <ns1:spcAft>
                <ns1:spcPts val="800"/>
              </ns1:spcAft>
            </ns1:pPr>
            <ns1:r>
              <ns1:rPr sz="1360" b="1">
                <ns1:solidFill>
                  <ns1:srgbClr val="212B36"/>
                </ns1:solidFill>
                <ns1:latin typeface="Arial"/>
              </ns1:rPr>
              <ns1:t>Обязательное условие — наличие лицензии на образовательную деятельность по программам профессионального обучения.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4975800" y="1275000"/>
            <ns1:ext cx="6510000" cy="446000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4975800" y="1275000"/>
            <ns1:ext cx="6510000" cy="600000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Обучение по Охрана труда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5125800" y="2010000"/>
            <ns1:ext cx="6210000" cy="344000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0">
                <ns1:solidFill>
                  <ns1:srgbClr val="212B36"/>
                </ns1:solidFill>
                <ns1:latin typeface="Arial"/>
              </ns1:rPr>
              <ns1:t>По ПП РФ № 2464 стропальщик должен пройти: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Б — не менее 16 часов, затем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первой помощи — не реже одного раза в 3 года. Отдельная программа длится не менее 8 часов.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Обучение применению СИЗ — если средства защиты требуют практических навыков. Периодичность — не реже одного раза в 3 года.</ns1:t>
            </ns1:r>
          </ns1:p>
          <ns1:p>
            <ns1:pPr algn="l">
              <ns1:lnSpc>
                <ns1:spcPct val="98000"/>
              </ns1:lnSpc>
              <ns1:spcAft>
                <ns1:spcPts val="200"/>
              </ns1:spcAft>
            </ns1:pPr>
            <ns1:r>
              <ns1:rPr sz="1160" b="0">
                <ns1:solidFill>
                  <ns1:srgbClr val="212B36"/>
                </ns1:solidFill>
                <ns1:latin typeface="Arial"/>
              </ns1:rPr>
              <ns1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ns1:t>
            </ns1:r>
          </ns1:p>
          <ns1:p>
            <ns1:pPr algn="l">
              <ns1:lnSpc>
                <ns1:spcPct val="98000"/>
              </ns1:lnSpc>
              <ns1:spcAft>
                <ns1:spcPts val="400"/>
              </ns1:spcAft>
            </ns1:pPr>
            <ns1:r>
              <ns1:rPr sz="1180" b="1">
                <ns1:solidFill>
                  <ns1:srgbClr val="212B36"/>
                </ns1:solidFill>
                <ns1:latin typeface="Arial"/>
              </ns1:rPr>
              <ns1:t>ПП РФ № 2464 регулирует обучение по охране труда, но не заменяет профессиональное обучение по профессии «стропальщик».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603000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инструктаж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S005-P02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Инструктаж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algn="l">
              <ns1:lnSpc>
                <ns1:spcPct val="112000"/>
              </ns1:lnSpc>
              <ns1:spcAft>
                <ns1:spcPts val="1000"/>
              </ns1:spcAft>
            </ns1:pPr>
            <ns1:r>
              <ns1:rPr sz="1700" b="0" dirty="0" err="1" smtClean="0">
                <ns1:solidFill>
                  <ns1:srgbClr val="212B36"/>
                </ns1:solidFill>
                <ns1:latin typeface="Arial"/>
              </ns1:rPr>
              <ns1:t>Инструктажи</ns1:t>
            </ns1:r>
            <ns1:r>
              <ns1:rPr sz="1700" b="0" dirty="0" smtClean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охране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труда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: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вводный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,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первичный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Повторный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реже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одного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раза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в 6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месяцев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  <ns1:p>
            <ns1:pPr algn="l">
              <ns1:lnSpc>
                <ns1:spcPct val="112000"/>
              </ns1:lnSpc>
              <ns1:spcAft>
                <ns1:spcPts val="600"/>
              </ns1:spcAft>
            </ns1:pP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Внеплановый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и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целевой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—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при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 </ns1:t>
            </ns1:r>
            <ns1:r>
              <ns1:rPr sz="1700" b="0" dirty="0" err="1">
                <ns1:solidFill>
                  <ns1:srgbClr val="212B36"/>
                </ns1:solidFill>
                <ns1:latin typeface="Arial"/>
              </ns1:rPr>
              <ns1:t>необходимости</ns1:t>
            </ns1:r>
            <ns1:r>
              <ns1:rPr sz="1700" b="0" dirty="0">
                <ns1:solidFill>
                  <ns1:srgbClr val="212B36"/>
                </ns1:solidFill>
                <ns1:latin typeface="Arial"/>
              </ns1:rPr>
              <ns1:t>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Зачем нужен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Объяснили.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Понял.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Применяешь на работе.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такое проверка знаний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S005-P03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Проверка знаний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Показывает, что работник понял требования.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 готовность к допуску.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Не является формальностью.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42855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Логика допуска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Знание.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Допуск.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Безопасная работа.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значит допуск к работе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S005-P04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Допуск к работе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941832" y="2240280"/>
            <ns1:ext cx="602589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Оформляется после обучения, инструктажа и проверки знаний.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Подтверждает, что работник может работать самостоятельно.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Без допуска самостоятельная работа недопустима.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7543800" y="1325880"/>
            <ns1:ext cx="393192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000" b="1">
                <ns1:solidFill>
                  <ns1:srgbClr val="FFFFFF"/>
                </ns1:solidFill>
              </ns1:rPr>
              <ns1:t>Что это дает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240280"/>
            <ns1:ext cx="3419856" cy="306324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Понятный статус допуска.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Право выполнять работу по правилам.</ns1:t>
            </ns1:r>
          </ns1:p>
          <ns1:p>
            <ns1:pPr>
              <ns1:spcAft>
                <ns1:spcPts val="800"/>
              </ns1:spcAft>
            </ns1:pPr>
            <ns1:r>
              <ns1:rPr sz="1600">
                <ns1:solidFill>
                  <ns1:srgbClr val="212B36"/>
                </ns1:solidFill>
              </ns1:rPr>
              <ns1:t>Основу для безопасной самостоятельной работы.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slides/slide1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Что входит в СИЗ стропальщика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S005-P05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Подвал от S005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85800" y="1325880"/>
            <ns1:ext cx="6537960" cy="41605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85800" y="1325880"/>
            <ns1:ext cx="6537960" cy="658368"/>
          </ns1:xfrm>
          <ns1:prstGeom prst="roundRect">
            <ns1:avLst>
              <ns1:gd name="adj" fmla="val 19300"/>
            </ns1:avLst>
          </ns1:prstGeom>
          <ns1:solidFill>
            <ns1:srgbClr val="122B42"/>
          </ns1:solidFill>
          <ns1:ln>
            <ns1:solidFill>
              <ns1:srgbClr val="122B42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Общепроизводственные СИЗ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7543800" y="1325880"/>
            <ns1:ext cx="3931920" cy="4142232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7780"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7543800" y="1325880"/>
            <ns1:ext cx="3931920" cy="658368"/>
          </ns1:xfrm>
          <ns1:prstGeom prst="roundRect">
            <ns1:avLst>
              <ns1:gd name="adj" fmla="val 19300"/>
            </ns1:avLst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Требования к СИЗ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7799832" y="2130552"/>
            <ns1:ext cx="3419856" cy="3172968"/>
          </ns1:xfrm>
          <ns1:prstGeom prst="rect">
            <ns1:avLst/>
          </ns1:prstGeom>
          <ns1:noFill/>
        </ns0:spPr>
        <ns0:txBody>
          <ns1:bodyPr wrap="square" anchor="t" lIns="36576" rIns="36576" tIns="18288" bIns="18288">
            <ns1:spAutoFit/>
          </ns1:bodyPr>
          <ns1:lstStyle/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ns1:t>
            </ns1:r>
          </ns1:p>
          <ns1:p>
            <ns1:pPr algn="l">
              <ns1:spcAft>
                <ns1:spcPts val="300"/>
              </ns1:spcAft>
            </ns1:pPr>
            <ns1:r>
              <ns1:rPr sz="1180" b="1">
                <ns1:solidFill>
                  <ns1:srgbClr val="212B36"/>
                </ns1:solidFill>
              </ns1:rPr>
              <ns1:t>СИЗ должны отвечать пяти ключевым критериям:</ns1:t>
            </ns1:r>
          </ns1:p>
          <ns1:p>
            <ns1:pPr algn="l">
              <ns1:spcAft>
                <ns1:spcPts val="300"/>
              </ns1:spcAft>
            </ns1:pPr>
            <ns1:r>
              <ns1:rPr sz="1140">
                <ns1:solidFill>
                  <ns1:srgbClr val="212B36"/>
                </ns1:solidFill>
              </ns1:rPr>
              <ns1:t>безопасность самого изделия / защитная эффективность / эргономика и комфорт / стойкость к уходу / обязательная маркировка</ns1:t>
            </ns1:r>
          </ns1:p>
          <ns1:p>
            <ns1:pPr algn="l">
              <ns1:spcAft>
                <ns1:spcPts val="0"/>
              </ns1:spcAft>
            </ns1:pPr>
            <ns1:r>
              <ns1:rPr sz="1140">
                <ns1:solidFill>
                  <ns1:srgbClr val="5F6D7B"/>
                </ns1:solidFill>
              </ns1:rPr>
              <ns1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pic>
        <ns0:nvPicPr>
          <ns0:cNvPr id="13" name="Picture 12" descr="VIS-0011_siz_s005-p05_body-clean_v21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758952" y="2076173"/>
            <ns1:ext cx="6391656" cy="331830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r>
              <ns1:t>Квалификация стропальщика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S006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Тема 1 • общая часть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640080" y="1325880"/>
            <ns1:ext cx="10881360" cy="42976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640080" y="1325880"/>
            <ns1:ext cx="1088136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r>
              <ns1:t>Разряды 2-6</ns1:t>
            </ns1:r>
          </ns1:p>
        </ns0:txBody>
      </ns0:sp>
      <ns0:sp>
        <ns0:nvSpPr>
          <ns0:cNvPr id="12" name="Rounded Rectangle 11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  <ns0:sp>
        <ns0:nvSpPr>
          <ns0:cNvPr id="13" name="Rounded Rectangle 12">
            <ns1:hlinkClick ns2:id="rId3" action="ppaction://hlinksldjump"/>
          </ns0:cNvPr>
          <ns0:cNvSpPr/>
          <ns0:nvPr/>
        </ns0:nvSpPr>
        <ns0:spPr>
          <ns1:xfrm>
            <ns1:off x="9372600" y="5989320"/>
            <ns1:ext cx="2148840" cy="457200"/>
          </ns1:xfrm>
          <ns1:prstGeom prst="roundRect">
            <ns1:avLst/>
          </ns1:prstGeom>
          <ns1:solidFill>
            <ns1:srgbClr val="DE7436"/>
          </ns1:solidFill>
          <ns1:ln>
            <ns1:solidFill>
              <ns1:srgbClr val="DE743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ДАЛЕЕ</ns1:t>
            </ns1:r>
          </ns1:p>
        </ns0:txBody>
      </ns0:sp>
      <ns0:graphicFrame>
        <ns0:nvGraphicFramePr>
          <ns0:cNvPr id="14" name="Table 13"/>
          <ns0:cNvGraphicFramePr>
            <ns1:graphicFrameLocks noGrp="1"/>
          </ns0:cNvGraphicFramePr>
          <ns0:nvPr/>
        </ns0:nvGraphicFramePr>
        <ns0:xfrm>
          <ns1:off x="749808" y="1984248"/>
          <ns1:ext cx="10533888" cy="3593592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170432"/>
                <ns1:gridCol w="3063240"/>
                <ns1:gridCol w="3886200"/>
                <ns1:gridCol w="2414016"/>
              </ns1:tblGrid>
              <ns1:tr h="493776"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Разряд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Допустимый
вес груза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Сложность груза
и конструкций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100" b="1">
                          <ns1:solidFill>
                            <ns1:srgbClr val="FFFFFF"/>
                          </ns1:solidFill>
                        </ns1:rPr>
                        <ns1:t>Длина лесных
грузов</ns1:t>
                      </ns1:r>
                    </ns1:p>
                  </ns1:txBody>
                  <ns1:tcPr marL="64008" marR="64008" marT="27432" marB="27432">
                    <ns1:solidFill>
                      <ns1:srgbClr val="265A89"/>
                    </ns1:solidFill>
                  </ns1:tcPr>
                </ns1:tc>
              </ns1:tr>
              <ns1:tr h="310896"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2 разряд</ns1:t>
                      </ns1:r>
                    </ns1:p>
                  </ns1:txBody>
                  <ns1:tcPr marL="64008" marR="64008" marT="27432" marB="27432">
                    <ns1:solidFill>
                      <ns1:srgbClr val="EBF2F8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5 тонн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Простые изделия и
детали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3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10896"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3 разряд</ns1:t>
                      </ns1:r>
                    </ns1:p>
                  </ns1:txBody>
                  <ns1:tcPr marL="64008" marR="64008" marT="27432" marB="27432">
                    <ns1:solidFill>
                      <ns1:srgbClr val="F0F4F7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5 до 25 тонн (простые)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Простые и средней
сложности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3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1089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5 тонн (средние)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56616">
                <ns1:tc rowSpan="3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4 разряд</ns1:t>
                      </ns1:r>
                    </ns1:p>
                  </ns1:txBody>
                  <ns1:tcPr marL="64008" marR="64008" marT="27432" marB="27432">
                    <ns1:solidFill>
                      <ns1:srgbClr val="F0F4F7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25 тонн (простые)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3"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Средние, штучные,
требующие
осторожности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3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3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5661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5 до 25 тонн (средние)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5661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До 5 тонн (сложные)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56616"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5 разряд</ns1:t>
                      </ns1:r>
                    </ns1:p>
                  </ns1:txBody>
                  <ns1:tcPr marL="64008" marR="64008" marT="27432" marB="27432">
                    <ns1:solidFill>
                      <ns1:srgbClr val="FAF2EC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25 тонн (средние)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0">
                          <ns1:solidFill>
                            <ns1:srgbClr val="212B36"/>
                          </ns1:solidFill>
                        </ns1:rPr>
                        <ns1:t>Сложные конструкции,
стапельная сборка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rowSpan="2"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3 до 6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  <ns1:tr h="356616">
                <ns1:tc vMerge="1">
                  <ns1:txBody>
                    <ns1:bodyPr/>
                    <ns1:lstStyle/>
                    <ns1:p/>
                  </ns1:txBody>
                  <ns1:tcPr/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От 5 до 50 тонн (сложные)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  <ns1:tc vMerge="1">
                  <ns1:txBody>
                    <ns1:bodyPr/>
                    <ns1:lstStyle/>
                    <ns1:p/>
                  </ns1:txBody>
                  <ns1:tcPr/>
                </ns1:tc>
              </ns1:tr>
              <ns1:tr h="384048"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50" b="1">
                          <ns1:solidFill>
                            <ns1:srgbClr val="212B36"/>
                          </ns1:solidFill>
                        </ns1:rPr>
                        <ns1:t>6 разряд</ns1:t>
                      </ns1:r>
                    </ns1:p>
                  </ns1:txBody>
                  <ns1:tcPr marL="64008" marR="64008" marT="27432" marB="27432">
                    <ns1:solidFill>
                      <ns1:srgbClr val="FAF2EC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50 тонн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l">
                        <ns1:spcAft>
                          <ns1:spcPts val="0"/>
                        </ns1:spcAft>
                      </ns1:pPr>
                      <ns1:r>
                        <ns1:rPr sz="950" b="1">
                          <ns1:solidFill>
                            <ns1:srgbClr val="212B36"/>
                          </ns1:solidFill>
                        </ns1:rPr>
                        <ns1:t>Особо
ответственные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anchor="ctr"/>
                    <ns1:lstStyle/>
                    <ns1:p>
                      <ns1:pPr algn="ctr">
                        <ns1:spcAft>
                          <ns1:spcPts val="0"/>
                        </ns1:spcAft>
                      </ns1:pPr>
                      <ns1:r>
                        <ns1:rPr sz="1000" b="0">
                          <ns1:solidFill>
                            <ns1:srgbClr val="212B36"/>
                          </ns1:solidFill>
                        </ns1:rPr>
                        <ns1:t>Свыше 6 метров</ns1:t>
                      </ns1:r>
                    </ns1:p>
                  </ns1:txBody>
                  <ns1:tcPr marL="64008" marR="64008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</ns0:spTree>
  </ns0:cSld>
  <ns0:clrMapOvr>
    <ns1:masterClrMapping/>
  </ns0:clrMapOvr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0F4F7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Rectangle 1"/>
          <ns0:cNvSpPr/>
          <ns0:nvPr/>
        </ns0:nvSpPr>
        <ns0:spPr>
          <ns1:xfrm>
            <ns1:off x="0" y="0"/>
            <ns1:ext cx="12191695" cy="658368"/>
          </ns1:xfrm>
          <ns1:prstGeom prst="rect">
            <ns1:avLst/>
          </ns1:prstGeom>
          <ns1:solidFill>
            <ns1:srgbClr val="122B4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411480" y="128016"/>
            <ns1:ext cx="78638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400" b="1">
                <ns1:solidFill>
                  <ns1:srgbClr val="FFFFFF"/>
                </ns1:solidFill>
              </ns1:rPr>
              <ns1:t>Тема 2. Стропальные работы</ns1:t>
            </ns1:r>
          </ns1:p>
        </ns0:txBody>
      </ns0:sp>
      <ns0:sp>
        <ns0:nvSpPr>
          <ns0:cNvPr id="4" name="Rounded Rectangle 3"/>
          <ns0:cNvSpPr/>
          <ns0:nvPr/>
        </ns0:nvSpPr>
        <ns0:spPr>
          <ns1:xfrm>
            <ns1:off x="10469880" y="128016"/>
            <ns1:ext cx="1234440" cy="320040"/>
          </ns1:xfrm>
          <ns1:prstGeom prst="roundRect">
            <ns1:avLst/>
          </ns1:prstGeom>
          <ns1:solidFill>
            <ns1:srgbClr val="DE743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600" b="1">
                <ns1:solidFill>
                  <ns1:srgbClr val="FFFFFF"/>
                </ns1:solidFill>
              </ns1:rPr>
              <ns1:t>S007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749808"/>
            <ns1:ext cx="594360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100" b="0">
                <ns1:solidFill>
                  <ns1:srgbClr val="6E7A86"/>
                </ns1:solidFill>
              </ns1:rPr>
              <ns1:t>Переход к основному практическому блоку</ns1:t>
            </ns1:r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822960" y="1463040"/>
            <ns1:ext cx="5074920" cy="406908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 w="19050"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7" name="Rounded Rectangle 6"/>
          <ns0:cNvSpPr/>
          <ns0:nvPr/>
        </ns0:nvSpPr>
        <ns0:spPr>
          <ns1:xfrm>
            <ns1:off x="822960" y="1463040"/>
            <ns1:ext cx="5074920" cy="658368"/>
          </ns1:xfrm>
          <ns1:prstGeom prst="roundRect">
            <ns1:avLst>
              <ns1:gd name="adj" fmla="val 19300"/>
            </ns1:avLst>
          </ns1:prstGeom>
          <ns1:solidFill>
            <ns1:srgbClr val="265A89"/>
          </ns1:solidFill>
          <ns1:ln>
            <ns1:solidFill>
              <ns1:srgbClr val="265A89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lIns="160000" rIns="160000"/>
          <ns1:lstStyle/>
          <ns1:p>
            <ns1:pPr algn="ctr"/>
            <ns1:r>
              <ns1:rPr sz="2200" b="1">
                <ns1:solidFill>
                  <ns1:srgbClr val="FFFFFF"/>
                </ns1:solidFill>
              </ns1:rPr>
              <ns1:t>Что дальше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1078992" y="2377440"/>
            <ns1:ext cx="4562856" cy="29718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В Теме 2 начинается прикладная часть курса.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Здесь будут грузы, схемы строповки, сигналы и опасные зоны.</ns1:t>
            </ns1:r>
          </ns1:p>
          <ns1:p>
            <ns1:pPr>
              <ns1:spcAft>
                <ns1:spcPts val="800"/>
              </ns1:spcAft>
            </ns1:pPr>
            <ns1:r>
              <ns1:rPr sz="1700">
                <ns1:solidFill>
                  <ns1:srgbClr val="212B36"/>
                </ns1:solidFill>
              </ns1:rPr>
              <ns1:t>Это точка перехода из вводной части в основную работу.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217920" y="1645920"/>
            <ns1:ext cx="4572000" cy="2560320"/>
          </ns1:xfrm>
          <ns1:prstGeom prst="roundRect">
            <ns1:avLst>
              <ns1:gd name="adj" fmla="val 3050"/>
            </ns1:avLst>
          </ns1:prstGeom>
          <ns1:solidFill>
            <ns1:srgbClr val="FFFFFF"/>
          </ns1:solidFill>
          <ns1:ln>
            <ns1:solidFill>
              <ns1:srgbClr val="42855F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583680" y="1965960"/>
            <ns1:ext cx="3840480" cy="1417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900" b="1">
                <ns1:solidFill>
                  <ns1:srgbClr val="212B36"/>
                </ns1:solidFill>
              </ns1:rPr>
              <ns1:t>Тема 2.1 Грузы
→ Тема 2.2 Технология
→ Тема 2.3 Производство работ</ns1:t>
            </ns1:r>
          </ns1:p>
        </ns0:txBody>
      </ns0:sp>
      <ns0:sp>
        <ns0:nvSpPr>
          <ns0:cNvPr id="11" name="Rounded Rectangle 10">
            <ns1:hlinkClick ns2:id="rId2" action="ppaction://hlinksldjump"/>
          </ns0:cNvPr>
          <ns0:cNvSpPr/>
          <ns0:nvPr/>
        </ns0:nvSpPr>
        <ns0:spPr>
          <ns1:xfrm>
            <ns1:off x="640080" y="5989320"/>
            <ns1:ext cx="2148840" cy="457200"/>
          </ns1:xfrm>
          <ns1:prstGeom prst="roundRect">
            <ns1:avLst/>
          </ns1:prstGeom>
          <ns1:solidFill>
            <ns1:srgbClr val="537795"/>
          </ns1:solidFill>
          <ns1:ln>
            <ns1:solidFill>
              <ns1:srgbClr val="53779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sz="1800" b="1">
                <ns1:solidFill>
                  <ns1:srgbClr val="FFFFFF"/>
                </ns1:solidFill>
              </ns1:rPr>
              <ns1:t>НАЗАД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1214</Words>
  <Application>Microsoft Office PowerPoint</Application>
  <PresentationFormat>Произвольный</PresentationFormat>
  <Paragraphs>242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4</cp:revision>
  <dcterms:created xsi:type="dcterms:W3CDTF">2013-01-27T09:14:16Z</dcterms:created>
  <dcterms:modified xsi:type="dcterms:W3CDTF">2026-06-23T19:11:25Z</dcterms:modified>
  <cp:category/>
</cp:coreProperties>
</file>