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01E2C-2F15-4A96-AADD-930527E970D0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CFD7F-B894-490B-A87F-99563E58E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77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CFD7F-B894-490B-A87F-99563E58E0C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67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Тема 2.3. Производство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Опасная зона, запреты, специальные условия, ЛЭП и усиление 5-6.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611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Вход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входит в блок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62432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Как читать пространство работ и где проходит опасная зона.</a:t>
            </a:r>
          </a:p>
          <a:p>
            <a:r>
              <a:t>• Какие нарушения чаще всего приводят к тяжелым последствиям.</a:t>
            </a:r>
          </a:p>
          <a:p>
            <a:r>
              <a:t>• Почему специальные условия и ЛЭП требуют отдельного порядка.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6118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9326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Опорный</a:t>
            </a:r>
            <a:r>
              <a:rPr dirty="0"/>
              <a:t> </a:t>
            </a:r>
            <a:r>
              <a:rPr dirty="0" err="1"/>
              <a:t>визуал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724912"/>
            <a:ext cx="5047488" cy="258775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r>
              <a:t>• Рабочая площадка, кран и траектория груза.</a:t>
            </a:r>
          </a:p>
          <a:p>
            <a:r>
              <a:t>• Контур опасной зоны.</a:t>
            </a:r>
          </a:p>
          <a:p>
            <a:r>
              <a:t>• Безопасная организация пространства без перегруза деталями.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Что будет в подтеме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Маршрут блока: от опасной зоны и запретов к ЛЭП, сложным подъемам и разбору нарушений.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11810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118104" cy="53035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Опасная зона и границы риска на площадке.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82880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0" y="182880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2452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2148840"/>
            <a:ext cx="311810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2496312"/>
            <a:ext cx="3118104" cy="53035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Требования безопасности и обязательные запреты.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80" y="1828800"/>
            <a:ext cx="36576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26680" y="1828800"/>
            <a:ext cx="36576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3640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2148840"/>
            <a:ext cx="343814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496312"/>
            <a:ext cx="3438144" cy="53035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Специальные условия и организация работ по схеме.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3756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333756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" y="341071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3657600"/>
            <a:ext cx="311810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005072"/>
            <a:ext cx="3118104" cy="53035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 dirty="0" err="1">
                <a:solidFill>
                  <a:srgbClr val="4B5563"/>
                </a:solidFill>
                <a:latin typeface="Arial"/>
              </a:rPr>
              <a:t>Базовые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Arial"/>
              </a:rPr>
              <a:t>правила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Arial"/>
              </a:rPr>
              <a:t>работы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Arial"/>
              </a:rPr>
              <a:t>стреловыми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Arial"/>
              </a:rPr>
              <a:t>кранами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Arial"/>
              </a:rPr>
              <a:t>вблизи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ЛЭП.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33756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14800" y="333756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24528" y="341071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3657600"/>
            <a:ext cx="311810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 dirty="0" err="1">
                <a:solidFill>
                  <a:srgbClr val="111111"/>
                </a:solidFill>
                <a:latin typeface="Arial"/>
              </a:rPr>
              <a:t>Шаг</a:t>
            </a:r>
            <a:r>
              <a:rPr sz="1200" b="1" dirty="0">
                <a:solidFill>
                  <a:srgbClr val="111111"/>
                </a:solidFill>
                <a:latin typeface="Arial"/>
              </a:rPr>
              <a:t>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1870" y="3986784"/>
            <a:ext cx="3118104" cy="53035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sz="1000" dirty="0" err="1"/>
              <a:t>Усиление</a:t>
            </a:r>
            <a:r>
              <a:rPr sz="1000" dirty="0"/>
              <a:t> 5-6: </a:t>
            </a:r>
            <a:r>
              <a:rPr sz="1000" dirty="0" err="1"/>
              <a:t>руководство</a:t>
            </a:r>
            <a:r>
              <a:rPr sz="1000" dirty="0"/>
              <a:t> </a:t>
            </a:r>
            <a:r>
              <a:rPr sz="1000" dirty="0" err="1">
                <a:latin typeface="Arial" panose="020B0604020202020204" pitchFamily="34" charset="0"/>
                <a:cs typeface="Arial" panose="020B0604020202020204" pitchFamily="34" charset="0"/>
              </a:rPr>
              <a:t>операцией</a:t>
            </a:r>
            <a:r>
              <a:rPr sz="1000" dirty="0"/>
              <a:t>, </a:t>
            </a:r>
            <a:r>
              <a:rPr sz="1000" dirty="0" err="1"/>
              <a:t>документы</a:t>
            </a:r>
            <a:r>
              <a:rPr sz="1000" dirty="0"/>
              <a:t>, </a:t>
            </a:r>
            <a:r>
              <a:rPr sz="1000" dirty="0" err="1"/>
              <a:t>сложный</a:t>
            </a:r>
            <a:r>
              <a:rPr sz="1000" dirty="0"/>
              <a:t> </a:t>
            </a:r>
            <a:r>
              <a:rPr sz="1000" dirty="0" err="1"/>
              <a:t>подъем</a:t>
            </a:r>
            <a:r>
              <a:rPr sz="1000" dirty="0"/>
              <a:t> и </a:t>
            </a:r>
            <a:r>
              <a:rPr sz="1000" dirty="0" err="1"/>
              <a:t>работа</a:t>
            </a:r>
            <a:r>
              <a:rPr sz="1000" dirty="0"/>
              <a:t> у ЛЭП</a:t>
            </a:r>
            <a:r>
              <a:rPr dirty="0"/>
              <a:t>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80" y="3337560"/>
            <a:ext cx="36576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726680" y="3337560"/>
            <a:ext cx="36576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36408" y="341071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36408" y="3657600"/>
            <a:ext cx="343814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36408" y="4005072"/>
            <a:ext cx="3438144" cy="53035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 dirty="0" err="1">
                <a:solidFill>
                  <a:srgbClr val="4B5563"/>
                </a:solidFill>
                <a:latin typeface="Arial"/>
              </a:rPr>
              <a:t>Разбор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Arial"/>
              </a:rPr>
              <a:t>нарушений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и </a:t>
            </a:r>
            <a:r>
              <a:rPr sz="1000" b="0" dirty="0" err="1">
                <a:solidFill>
                  <a:srgbClr val="4B5563"/>
                </a:solidFill>
                <a:latin typeface="Arial"/>
              </a:rPr>
              <a:t>промежуточная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Arial"/>
              </a:rPr>
              <a:t>проверка</a:t>
            </a:r>
            <a:r>
              <a:rPr sz="1000" b="0" dirty="0">
                <a:solidFill>
                  <a:srgbClr val="4B5563"/>
                </a:solidFill>
                <a:latin typeface="Arial"/>
              </a:rPr>
              <a:t>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892040"/>
            <a:ext cx="3291840" cy="13258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909560" y="4892040"/>
            <a:ext cx="32918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09560" y="4928616"/>
            <a:ext cx="303580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Шесть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шагов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подтемы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931894" y="5287229"/>
            <a:ext cx="3035808" cy="301752"/>
          </a:xfrm>
          <a:prstGeom prst="rect">
            <a:avLst/>
          </a:prstGeom>
          <a:noFill/>
        </p:spPr>
        <p:txBody>
          <a:bodyPr wrap="square" lIns="36576" tIns="27432" rIns="36576" bIns="27432">
            <a:normAutofit fontScale="25000" lnSpcReduction="20000"/>
          </a:bodyPr>
          <a:lstStyle/>
          <a:p>
            <a:r>
              <a:rPr dirty="0"/>
              <a:t>• </a:t>
            </a:r>
            <a:r>
              <a:rPr sz="4000" dirty="0" err="1">
                <a:latin typeface="Arial" panose="020B0604020202020204" pitchFamily="34" charset="0"/>
                <a:cs typeface="Arial" panose="020B0604020202020204" pitchFamily="34" charset="0"/>
              </a:rPr>
              <a:t>Опасная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dirty="0" err="1">
                <a:latin typeface="Arial" panose="020B0604020202020204" pitchFamily="34" charset="0"/>
                <a:cs typeface="Arial" panose="020B0604020202020204" pitchFamily="34" charset="0"/>
              </a:rPr>
              <a:t>зона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4000" dirty="0" err="1">
                <a:latin typeface="Arial" panose="020B0604020202020204" pitchFamily="34" charset="0"/>
                <a:cs typeface="Arial" panose="020B0604020202020204" pitchFamily="34" charset="0"/>
              </a:rPr>
              <a:t>Запреты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4000" dirty="0" err="1">
                <a:latin typeface="Arial" panose="020B0604020202020204" pitchFamily="34" charset="0"/>
                <a:cs typeface="Arial" panose="020B0604020202020204" pitchFamily="34" charset="0"/>
              </a:rPr>
              <a:t>специальные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dirty="0" err="1">
                <a:latin typeface="Arial" panose="020B0604020202020204" pitchFamily="34" charset="0"/>
                <a:cs typeface="Arial" panose="020B0604020202020204" pitchFamily="34" charset="0"/>
              </a:rPr>
              <a:t>условия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• ЛЭП, </a:t>
            </a:r>
            <a:r>
              <a:rPr sz="4000" dirty="0" err="1">
                <a:latin typeface="Arial" panose="020B0604020202020204" pitchFamily="34" charset="0"/>
                <a:cs typeface="Arial" panose="020B0604020202020204" pitchFamily="34" charset="0"/>
              </a:rPr>
              <a:t>блок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 5-6 и </a:t>
            </a:r>
            <a:r>
              <a:rPr sz="4000" dirty="0" err="1">
                <a:latin typeface="Arial" panose="020B0604020202020204" pitchFamily="34" charset="0"/>
                <a:cs typeface="Arial" panose="020B0604020202020204" pitchFamily="34" charset="0"/>
              </a:rPr>
              <a:t>проверка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dirty="0" err="1">
                <a:latin typeface="Arial" panose="020B0604020202020204" pitchFamily="34" charset="0"/>
                <a:cs typeface="Arial" panose="020B0604020202020204" pitchFamily="34" charset="0"/>
              </a:rPr>
              <a:t>понимания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1. Опасная зона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опасная зона должна быть определена заранее, а не по месту.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303520" cy="3794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Урок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474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понять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47488" cy="280720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rPr dirty="0"/>
              <a:t>• </a:t>
            </a:r>
            <a:r>
              <a:rPr dirty="0" err="1"/>
              <a:t>Опасная</a:t>
            </a:r>
            <a:r>
              <a:rPr dirty="0"/>
              <a:t> </a:t>
            </a:r>
            <a:r>
              <a:rPr dirty="0" err="1"/>
              <a:t>зона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определяют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начала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грузом</a:t>
            </a:r>
            <a:r>
              <a:rPr dirty="0"/>
              <a:t> и в </a:t>
            </a:r>
            <a:r>
              <a:rPr dirty="0" err="1"/>
              <a:t>зоне</a:t>
            </a:r>
            <a:r>
              <a:rPr dirty="0"/>
              <a:t> </a:t>
            </a:r>
            <a:r>
              <a:rPr dirty="0" err="1"/>
              <a:t>возможного</a:t>
            </a:r>
            <a:r>
              <a:rPr dirty="0"/>
              <a:t> </a:t>
            </a:r>
            <a:r>
              <a:rPr dirty="0" err="1"/>
              <a:t>падения</a:t>
            </a:r>
            <a:r>
              <a:rPr dirty="0"/>
              <a:t> </a:t>
            </a:r>
            <a:r>
              <a:rPr dirty="0" err="1"/>
              <a:t>находиться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Границы</a:t>
            </a:r>
            <a:r>
              <a:rPr dirty="0"/>
              <a:t> </a:t>
            </a:r>
            <a:r>
              <a:rPr dirty="0" err="1"/>
              <a:t>риска</a:t>
            </a:r>
            <a:r>
              <a:rPr dirty="0"/>
              <a:t> </a:t>
            </a:r>
            <a:r>
              <a:rPr dirty="0" err="1"/>
              <a:t>зависят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груза</a:t>
            </a:r>
            <a:r>
              <a:rPr dirty="0"/>
              <a:t>, </a:t>
            </a:r>
            <a:r>
              <a:rPr dirty="0" err="1"/>
              <a:t>площадки</a:t>
            </a:r>
            <a:r>
              <a:rPr dirty="0"/>
              <a:t> и </a:t>
            </a:r>
            <a:r>
              <a:rPr dirty="0" err="1"/>
              <a:t>расположения</a:t>
            </a:r>
            <a:r>
              <a:rPr dirty="0"/>
              <a:t> </a:t>
            </a:r>
            <a:r>
              <a:rPr dirty="0" err="1"/>
              <a:t>крана</a:t>
            </a:r>
            <a:r>
              <a:rPr dirty="0"/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7947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3911" y="1947672"/>
            <a:ext cx="3147743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Опорный</a:t>
            </a:r>
            <a:r>
              <a:rPr dirty="0"/>
              <a:t> </a:t>
            </a:r>
            <a:r>
              <a:rPr dirty="0" err="1"/>
              <a:t>визуал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153912" y="2660904"/>
            <a:ext cx="49560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должно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видно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080760" y="3284062"/>
            <a:ext cx="4956048" cy="277063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r>
              <a:rPr dirty="0"/>
              <a:t>• </a:t>
            </a:r>
            <a:r>
              <a:rPr dirty="0" err="1"/>
              <a:t>Площадка</a:t>
            </a:r>
            <a:r>
              <a:rPr dirty="0"/>
              <a:t>, </a:t>
            </a:r>
            <a:r>
              <a:rPr dirty="0" err="1"/>
              <a:t>кран</a:t>
            </a:r>
            <a:r>
              <a:rPr dirty="0"/>
              <a:t> и </a:t>
            </a:r>
            <a:r>
              <a:rPr dirty="0" err="1"/>
              <a:t>груз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Границы</a:t>
            </a:r>
            <a:r>
              <a:rPr dirty="0"/>
              <a:t> </a:t>
            </a:r>
            <a:r>
              <a:rPr dirty="0" err="1"/>
              <a:t>опасной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Ограждения</a:t>
            </a:r>
            <a:r>
              <a:rPr dirty="0"/>
              <a:t> и </a:t>
            </a:r>
            <a:r>
              <a:rPr dirty="0" err="1"/>
              <a:t>знаки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06440"/>
            <a:ext cx="1874519" cy="256032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9496" y="5824728"/>
            <a:ext cx="4768228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Естьдополнительное</a:t>
            </a:r>
            <a:r>
              <a:rPr dirty="0"/>
              <a:t> </a:t>
            </a:r>
            <a:r>
              <a:rPr dirty="0" err="1"/>
              <a:t>пояснение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S044-P01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Подвал. Как читать опасную зону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Расширение по Игумнову: ППРк, стройгенплан, ограждения и знаки.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Подвал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проверяем до начала работ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85292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зона показана в ППРк и на стройгенплане.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 обозначены ограждения и знаки безопасности.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люди, проходы, техника и точки возможного падения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Можно ли считать расположение крана и груза безопасным.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9326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724912"/>
            <a:ext cx="5047488" cy="281635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(слайдшоу: ППРк -&gt; стройгенплан -&gt; ограждения -&gt; проходы)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разметка опасной зоны с пояснениями)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(изображение: учебная площадка с комментариями)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1. Как понимать опасную обстановку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Опасность складывается из траектории, раскачивания, помех и людей вокруг.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Контроль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На что смотреть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761487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Смотри на траекторию груза.</a:t>
            </a:r>
          </a:p>
          <a:p>
            <a:r>
              <a:t>• Учитывай раскачивание и разворот.</a:t>
            </a:r>
          </a:p>
          <a:p>
            <a:r>
              <a:t>• Над препятствием нужен зазор не менее 500 мм.</a:t>
            </a:r>
          </a:p>
          <a:p>
            <a:r>
              <a:t>• Проверяй помехи, проемы и людей в зоне.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242316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0" y="1828800"/>
            <a:ext cx="242316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7161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0819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Чек-лист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6" y="2221992"/>
            <a:ext cx="216712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Короткий чек-лист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2697480"/>
            <a:ext cx="2167128" cy="2761487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Траектория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Раскачивание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Помехи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Люди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1828800"/>
            <a:ext cx="2651760" cy="37490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549640" y="1828800"/>
            <a:ext cx="26517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776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14231" y="2039112"/>
            <a:ext cx="2237547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Короткий</a:t>
            </a:r>
            <a:r>
              <a:rPr dirty="0"/>
              <a:t> </a:t>
            </a:r>
            <a:r>
              <a:rPr dirty="0" err="1"/>
              <a:t>ориентир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677656" y="2221992"/>
            <a:ext cx="239572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помогает увидеть риск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7656" y="2724912"/>
            <a:ext cx="2395728" cy="2724911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Траектория.</a:t>
            </a:r>
          </a:p>
          <a:p>
            <a:r>
              <a:t>• Раскачивание.</a:t>
            </a:r>
          </a:p>
          <a:p>
            <a:r>
              <a:t>• Помехи и люди.</a:t>
            </a:r>
          </a:p>
          <a:p>
            <a:r>
              <a:t>• Зазор 500 мм.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2. Требования безопасности при производстве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Базовые правила и запреты образуют один обязательный рабочий блок.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47472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4747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База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32186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Базовые требования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3218688" cy="2944368"/>
          </a:xfrm>
          <a:prstGeom prst="rect">
            <a:avLst/>
          </a:prstGeom>
          <a:noFill/>
        </p:spPr>
        <p:txBody>
          <a:bodyPr wrap="square" lIns="36576" tIns="27432" rIns="36576" bIns="27432">
            <a:normAutofit lnSpcReduction="10000"/>
          </a:bodyPr>
          <a:lstStyle/>
          <a:p>
            <a:r>
              <a:rPr dirty="0"/>
              <a:t>• </a:t>
            </a:r>
            <a:r>
              <a:rPr sz="1600" dirty="0" err="1"/>
              <a:t>Работай</a:t>
            </a:r>
            <a:r>
              <a:rPr sz="1600" dirty="0"/>
              <a:t> </a:t>
            </a:r>
            <a:r>
              <a:rPr sz="1600" dirty="0" err="1"/>
              <a:t>только</a:t>
            </a:r>
            <a:r>
              <a:rPr sz="1600" dirty="0"/>
              <a:t> в </a:t>
            </a:r>
            <a:r>
              <a:rPr sz="1600" dirty="0" err="1"/>
              <a:t>безопасных</a:t>
            </a:r>
            <a:r>
              <a:rPr sz="1600" dirty="0"/>
              <a:t> </a:t>
            </a:r>
            <a:r>
              <a:rPr sz="1600" dirty="0" err="1"/>
              <a:t>условиях</a:t>
            </a:r>
            <a:r>
              <a:rPr sz="1600" dirty="0"/>
              <a:t>.</a:t>
            </a:r>
          </a:p>
          <a:p>
            <a:r>
              <a:rPr sz="1600" dirty="0"/>
              <a:t>• </a:t>
            </a:r>
            <a:r>
              <a:rPr sz="1600" dirty="0" err="1"/>
              <a:t>Соблюдай</a:t>
            </a:r>
            <a:r>
              <a:rPr sz="1600" dirty="0"/>
              <a:t> </a:t>
            </a:r>
            <a:r>
              <a:rPr sz="1600" dirty="0" err="1"/>
              <a:t>порядок</a:t>
            </a:r>
            <a:r>
              <a:rPr sz="1600" dirty="0"/>
              <a:t> </a:t>
            </a:r>
            <a:r>
              <a:rPr sz="1600" dirty="0" err="1"/>
              <a:t>работ</a:t>
            </a:r>
            <a:r>
              <a:rPr sz="1600" dirty="0"/>
              <a:t> и </a:t>
            </a:r>
            <a:r>
              <a:rPr sz="1600" dirty="0" err="1"/>
              <a:t>указания</a:t>
            </a:r>
            <a:r>
              <a:rPr sz="1600" dirty="0"/>
              <a:t> </a:t>
            </a:r>
            <a:r>
              <a:rPr sz="1600" dirty="0" err="1"/>
              <a:t>ответственных</a:t>
            </a:r>
            <a:r>
              <a:rPr sz="1600" dirty="0"/>
              <a:t> </a:t>
            </a:r>
            <a:r>
              <a:rPr sz="1600" dirty="0" err="1"/>
              <a:t>лиц</a:t>
            </a:r>
            <a:r>
              <a:rPr sz="1600" dirty="0"/>
              <a:t>.</a:t>
            </a:r>
          </a:p>
          <a:p>
            <a:r>
              <a:rPr sz="1600" dirty="0"/>
              <a:t>• </a:t>
            </a:r>
            <a:r>
              <a:rPr sz="1600" dirty="0" err="1"/>
              <a:t>При</a:t>
            </a:r>
            <a:r>
              <a:rPr sz="1600" dirty="0"/>
              <a:t> </a:t>
            </a:r>
            <a:r>
              <a:rPr sz="1600" dirty="0" err="1"/>
              <a:t>плохой</a:t>
            </a:r>
            <a:r>
              <a:rPr sz="1600" dirty="0"/>
              <a:t> </a:t>
            </a:r>
            <a:r>
              <a:rPr sz="1600" dirty="0" err="1"/>
              <a:t>видимости</a:t>
            </a:r>
            <a:r>
              <a:rPr sz="1600" dirty="0"/>
              <a:t> и </a:t>
            </a:r>
            <a:r>
              <a:rPr sz="1600" dirty="0" err="1"/>
              <a:t>сложной</a:t>
            </a:r>
            <a:r>
              <a:rPr sz="1600" dirty="0"/>
              <a:t> </a:t>
            </a:r>
            <a:r>
              <a:rPr sz="1600" dirty="0" err="1"/>
              <a:t>связи</a:t>
            </a:r>
            <a:r>
              <a:rPr sz="1600" dirty="0"/>
              <a:t> </a:t>
            </a:r>
            <a:r>
              <a:rPr sz="1600" dirty="0" err="1"/>
              <a:t>работай</a:t>
            </a:r>
            <a:r>
              <a:rPr sz="1600" dirty="0"/>
              <a:t> </a:t>
            </a:r>
            <a:r>
              <a:rPr sz="1600" dirty="0" err="1"/>
              <a:t>через</a:t>
            </a:r>
            <a:r>
              <a:rPr sz="1600" dirty="0"/>
              <a:t> </a:t>
            </a:r>
            <a:r>
              <a:rPr sz="1600" dirty="0" err="1"/>
              <a:t>сигнальщика</a:t>
            </a:r>
            <a:r>
              <a:rPr sz="1600" dirty="0"/>
              <a:t>.</a:t>
            </a:r>
          </a:p>
          <a:p>
            <a:r>
              <a:rPr sz="1600" dirty="0"/>
              <a:t>• </a:t>
            </a:r>
            <a:r>
              <a:rPr sz="1600" dirty="0" err="1"/>
              <a:t>При</a:t>
            </a:r>
            <a:r>
              <a:rPr sz="1600" dirty="0"/>
              <a:t> </a:t>
            </a:r>
            <a:r>
              <a:rPr sz="1600" dirty="0" err="1"/>
              <a:t>сильном</a:t>
            </a:r>
            <a:r>
              <a:rPr sz="1600" dirty="0"/>
              <a:t> </a:t>
            </a:r>
            <a:r>
              <a:rPr sz="1600" dirty="0" err="1"/>
              <a:t>ветре</a:t>
            </a:r>
            <a:r>
              <a:rPr sz="1600" dirty="0"/>
              <a:t>, </a:t>
            </a:r>
            <a:r>
              <a:rPr sz="1600" dirty="0" err="1"/>
              <a:t>грозе</a:t>
            </a:r>
            <a:r>
              <a:rPr sz="1600" dirty="0"/>
              <a:t>, </a:t>
            </a:r>
            <a:r>
              <a:rPr sz="1600" dirty="0" err="1"/>
              <a:t>тумане</a:t>
            </a:r>
            <a:r>
              <a:rPr sz="1600" dirty="0"/>
              <a:t>, </a:t>
            </a:r>
            <a:r>
              <a:rPr sz="1600" dirty="0" err="1"/>
              <a:t>снегопаде</a:t>
            </a:r>
            <a:r>
              <a:rPr sz="1600" dirty="0"/>
              <a:t> и </a:t>
            </a:r>
            <a:r>
              <a:rPr sz="1600" dirty="0" err="1"/>
              <a:t>резком</a:t>
            </a:r>
            <a:r>
              <a:rPr sz="1600" dirty="0"/>
              <a:t> </a:t>
            </a:r>
            <a:r>
              <a:rPr sz="1600" dirty="0" err="1"/>
              <a:t>ухудшении</a:t>
            </a:r>
            <a:r>
              <a:rPr sz="1600" dirty="0"/>
              <a:t> </a:t>
            </a:r>
            <a:r>
              <a:rPr sz="1600" dirty="0" err="1"/>
              <a:t>видимости</a:t>
            </a:r>
            <a:r>
              <a:rPr sz="1600" dirty="0"/>
              <a:t> </a:t>
            </a:r>
            <a:r>
              <a:rPr sz="1600" dirty="0" err="1"/>
              <a:t>работу</a:t>
            </a:r>
            <a:r>
              <a:rPr sz="1600" dirty="0"/>
              <a:t> </a:t>
            </a:r>
            <a:r>
              <a:rPr sz="1600" dirty="0" err="1"/>
              <a:t>прекращают</a:t>
            </a:r>
            <a:r>
              <a:rPr sz="1600" dirty="0"/>
              <a:t>.</a:t>
            </a:r>
          </a:p>
          <a:p>
            <a:r>
              <a:rPr sz="1600" dirty="0"/>
              <a:t>• </a:t>
            </a:r>
            <a:r>
              <a:rPr sz="1600" dirty="0" err="1"/>
              <a:t>При</a:t>
            </a:r>
            <a:r>
              <a:rPr sz="1600" dirty="0"/>
              <a:t> </a:t>
            </a:r>
            <a:r>
              <a:rPr sz="1600" dirty="0" err="1"/>
              <a:t>неисправности</a:t>
            </a:r>
            <a:r>
              <a:rPr sz="1600" dirty="0"/>
              <a:t> </a:t>
            </a:r>
            <a:r>
              <a:rPr sz="1600" dirty="0" err="1"/>
              <a:t>крана</a:t>
            </a:r>
            <a:r>
              <a:rPr sz="1600" dirty="0"/>
              <a:t> </a:t>
            </a:r>
            <a:r>
              <a:rPr sz="1600" dirty="0" err="1"/>
              <a:t>или</a:t>
            </a:r>
            <a:r>
              <a:rPr sz="1600" dirty="0"/>
              <a:t> </a:t>
            </a:r>
            <a:r>
              <a:rPr sz="1600" dirty="0" err="1"/>
              <a:t>оснастки</a:t>
            </a:r>
            <a:r>
              <a:rPr sz="1600" dirty="0"/>
              <a:t> </a:t>
            </a:r>
            <a:r>
              <a:rPr sz="1600" dirty="0" err="1"/>
              <a:t>работу</a:t>
            </a:r>
            <a:r>
              <a:rPr sz="1600" dirty="0"/>
              <a:t> </a:t>
            </a:r>
            <a:r>
              <a:rPr sz="1600" dirty="0" err="1"/>
              <a:t>прекращают</a:t>
            </a:r>
            <a:r>
              <a:rPr sz="1600" dirty="0"/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828800"/>
            <a:ext cx="329184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60520" y="1828800"/>
            <a:ext cx="329184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885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251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Смысл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2221992"/>
            <a:ext cx="303580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подчеркивает Игумнов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2697480"/>
            <a:ext cx="3035808" cy="294436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Большинство тяжелых происшествий связано с нарушением простых правил.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Любые ускоряющие приемы обычно и создают риск.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Стропальщик обязан остановить работу при опасности.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1828800"/>
            <a:ext cx="3566160" cy="393192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635240" y="1828800"/>
            <a:ext cx="35661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632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99832" y="1947672"/>
            <a:ext cx="2332140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Ключевой</a:t>
            </a:r>
            <a:r>
              <a:rPr dirty="0"/>
              <a:t> </a:t>
            </a:r>
            <a:r>
              <a:rPr dirty="0" err="1"/>
              <a:t>вывод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7763256" y="2221992"/>
            <a:ext cx="331012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нужно запомнить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735422"/>
            <a:ext cx="3310128" cy="2907792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Работают только в безопасных условиях.</a:t>
            </a:r>
          </a:p>
          <a:p>
            <a:r>
              <a:t>• Простые нарушения чаще всего и приводят к тяжелым последствиям.</a:t>
            </a:r>
          </a:p>
          <a:p>
            <a:r>
              <a:t>• При опасности работу останавливают.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2. Что запрещено и когда работу нужно остановить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Без понятной схемы, без безопасных условий и с опасными приемами работу не ведут.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754880" cy="384048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7548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Запрет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49884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запрещено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498848" cy="285292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rPr dirty="0"/>
              <a:t>•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подтаскивай</a:t>
            </a:r>
            <a:r>
              <a:rPr dirty="0"/>
              <a:t> </a:t>
            </a:r>
            <a:r>
              <a:rPr dirty="0" err="1"/>
              <a:t>груз</a:t>
            </a:r>
            <a:r>
              <a:rPr dirty="0"/>
              <a:t> </a:t>
            </a:r>
            <a:r>
              <a:rPr dirty="0" err="1"/>
              <a:t>краном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делай</a:t>
            </a:r>
            <a:r>
              <a:rPr dirty="0"/>
              <a:t> </a:t>
            </a:r>
            <a:r>
              <a:rPr dirty="0" err="1"/>
              <a:t>рывков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исправляй</a:t>
            </a:r>
            <a:r>
              <a:rPr dirty="0"/>
              <a:t> </a:t>
            </a:r>
            <a:r>
              <a:rPr dirty="0" err="1"/>
              <a:t>строповку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висящим</a:t>
            </a:r>
            <a:r>
              <a:rPr dirty="0"/>
              <a:t> </a:t>
            </a:r>
            <a:r>
              <a:rPr dirty="0" err="1"/>
              <a:t>грузом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работай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понятной</a:t>
            </a:r>
            <a:r>
              <a:rPr dirty="0"/>
              <a:t> </a:t>
            </a:r>
            <a:r>
              <a:rPr dirty="0" err="1"/>
              <a:t>схемы</a:t>
            </a:r>
            <a:r>
              <a:rPr dirty="0"/>
              <a:t> и </a:t>
            </a:r>
            <a:r>
              <a:rPr dirty="0" err="1"/>
              <a:t>организации</a:t>
            </a:r>
            <a:r>
              <a:rPr dirty="0"/>
              <a:t> </a:t>
            </a:r>
            <a:r>
              <a:rPr dirty="0" err="1"/>
              <a:t>работ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опускай</a:t>
            </a:r>
            <a:r>
              <a:rPr dirty="0"/>
              <a:t> </a:t>
            </a:r>
            <a:r>
              <a:rPr dirty="0" err="1"/>
              <a:t>груз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люди</a:t>
            </a:r>
            <a:r>
              <a:rPr dirty="0"/>
              <a:t> </a:t>
            </a:r>
            <a:r>
              <a:rPr dirty="0" err="1"/>
              <a:t>находятся</a:t>
            </a:r>
            <a:r>
              <a:rPr dirty="0"/>
              <a:t> в </a:t>
            </a:r>
            <a:r>
              <a:rPr dirty="0" err="1"/>
              <a:t>кузове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в </a:t>
            </a:r>
            <a:r>
              <a:rPr dirty="0" err="1"/>
              <a:t>кабине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перемещай</a:t>
            </a:r>
            <a:r>
              <a:rPr dirty="0"/>
              <a:t> </a:t>
            </a:r>
            <a:r>
              <a:rPr dirty="0" err="1"/>
              <a:t>стрелу</a:t>
            </a:r>
            <a:r>
              <a:rPr dirty="0"/>
              <a:t> </a:t>
            </a:r>
            <a:r>
              <a:rPr dirty="0" err="1"/>
              <a:t>над</a:t>
            </a:r>
            <a:r>
              <a:rPr dirty="0"/>
              <a:t> </a:t>
            </a:r>
            <a:r>
              <a:rPr dirty="0" err="1"/>
              <a:t>кабиной</a:t>
            </a:r>
            <a:r>
              <a:rPr dirty="0"/>
              <a:t> </a:t>
            </a:r>
            <a:r>
              <a:rPr dirty="0" err="1"/>
              <a:t>автомобиля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работай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выносных</a:t>
            </a:r>
            <a:r>
              <a:rPr dirty="0"/>
              <a:t> </a:t>
            </a:r>
            <a:r>
              <a:rPr dirty="0" err="1"/>
              <a:t>опор</a:t>
            </a:r>
            <a:r>
              <a:rPr dirty="0"/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828800"/>
            <a:ext cx="1828800" cy="640080"/>
          </a:xfrm>
          <a:prstGeom prst="rect">
            <a:avLst/>
          </a:prstGeom>
          <a:solidFill>
            <a:srgbClr val="FEF2F2"/>
          </a:solidFill>
          <a:ln w="1524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32120" y="1901952"/>
            <a:ext cx="1645920" cy="493776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1300" b="1">
                <a:solidFill>
                  <a:srgbClr val="C51F1F"/>
                </a:solidFill>
                <a:latin typeface="Arial"/>
              </a:rPr>
              <a:t>При опасности — стоп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2651760"/>
            <a:ext cx="1828800" cy="3017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40680" y="2651760"/>
            <a:ext cx="1828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68696" y="275234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05272" y="277063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3044952"/>
            <a:ext cx="1572768" cy="4719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 dirty="0" err="1">
                <a:solidFill>
                  <a:srgbClr val="111111"/>
                </a:solidFill>
                <a:latin typeface="Arial"/>
              </a:rPr>
              <a:t>Когда</a:t>
            </a:r>
            <a:r>
              <a:rPr sz="12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111111"/>
                </a:solidFill>
                <a:latin typeface="Arial"/>
              </a:rPr>
              <a:t>прекращаем</a:t>
            </a:r>
            <a:r>
              <a:rPr sz="12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111111"/>
                </a:solidFill>
                <a:latin typeface="Arial"/>
              </a:rPr>
              <a:t>работу</a:t>
            </a:r>
            <a:endParaRPr sz="1200" b="1" dirty="0">
              <a:solidFill>
                <a:srgbClr val="111111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68696" y="3520440"/>
            <a:ext cx="1572768" cy="202996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rPr sz="1200" dirty="0"/>
              <a:t>• </a:t>
            </a:r>
            <a:r>
              <a:rPr sz="1200" dirty="0" err="1"/>
              <a:t>Нет</a:t>
            </a:r>
            <a:r>
              <a:rPr sz="1200" dirty="0"/>
              <a:t> </a:t>
            </a:r>
            <a:r>
              <a:rPr sz="1200" dirty="0" err="1"/>
              <a:t>безопасных</a:t>
            </a:r>
            <a:r>
              <a:rPr sz="1200" dirty="0"/>
              <a:t> </a:t>
            </a:r>
            <a:r>
              <a:rPr sz="1200" dirty="0" err="1"/>
              <a:t>условий</a:t>
            </a:r>
            <a:r>
              <a:rPr sz="1200" dirty="0"/>
              <a:t>.</a:t>
            </a:r>
          </a:p>
          <a:p>
            <a:r>
              <a:rPr sz="1200" dirty="0"/>
              <a:t>• </a:t>
            </a:r>
            <a:r>
              <a:rPr sz="1200" dirty="0" err="1"/>
              <a:t>Не</a:t>
            </a:r>
            <a:r>
              <a:rPr sz="1200" dirty="0"/>
              <a:t> </a:t>
            </a:r>
            <a:r>
              <a:rPr sz="1200" dirty="0" err="1"/>
              <a:t>ясна</a:t>
            </a:r>
            <a:r>
              <a:rPr sz="1200" dirty="0"/>
              <a:t> </a:t>
            </a:r>
            <a:r>
              <a:rPr sz="1200" dirty="0" err="1"/>
              <a:t>организация</a:t>
            </a:r>
            <a:r>
              <a:rPr sz="1200" dirty="0"/>
              <a:t> </a:t>
            </a:r>
            <a:r>
              <a:rPr sz="1200" dirty="0" err="1"/>
              <a:t>работ</a:t>
            </a:r>
            <a:r>
              <a:rPr sz="1200" dirty="0"/>
              <a:t>.</a:t>
            </a:r>
          </a:p>
          <a:p>
            <a:r>
              <a:rPr sz="1200" dirty="0"/>
              <a:t>• </a:t>
            </a:r>
            <a:r>
              <a:rPr sz="1200" dirty="0" err="1"/>
              <a:t>Есть</a:t>
            </a:r>
            <a:r>
              <a:rPr sz="1200" dirty="0"/>
              <a:t> </a:t>
            </a:r>
            <a:r>
              <a:rPr sz="1200" dirty="0" err="1"/>
              <a:t>риск</a:t>
            </a:r>
            <a:r>
              <a:rPr sz="1200" dirty="0"/>
              <a:t> </a:t>
            </a:r>
            <a:r>
              <a:rPr sz="1200" dirty="0" err="1"/>
              <a:t>для</a:t>
            </a:r>
            <a:r>
              <a:rPr sz="1200" dirty="0"/>
              <a:t> </a:t>
            </a:r>
            <a:r>
              <a:rPr sz="1200" dirty="0" err="1"/>
              <a:t>людей</a:t>
            </a:r>
            <a:r>
              <a:rPr sz="1200" dirty="0"/>
              <a:t> и </a:t>
            </a:r>
            <a:r>
              <a:rPr sz="1200" dirty="0" err="1"/>
              <a:t>оборудования</a:t>
            </a:r>
            <a:r>
              <a:rPr sz="1200" dirty="0"/>
              <a:t>.</a:t>
            </a:r>
          </a:p>
          <a:p>
            <a:r>
              <a:rPr sz="1200" dirty="0"/>
              <a:t>• </a:t>
            </a:r>
            <a:r>
              <a:rPr sz="1200" dirty="0" err="1"/>
              <a:t>Погода</a:t>
            </a:r>
            <a:r>
              <a:rPr sz="1200" dirty="0"/>
              <a:t>, </a:t>
            </a:r>
            <a:r>
              <a:rPr sz="1200" dirty="0" err="1"/>
              <a:t>видимость</a:t>
            </a:r>
            <a:r>
              <a:rPr sz="1200" dirty="0"/>
              <a:t> </a:t>
            </a:r>
            <a:r>
              <a:rPr sz="1200" dirty="0" err="1"/>
              <a:t>или</a:t>
            </a:r>
            <a:r>
              <a:rPr sz="1200" dirty="0"/>
              <a:t> </a:t>
            </a:r>
            <a:r>
              <a:rPr sz="1200" dirty="0" err="1"/>
              <a:t>состояние</a:t>
            </a:r>
            <a:r>
              <a:rPr sz="1200" dirty="0"/>
              <a:t> </a:t>
            </a:r>
            <a:r>
              <a:rPr sz="1200" dirty="0" err="1"/>
              <a:t>крана</a:t>
            </a:r>
            <a:r>
              <a:rPr sz="1200" dirty="0"/>
              <a:t> </a:t>
            </a:r>
            <a:r>
              <a:rPr sz="1200" dirty="0" err="1"/>
              <a:t>не</a:t>
            </a:r>
            <a:r>
              <a:rPr sz="1200" dirty="0"/>
              <a:t> </a:t>
            </a:r>
            <a:r>
              <a:rPr sz="1200" dirty="0" err="1"/>
              <a:t>позволяют</a:t>
            </a:r>
            <a:r>
              <a:rPr sz="1200" dirty="0"/>
              <a:t> </a:t>
            </a:r>
            <a:r>
              <a:rPr sz="1200" dirty="0" err="1"/>
              <a:t>работать</a:t>
            </a:r>
            <a:r>
              <a:rPr sz="1200" dirty="0"/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1828800"/>
            <a:ext cx="3749039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52360" y="1828800"/>
            <a:ext cx="3749039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80375" y="1929384"/>
            <a:ext cx="2026079" cy="54864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16952" y="1947672"/>
            <a:ext cx="2172382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Опорный</a:t>
            </a:r>
            <a:r>
              <a:rPr dirty="0"/>
              <a:t> </a:t>
            </a:r>
            <a:r>
              <a:rPr dirty="0" err="1"/>
              <a:t>визуал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7580376" y="2221992"/>
            <a:ext cx="3493007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Как читать запреты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6" y="2724912"/>
            <a:ext cx="3493007" cy="281635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r>
              <a:t>• Что запрещено.</a:t>
            </a:r>
          </a:p>
          <a:p>
            <a:r>
              <a:t>• Почему это опасно.</a:t>
            </a:r>
          </a:p>
          <a:p>
            <a:r>
              <a:t>• Когда работу нужно остановить.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806440"/>
            <a:ext cx="1874519" cy="256032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9496" y="5824728"/>
            <a:ext cx="3906380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дополнительное</a:t>
            </a:r>
            <a:r>
              <a:rPr dirty="0"/>
              <a:t> </a:t>
            </a:r>
            <a:r>
              <a:rPr dirty="0" err="1"/>
              <a:t>пояснение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S047-P01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Подвал. Запрещенные действия при производстве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Карточка в формате нельзя / почему опасно.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Запрет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Нельзя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8986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Подтаскивать груз краном.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Исправлять строповку под висящим грузом.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Продолжать работу при людях в опасной зоне.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Импровизировать без понятной схемы и организации.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Разбор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Почему это опасно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697480"/>
            <a:ext cx="5047488" cy="28986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Рывки и боковые усилия выводят груз из расчетной схемы.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Под грузом и рядом с ним риск для людей становится мгновенным.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Без схемы и организации стропальщик начинает действовать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Любой такой прием должен закончиться остановкой работ.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3. Специальные условия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Проемы, балконы, стесненные места и подача груза в сложной обстановке.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25526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Проемы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255264" cy="420624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Груз подают только по понятной траектории.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82880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59" y="182880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61687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7" y="2148840"/>
            <a:ext cx="325526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Балконы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7" y="2496312"/>
            <a:ext cx="3255264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Нельзя работать на глаз и без защищенного приема груза.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4612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24612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31927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566160"/>
            <a:ext cx="325526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Стесненные места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3913632"/>
            <a:ext cx="3255264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Нужны точная схема, контроль помех и понятная роль каждого.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324612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51959" y="324612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61687" y="331927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7" y="3566160"/>
            <a:ext cx="325526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Канава или котлован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7" y="3913632"/>
            <a:ext cx="3255264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Положение крана и траекторию груза заранее сверяют со схемой площадки.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828800"/>
            <a:ext cx="3154680" cy="352044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20" y="1828800"/>
            <a:ext cx="31546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747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11312" y="1947672"/>
            <a:ext cx="1468716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сборки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8174736" y="2221992"/>
            <a:ext cx="28986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Лучше схема с озвучкой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4736" y="2724912"/>
            <a:ext cx="2898648" cy="249631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r>
              <a:t>• Показать проем, стесненное место и кран у канавы или котлована.</a:t>
            </a:r>
          </a:p>
          <a:p>
            <a:r>
              <a:t>• Здесь важнее схема и логика подачи груза, чем видео.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9495" y="1591056"/>
            <a:ext cx="6912865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добавить</a:t>
            </a:r>
            <a:r>
              <a:rPr dirty="0"/>
              <a:t> </a:t>
            </a:r>
            <a:r>
              <a:rPr dirty="0" err="1"/>
              <a:t>интерактив</a:t>
            </a:r>
            <a:r>
              <a:rPr dirty="0"/>
              <a:t>: </a:t>
            </a:r>
            <a:r>
              <a:rPr dirty="0" err="1"/>
              <a:t>выбрать</a:t>
            </a:r>
            <a:r>
              <a:rPr dirty="0"/>
              <a:t> </a:t>
            </a:r>
            <a:r>
              <a:rPr dirty="0" err="1"/>
              <a:t>безопасную</a:t>
            </a:r>
            <a:r>
              <a:rPr dirty="0"/>
              <a:t> </a:t>
            </a:r>
            <a:r>
              <a:rPr dirty="0" err="1"/>
              <a:t>схему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3. Технологические карты и организация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стропальщик работает не по памяти, а по схеме, ППР и понятному порядку.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Организация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должно быть понятно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89864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Какая схема и какой документ ведут операцию.</a:t>
            </a:r>
          </a:p>
          <a:p>
            <a:r>
              <a:t>• Где проходит маршрут и где нужен зазор не менее 500 мм.</a:t>
            </a:r>
          </a:p>
          <a:p>
            <a:r>
              <a:t>• Где проходит зона у поворотной части и выдержан ли зазор не менее 1 м.</a:t>
            </a:r>
          </a:p>
          <a:p>
            <a:r>
              <a:t>• Где может стоять кран, если рядом канава, котлован или опасная граница.</a:t>
            </a:r>
          </a:p>
          <a:p>
            <a:r>
              <a:t>• Кто подает сигналы и кто отвечает за организацию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269748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269748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7103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Вывод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244144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Ключевой вывод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697480"/>
            <a:ext cx="2441448" cy="289864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rPr dirty="0"/>
              <a:t>• </a:t>
            </a:r>
            <a:r>
              <a:rPr sz="1600" dirty="0" err="1"/>
              <a:t>Не</a:t>
            </a:r>
            <a:r>
              <a:rPr sz="1600" dirty="0"/>
              <a:t> </a:t>
            </a:r>
            <a:r>
              <a:rPr sz="1600" dirty="0" err="1"/>
              <a:t>действуй</a:t>
            </a:r>
            <a:r>
              <a:rPr sz="1600" dirty="0"/>
              <a:t> </a:t>
            </a:r>
            <a:r>
              <a:rPr sz="1600" dirty="0" err="1"/>
              <a:t>самовольно</a:t>
            </a:r>
            <a:r>
              <a:rPr sz="1600" dirty="0"/>
              <a:t>.</a:t>
            </a:r>
          </a:p>
          <a:p>
            <a:r>
              <a:rPr sz="1600" dirty="0"/>
              <a:t>• </a:t>
            </a:r>
            <a:r>
              <a:rPr sz="1600" dirty="0" err="1"/>
              <a:t>Если</a:t>
            </a:r>
            <a:r>
              <a:rPr sz="1600" dirty="0"/>
              <a:t> </a:t>
            </a:r>
            <a:r>
              <a:rPr sz="1600" dirty="0" err="1"/>
              <a:t>стропальщиков</a:t>
            </a:r>
            <a:r>
              <a:rPr sz="1600" dirty="0"/>
              <a:t> </a:t>
            </a:r>
            <a:r>
              <a:rPr sz="1600" dirty="0" err="1"/>
              <a:t>несколько</a:t>
            </a:r>
            <a:r>
              <a:rPr sz="1600" dirty="0"/>
              <a:t>, </a:t>
            </a:r>
            <a:r>
              <a:rPr sz="1600" dirty="0" err="1"/>
              <a:t>команды</a:t>
            </a:r>
            <a:r>
              <a:rPr sz="1600" dirty="0"/>
              <a:t> </a:t>
            </a:r>
            <a:r>
              <a:rPr sz="1600" dirty="0" err="1"/>
              <a:t>крановщику</a:t>
            </a:r>
            <a:r>
              <a:rPr sz="1600" dirty="0"/>
              <a:t> </a:t>
            </a:r>
            <a:r>
              <a:rPr sz="1600" dirty="0" err="1"/>
              <a:t>подает</a:t>
            </a:r>
            <a:r>
              <a:rPr sz="1600" dirty="0"/>
              <a:t> </a:t>
            </a:r>
            <a:r>
              <a:rPr sz="1600" dirty="0" err="1"/>
              <a:t>один</a:t>
            </a:r>
            <a:r>
              <a:rPr sz="1600" dirty="0"/>
              <a:t> </a:t>
            </a:r>
            <a:r>
              <a:rPr sz="1600" dirty="0" err="1"/>
              <a:t>назначенный</a:t>
            </a:r>
            <a:r>
              <a:rPr sz="1600" dirty="0"/>
              <a:t> </a:t>
            </a:r>
            <a:r>
              <a:rPr sz="1600" dirty="0" err="1"/>
              <a:t>участник</a:t>
            </a:r>
            <a:r>
              <a:rPr sz="1600" dirty="0"/>
              <a:t>.</a:t>
            </a:r>
          </a:p>
          <a:p>
            <a:r>
              <a:rPr sz="1600" dirty="0"/>
              <a:t>• </a:t>
            </a:r>
            <a:r>
              <a:rPr sz="1600" dirty="0" err="1"/>
              <a:t>Не</a:t>
            </a:r>
            <a:r>
              <a:rPr sz="1600" dirty="0"/>
              <a:t> </a:t>
            </a:r>
            <a:r>
              <a:rPr sz="1600" dirty="0" err="1"/>
              <a:t>заменяй</a:t>
            </a:r>
            <a:r>
              <a:rPr sz="1600" dirty="0"/>
              <a:t> </a:t>
            </a:r>
            <a:r>
              <a:rPr sz="1600" dirty="0" err="1"/>
              <a:t>схему</a:t>
            </a:r>
            <a:r>
              <a:rPr sz="1600" dirty="0"/>
              <a:t> </a:t>
            </a:r>
            <a:r>
              <a:rPr sz="1600" dirty="0" err="1"/>
              <a:t>опытом</a:t>
            </a:r>
            <a:r>
              <a:rPr sz="1600" dirty="0"/>
              <a:t>.</a:t>
            </a:r>
          </a:p>
          <a:p>
            <a:r>
              <a:rPr sz="1600" dirty="0"/>
              <a:t>• </a:t>
            </a:r>
            <a:r>
              <a:rPr sz="1600" dirty="0" err="1"/>
              <a:t>Не</a:t>
            </a:r>
            <a:r>
              <a:rPr sz="1600" dirty="0"/>
              <a:t> </a:t>
            </a:r>
            <a:r>
              <a:rPr sz="1600" dirty="0" err="1"/>
              <a:t>начинай</a:t>
            </a:r>
            <a:r>
              <a:rPr sz="1600" dirty="0"/>
              <a:t> </a:t>
            </a:r>
            <a:r>
              <a:rPr sz="1600" dirty="0" err="1"/>
              <a:t>работу</a:t>
            </a:r>
            <a:r>
              <a:rPr sz="1600" dirty="0"/>
              <a:t> </a:t>
            </a:r>
            <a:r>
              <a:rPr sz="1600" dirty="0" err="1"/>
              <a:t>при</a:t>
            </a:r>
            <a:r>
              <a:rPr sz="1600" dirty="0"/>
              <a:t> </a:t>
            </a:r>
            <a:r>
              <a:rPr sz="1600" dirty="0" err="1"/>
              <a:t>неясном</a:t>
            </a:r>
            <a:r>
              <a:rPr sz="1600" dirty="0"/>
              <a:t> </a:t>
            </a:r>
            <a:r>
              <a:rPr sz="1600" dirty="0" err="1"/>
              <a:t>порядке</a:t>
            </a:r>
            <a:r>
              <a:rPr sz="1600" dirty="0"/>
              <a:t> и </a:t>
            </a:r>
            <a:r>
              <a:rPr sz="1600" dirty="0" err="1"/>
              <a:t>неясной</a:t>
            </a:r>
            <a:r>
              <a:rPr sz="1600" dirty="0"/>
              <a:t> </a:t>
            </a:r>
            <a:r>
              <a:rPr sz="1600" dirty="0" err="1"/>
              <a:t>роли</a:t>
            </a:r>
            <a:r>
              <a:rPr sz="1600" dirty="0"/>
              <a:t> </a:t>
            </a:r>
            <a:r>
              <a:rPr sz="1600" dirty="0" err="1"/>
              <a:t>участников</a:t>
            </a:r>
            <a:r>
              <a:rPr sz="1600" dirty="0"/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828800"/>
            <a:ext cx="24688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732520" y="1828800"/>
            <a:ext cx="24688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8605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97112" y="1947672"/>
            <a:ext cx="2496312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Опорная схема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2221992"/>
            <a:ext cx="22128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должно быть понятно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724912"/>
            <a:ext cx="2212848" cy="2862072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По какой схеме идет операция.</a:t>
            </a:r>
          </a:p>
          <a:p>
            <a:r>
              <a:t>• Где проходит маршрут и опасные границы.</a:t>
            </a:r>
          </a:p>
          <a:p>
            <a:r>
              <a:t>• Кто подает сигналы и кто отвечает за организацию работ.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4. Работа вблизи ЛЭП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даже без касания ЛЭП работа может быть смертельно опасной.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377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377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ЛЭП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68172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знать до начала работ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681728" cy="285292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ЛЭП - особая опасность.</a:t>
            </a:r>
          </a:p>
          <a:p>
            <a:r>
              <a:t>• Нужны специальные меры безопасности и понятные дистанции.</a:t>
            </a:r>
          </a:p>
          <a:p>
            <a:r>
              <a:t>• Работу рядом с ЛЭП не ведут по обычной схеме и не оценивают на глаз.</a:t>
            </a:r>
          </a:p>
          <a:p>
            <a:r>
              <a:t>• Если безопасные условия не разъяснены, работу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1828800"/>
            <a:ext cx="2377440" cy="384048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23560" y="1828800"/>
            <a:ext cx="237744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5157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8815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1576" y="2221992"/>
            <a:ext cx="212140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Главная мысль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51576" y="2697480"/>
            <a:ext cx="2121408" cy="285292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работать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действовать как обычно.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При сомнении работу останавливают.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828800"/>
            <a:ext cx="301752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83879" y="1828800"/>
            <a:ext cx="3017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11895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48470" y="1947672"/>
            <a:ext cx="1836053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Опорный</a:t>
            </a:r>
            <a:r>
              <a:rPr dirty="0"/>
              <a:t> </a:t>
            </a:r>
            <a:r>
              <a:rPr dirty="0" err="1"/>
              <a:t>визуал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311895" y="2221992"/>
            <a:ext cx="276148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5" y="2724912"/>
            <a:ext cx="2761488" cy="281635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r>
              <a:t>• Кран рядом с ЛЭП.</a:t>
            </a:r>
          </a:p>
          <a:p>
            <a:r>
              <a:t>• Зона риска и решение стоп.</a:t>
            </a:r>
          </a:p>
          <a:p>
            <a:r>
              <a:t>• Работу рядом с ЛЭП не оценивают на глаз.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806440"/>
            <a:ext cx="1737360" cy="256032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9495" y="5824728"/>
            <a:ext cx="2666159" cy="65659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дополнительное</a:t>
            </a:r>
            <a:r>
              <a:rPr dirty="0"/>
              <a:t> </a:t>
            </a:r>
            <a:r>
              <a:rPr dirty="0" err="1"/>
              <a:t>пояснение</a:t>
            </a:r>
            <a:endParaRPr dirty="0"/>
          </a:p>
        </p:txBody>
      </p:sp>
      <p:sp>
        <p:nvSpPr>
          <p:cNvPr id="30" name="Rectangle 29"/>
          <p:cNvSpPr/>
          <p:nvPr/>
        </p:nvSpPr>
        <p:spPr>
          <a:xfrm>
            <a:off x="2377440" y="5806440"/>
            <a:ext cx="3063240" cy="256032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14016" y="5824728"/>
            <a:ext cx="4855464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Далее</a:t>
            </a:r>
            <a:r>
              <a:rPr dirty="0"/>
              <a:t>: </a:t>
            </a:r>
            <a:r>
              <a:rPr dirty="0" err="1"/>
              <a:t>блок</a:t>
            </a:r>
            <a:r>
              <a:rPr dirty="0"/>
              <a:t> "5-6 </a:t>
            </a:r>
            <a:r>
              <a:rPr dirty="0" err="1"/>
              <a:t>разряд</a:t>
            </a:r>
            <a:r>
              <a:rPr dirty="0"/>
              <a:t>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S050-P01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Подвал. ЛЭП: краткая памятка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Краткий справочный экран по зоне риска, допуску и прекращению работ.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3035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03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Памятка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474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Памятка стропальщику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47488" cy="28986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Работа рядом с ЛЭП допускается только по специальному порядку.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Дистанции и границы безопасной зоны должны быть понятны всем участникам.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Без разъясненной схемы и специальных мер безопасности работу не начинать.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При угрозе приближения к токоведущим частям — немедленно стоп.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828800"/>
            <a:ext cx="516636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0" y="182880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0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9632" y="1947672"/>
            <a:ext cx="9326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2221992"/>
            <a:ext cx="491032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статичная памятка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2724912"/>
            <a:ext cx="4910328" cy="286207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(слайд: зона риска у ЛЭП)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дистанции и запретные позиции)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(изображение: организованный порядок работ)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Кто руководит сложной операцией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Будущий старший стропальщик должен понимать общую схему руководства, а не только свою точку зацепки.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83480" cy="388620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8348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5-6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72744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Как устроено руководство операцией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727448" cy="289864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За организацию и безопасность отвечает назначенное ответственное лицо.</a:t>
            </a:r>
          </a:p>
          <a:p>
            <a:r>
              <a:t>• Бригада работает по единой схеме и под единым управлением.</a:t>
            </a:r>
          </a:p>
          <a:p>
            <a:r>
              <a:t>• Если стропальщиков несколько, сигнал крановщику подает один назначенный участник.</a:t>
            </a:r>
          </a:p>
          <a:p>
            <a:r>
              <a:t>• Будущий старший стропальщик держит в поле зрения роли, маршрут, ограничения и очередность.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1828800"/>
            <a:ext cx="25146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0" y="1828800"/>
            <a:ext cx="25146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4301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959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Роли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3016" y="2221992"/>
            <a:ext cx="22585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Кто есть кто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3016" y="2697480"/>
            <a:ext cx="2258568" cy="289864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Ответственный за работы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Крановщик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Стропальщики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Старший стропальщик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828800"/>
            <a:ext cx="278892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12480" y="1828800"/>
            <a:ext cx="2788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40496" y="1929384"/>
            <a:ext cx="231669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77072" y="1947672"/>
            <a:ext cx="9326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Опорная схема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6" y="2221992"/>
            <a:ext cx="253288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роли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8540496" y="2735422"/>
            <a:ext cx="2532888" cy="2862072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rPr dirty="0"/>
              <a:t>• </a:t>
            </a:r>
            <a:r>
              <a:rPr dirty="0" err="1"/>
              <a:t>Ответственный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Старший</a:t>
            </a:r>
            <a:r>
              <a:rPr dirty="0"/>
              <a:t> </a:t>
            </a:r>
            <a:r>
              <a:rPr dirty="0" err="1"/>
              <a:t>стропальщик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Крановщик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Стропальщики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Что старший стропальщик делает до начала подъема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До команды на подъем будущий старший стропальщик собирает операцию в рабочую систему.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Подготовка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он проверяет заранее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990087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Уточняет массу, схему, центр тяжести и маршрут.</a:t>
            </a:r>
          </a:p>
          <a:p>
            <a:r>
              <a:t>• Проверяет ППР, техкарту и обязательную рабочую схему.</a:t>
            </a:r>
          </a:p>
          <a:p>
            <a:r>
              <a:t>• Сверяет оснастку, подкладки, оттяжки, проходы и место установки.</a:t>
            </a:r>
          </a:p>
          <a:p>
            <a:r>
              <a:t>• До начала подъема распределяет роли и проверяет место приема груза.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539496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53949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71032" y="1947672"/>
            <a:ext cx="2563368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Опорный</a:t>
            </a:r>
            <a:r>
              <a:rPr dirty="0"/>
              <a:t> </a:t>
            </a:r>
            <a:r>
              <a:rPr dirty="0" err="1"/>
              <a:t>чек-лист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513892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собрать до начала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724912"/>
            <a:ext cx="5138928" cy="2953511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Масса, схема, центр тяжести и маршрут.</a:t>
            </a:r>
          </a:p>
          <a:p>
            <a:r>
              <a:t>• Оснастка, подкладки, оттяжки и место приема груза.</a:t>
            </a:r>
          </a:p>
          <a:p>
            <a:r>
              <a:t>• Распределение ролей.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Какие документы и роли обязательны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Сложную операцию нельзя держать только в голове: она должна быть оформлена и разъяснена участникам.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89204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8920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Документы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63600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должно быть на руках и в понимании бригады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636008" cy="2990087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Для сложной операции нужны ППР или техкарта, если они обязательны.</a:t>
            </a:r>
          </a:p>
          <a:p>
            <a:r>
              <a:t>• Бригаде должны быть понятны схема строповки, маршрут и меры безопасности.</a:t>
            </a:r>
          </a:p>
          <a:p>
            <a:r>
              <a:t>• Роли участников назначают заранее: ответственный, крановщик, стропальщики, при необходимости старший.</a:t>
            </a:r>
          </a:p>
          <a:p>
            <a:r>
              <a:t>• Для специальных условий проверяют, нужен ли наряд-допуск и инструктаж.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1828800"/>
            <a:ext cx="23317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77840" y="1828800"/>
            <a:ext cx="23317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058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4243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Нельзя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05856" y="2221992"/>
            <a:ext cx="20756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Документы не заменяют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6" y="2697480"/>
            <a:ext cx="2075688" cy="2990087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Опыт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Привычка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Устные договоренности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Импровизация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828800"/>
            <a:ext cx="306324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1828800"/>
            <a:ext cx="30632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6617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02752" y="1947672"/>
            <a:ext cx="3026664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Опорный</a:t>
            </a:r>
            <a:r>
              <a:rPr dirty="0"/>
              <a:t> </a:t>
            </a:r>
            <a:r>
              <a:rPr dirty="0" err="1"/>
              <a:t>блок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266176" y="2221992"/>
            <a:ext cx="280720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должно быть оформлено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2724912"/>
            <a:ext cx="2807208" cy="2953511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ППР или техкарта.</a:t>
            </a:r>
          </a:p>
          <a:p>
            <a:r>
              <a:t>• Схема строповки и перемещения.</a:t>
            </a:r>
          </a:p>
          <a:p>
            <a:r>
              <a:t>• Роли участников.</a:t>
            </a:r>
          </a:p>
          <a:p>
            <a:r>
              <a:t>• При необходимости наряд-допуск и инструктаж.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Как организуют сложный и ответственный подъем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 подчеркивает: чем сложнее операция, тем важнее не сила, а согласованность и точная последовательность.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159876"/>
            <a:ext cx="3694176" cy="28725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 dirty="0" err="1">
                <a:solidFill>
                  <a:srgbClr val="111111"/>
                </a:solidFill>
                <a:latin typeface="Arial"/>
              </a:rPr>
              <a:t>Разъясняют</a:t>
            </a:r>
            <a:r>
              <a:rPr sz="12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111111"/>
                </a:solidFill>
                <a:latin typeface="Arial"/>
              </a:rPr>
              <a:t>схему</a:t>
            </a:r>
            <a:endParaRPr sz="1200" b="1" dirty="0">
              <a:solidFill>
                <a:srgbClr val="11111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2999232" cy="832104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понимают</a:t>
            </a:r>
            <a:r>
              <a:rPr dirty="0"/>
              <a:t> </a:t>
            </a:r>
            <a:r>
              <a:rPr dirty="0" err="1"/>
              <a:t>схему</a:t>
            </a:r>
            <a:r>
              <a:rPr dirty="0"/>
              <a:t>, </a:t>
            </a:r>
            <a:r>
              <a:rPr dirty="0" err="1"/>
              <a:t>маршрут</a:t>
            </a:r>
            <a:r>
              <a:rPr dirty="0"/>
              <a:t> и </a:t>
            </a:r>
            <a:r>
              <a:rPr dirty="0" err="1"/>
              <a:t>ограничения</a:t>
            </a:r>
            <a:r>
              <a:rPr dirty="0"/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461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5584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148840"/>
            <a:ext cx="234086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Готовят площадку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496312"/>
            <a:ext cx="2340864" cy="6492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Проверяют проходы, место установки, ограждение опасной зоны, подкладки и помехи.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893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2148840"/>
            <a:ext cx="234086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Согласуют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2496312"/>
            <a:ext cx="2340864" cy="6492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До начала работ всем понятны сигналы, очередность действий и единый канал управления.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1828800"/>
            <a:ext cx="24688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732520" y="1828800"/>
            <a:ext cx="246888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4224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2148840"/>
            <a:ext cx="224942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Ведут подъем по схеме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2248" y="2496312"/>
            <a:ext cx="2249424" cy="6492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 ходу операции не меняют схему и не ускоряют подъем рывками.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66160"/>
            <a:ext cx="5303520" cy="219456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3566160"/>
            <a:ext cx="53035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" y="366674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" y="368503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Логика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" y="3959352"/>
            <a:ext cx="50474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 dirty="0" err="1">
                <a:solidFill>
                  <a:srgbClr val="111111"/>
                </a:solidFill>
                <a:latin typeface="Arial"/>
              </a:rPr>
              <a:t>Что</a:t>
            </a:r>
            <a:r>
              <a:rPr sz="1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111"/>
                </a:solidFill>
                <a:latin typeface="Arial"/>
              </a:rPr>
              <a:t>особенно</a:t>
            </a:r>
            <a:r>
              <a:rPr sz="1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111"/>
                </a:solidFill>
                <a:latin typeface="Arial"/>
              </a:rPr>
              <a:t>важно</a:t>
            </a:r>
            <a:r>
              <a:rPr sz="1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111"/>
                </a:solidFill>
                <a:latin typeface="Arial"/>
              </a:rPr>
              <a:t>для</a:t>
            </a:r>
            <a:r>
              <a:rPr sz="1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111"/>
                </a:solidFill>
                <a:latin typeface="Arial"/>
              </a:rPr>
              <a:t>будущего</a:t>
            </a:r>
            <a:r>
              <a:rPr sz="1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111"/>
                </a:solidFill>
                <a:latin typeface="Arial"/>
              </a:rPr>
              <a:t>старшего</a:t>
            </a:r>
            <a:r>
              <a:rPr sz="1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111"/>
                </a:solidFill>
                <a:latin typeface="Arial"/>
              </a:rPr>
              <a:t>стропальщика</a:t>
            </a:r>
            <a:endParaRPr sz="1500" b="1" dirty="0">
              <a:solidFill>
                <a:srgbClr val="111111"/>
              </a:solidFill>
              <a:latin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30936" y="4434840"/>
            <a:ext cx="5047488" cy="120700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Заранее видеть перекос, разворот, помеху и несогласованные действия.</a:t>
            </a:r>
          </a:p>
          <a:p>
            <a:r>
              <a:t>• Собирать подъем как управляемую последовательность.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566160"/>
            <a:ext cx="5166360" cy="21945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35040" y="3566160"/>
            <a:ext cx="51663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63056" y="366674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99632" y="3685032"/>
            <a:ext cx="2082520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Опорная схема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63056" y="3959352"/>
            <a:ext cx="491032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Как читать сложный подъем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3056" y="4462272"/>
            <a:ext cx="4910328" cy="1170432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Разъясняют схему.</a:t>
            </a:r>
          </a:p>
          <a:p>
            <a:r>
              <a:t>• Готовят площадку.</a:t>
            </a:r>
          </a:p>
          <a:p>
            <a:r>
              <a:t>• Согласуют команды.</a:t>
            </a:r>
          </a:p>
          <a:p>
            <a:r>
              <a:t>• Ведут подъем без самовольных изменений.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9496" y="1618488"/>
            <a:ext cx="3559538" cy="155448"/>
          </a:xfrm>
          <a:prstGeom prst="rect">
            <a:avLst/>
          </a:prstGeom>
          <a:noFill/>
        </p:spPr>
        <p:txBody>
          <a:bodyPr wrap="square" lIns="36576" tIns="27432" rIns="36576" bIns="27432">
            <a:noAutofit/>
          </a:bodyPr>
          <a:lstStyle/>
          <a:p>
            <a:r>
              <a:rPr sz="1600" dirty="0" err="1"/>
              <a:t>Интерактив</a:t>
            </a:r>
            <a:r>
              <a:rPr sz="1600" dirty="0"/>
              <a:t>: </a:t>
            </a:r>
            <a:r>
              <a:rPr sz="1600" dirty="0" err="1"/>
              <a:t>расставить</a:t>
            </a:r>
            <a:r>
              <a:rPr sz="1600" dirty="0"/>
              <a:t> </a:t>
            </a:r>
            <a:r>
              <a:rPr sz="1600" dirty="0" err="1"/>
              <a:t>этапы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lang="ru-RU" sz="1600" dirty="0"/>
              <a:t> </a:t>
            </a:r>
            <a:r>
              <a:rPr sz="1600" dirty="0" err="1"/>
              <a:t>орядку</a:t>
            </a:r>
            <a:endParaRPr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Контрольный подъем и проверка перед перемещением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Перед основным перемещением груз не «сразу в путь»: сначала подтверждают устойчивость и правильность схемы.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88620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Контроль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проверяют на контрольном подъеме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89864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Надежность строповки и равномерность нагрузки.</a:t>
            </a:r>
          </a:p>
          <a:p>
            <a:r>
              <a:t>• Нет ли перекоса, разворота и раскачивания.</a:t>
            </a:r>
          </a:p>
          <a:p>
            <a:r>
              <a:t>• Нет ли помех по траектории и понятен ли дальнейший путь груза.</a:t>
            </a:r>
          </a:p>
          <a:p>
            <a:r>
              <a:t>• Если груз сразу уходит в перекос или разворот, перемещение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260604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26060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7103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Смысл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235000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Почему это важно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697480"/>
            <a:ext cx="2350008" cy="289864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Ошибку нужно выявить на контрольном подъеме, а не во время перемещения.</a:t>
            </a:r>
          </a:p>
          <a:p>
            <a:r>
              <a:t>• Здесь видно, верна ли схема в реальных условиях.</a:t>
            </a:r>
          </a:p>
          <a:p>
            <a:r>
              <a:t>• Контрольный подъем позволяет увидеть риск до основного перемещения.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1828800"/>
            <a:ext cx="256032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41080" y="1828800"/>
            <a:ext cx="25603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690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05672" y="1947672"/>
            <a:ext cx="2267712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сборки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769096" y="2221992"/>
            <a:ext cx="230428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Лучше короткое видео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9096" y="2724912"/>
            <a:ext cx="2304288" cy="2862072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Контрольный подъем на малую высоту.</a:t>
            </a:r>
          </a:p>
          <a:p>
            <a:r>
              <a:t>• Отметить перекос, разворот, помеху и решение стоп.</a:t>
            </a:r>
          </a:p>
          <a:p>
            <a:r>
              <a:t>• Если видео нет, собрать псевдовидео из 4 кадров.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Работа у ЛЭП: усиленный порядок и контроль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У ЛЭП действует отдельный организационный режим работ.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8348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8348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ЛЭП 5-6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72744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усиливается по сравнению с базой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727448" cy="2990087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Работа у ЛЭП идет по наряду-допуску и под руководством ответственного лица.</a:t>
            </a:r>
          </a:p>
          <a:p>
            <a:r>
              <a:t>• Место установки крана, безопасную зону и порядок действий определяют заранее.</a:t>
            </a:r>
          </a:p>
          <a:p>
            <a:r>
              <a:t>• Кран нельзя самовольно ставить или переставлять ближе к ЛЭП.</a:t>
            </a:r>
          </a:p>
          <a:p>
            <a:r>
              <a:t>• Старший стропальщик удерживает дисциплину схемы и не допускает самовольных изменений.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828800"/>
            <a:ext cx="25603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0" y="1828800"/>
            <a:ext cx="25603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972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3387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Контроль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6" y="2221992"/>
            <a:ext cx="23042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контролируют особенно жестко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2697480"/>
            <a:ext cx="2304288" cy="2990087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Допуск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Место установки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Сигналы и порядок действий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Запрет на работу «на глаз»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1828800"/>
            <a:ext cx="274320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58200" y="1828800"/>
            <a:ext cx="27432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862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22792" y="1947672"/>
            <a:ext cx="2276436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сборки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586216" y="2221992"/>
            <a:ext cx="248716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Лучше схема с выбором ситуации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6216" y="2724912"/>
            <a:ext cx="2487168" cy="2953511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Показать точку установки, безопасную зону и порядок допуска.</a:t>
            </a:r>
          </a:p>
          <a:p>
            <a:r>
              <a:t>• Подходит интерактив: можно / нельзя по ситуациям у ЛЭП.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9496" y="1591056"/>
            <a:ext cx="3648456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Интерактив</a:t>
            </a:r>
            <a:r>
              <a:rPr dirty="0"/>
              <a:t>: </a:t>
            </a:r>
            <a:r>
              <a:rPr dirty="0" err="1"/>
              <a:t>можно</a:t>
            </a:r>
            <a:r>
              <a:rPr dirty="0"/>
              <a:t> / </a:t>
            </a:r>
            <a:r>
              <a:rPr dirty="0" err="1"/>
              <a:t>нельзя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Чем будущий старший стропальщик отличается от аккуратного исполнителя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Разница не в смелости, а в умении держать подъем как управляемую операцию.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Профиль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Будущий старший стропальщик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990087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Читает операцию целиком, а не только свой участок работы.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 начала подъема собирает роли, схему, маршрут и контрольные точки.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Замечает, где ошибка организации может превратиться в ошибку строповки или перемещения.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Умеет вести бригаду через понятную последовательность действий без суеты и самодеятельности.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25603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256032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Сравнение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230428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Аккуратный исполнитель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697480"/>
            <a:ext cx="2304288" cy="2990087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Видит в основном свой участок.</a:t>
            </a:r>
          </a:p>
          <a:p>
            <a:r>
              <a:t>• Хорошо исполняет указания.</a:t>
            </a:r>
          </a:p>
          <a:p>
            <a:r>
              <a:t>• Следит прежде всего за своей строповкой.</a:t>
            </a:r>
          </a:p>
          <a:p>
            <a:r>
              <a:t>• Реже замечает организационный риск заранее.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1828800"/>
            <a:ext cx="251460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0" y="1828800"/>
            <a:ext cx="25146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8148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51392" y="1947672"/>
            <a:ext cx="2478024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Опорное</a:t>
            </a:r>
            <a:r>
              <a:rPr dirty="0"/>
              <a:t> </a:t>
            </a:r>
            <a:r>
              <a:rPr dirty="0" err="1"/>
              <a:t>сравнение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814816" y="2221992"/>
            <a:ext cx="225856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отличает будущего старшего стропальщика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3292681"/>
            <a:ext cx="2258568" cy="2953511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rPr dirty="0"/>
              <a:t>• </a:t>
            </a:r>
            <a:r>
              <a:rPr dirty="0" err="1"/>
              <a:t>Видит</a:t>
            </a:r>
            <a:r>
              <a:rPr dirty="0"/>
              <a:t> </a:t>
            </a:r>
            <a:r>
              <a:rPr dirty="0" err="1"/>
              <a:t>операцию</a:t>
            </a:r>
            <a:r>
              <a:rPr dirty="0"/>
              <a:t> </a:t>
            </a:r>
            <a:r>
              <a:rPr dirty="0" err="1"/>
              <a:t>целиком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Заранее</a:t>
            </a:r>
            <a:r>
              <a:rPr dirty="0"/>
              <a:t> </a:t>
            </a:r>
            <a:r>
              <a:rPr dirty="0" err="1"/>
              <a:t>собирает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, </a:t>
            </a:r>
            <a:r>
              <a:rPr dirty="0" err="1"/>
              <a:t>маршрут</a:t>
            </a:r>
            <a:r>
              <a:rPr dirty="0"/>
              <a:t> и </a:t>
            </a:r>
            <a:r>
              <a:rPr dirty="0" err="1"/>
              <a:t>контроль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Замечает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в </a:t>
            </a:r>
            <a:r>
              <a:rPr dirty="0" err="1"/>
              <a:t>строповке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4. Когда работу нужно остановить из-за ЛЭП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При малейшем сомнении работа прекращается до уточнения безопасных условий.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2057400" cy="658368"/>
          </a:xfrm>
          <a:prstGeom prst="rect">
            <a:avLst/>
          </a:prstGeom>
          <a:solidFill>
            <a:srgbClr val="FEF2F2"/>
          </a:solidFill>
          <a:ln w="1524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901952"/>
            <a:ext cx="1874520" cy="51206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1300" b="1">
                <a:solidFill>
                  <a:srgbClr val="C51F1F"/>
                </a:solidFill>
                <a:latin typeface="Arial"/>
              </a:rPr>
              <a:t>Работа немедленно останавливается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97480"/>
            <a:ext cx="5166360" cy="347472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69748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" y="279806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281635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3090672"/>
            <a:ext cx="491032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Стоп-условия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566160"/>
            <a:ext cx="4910328" cy="248716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Нет безопасных условий.</a:t>
            </a:r>
          </a:p>
          <a:p>
            <a:r>
              <a:t>• Не ясны дистанции и границы безопасной зоны.</a:t>
            </a:r>
          </a:p>
          <a:p>
            <a:r>
              <a:t>• Есть риск опасного приближения к токоведущим частям.</a:t>
            </a:r>
          </a:p>
          <a:p>
            <a:r>
              <a:t>• Схема работ не разъяснена участникам.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828800"/>
            <a:ext cx="5303520" cy="43434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62471" y="1947672"/>
            <a:ext cx="2450907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Опорный</a:t>
            </a:r>
            <a:r>
              <a:rPr dirty="0"/>
              <a:t> </a:t>
            </a:r>
            <a:r>
              <a:rPr dirty="0" err="1"/>
              <a:t>визуал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5896" y="2735422"/>
            <a:ext cx="5047488" cy="3319272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Стоп-условия у ЛЭП.</a:t>
            </a:r>
          </a:p>
          <a:p>
            <a:r>
              <a:t>• Опасное сближение и запреты.</a:t>
            </a:r>
          </a:p>
          <a:p>
            <a:r>
              <a:t>• Учебный кейс без реальной опасной съемки.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5. Разбор ЧП и нарушений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Разбор строится по трем вопросам: что произошло, что нарушили, как нужно было действовать.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29184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07238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Что произошло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072384" cy="60350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Коротко фиксируем ситуацию, зону риска и исходные условия.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329184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4290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" y="35021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749040"/>
            <a:ext cx="307238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Что нарушили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096512"/>
            <a:ext cx="3072384" cy="60350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Показываем правило, которое было проигнорировано.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29200"/>
            <a:ext cx="329184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0292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5102352"/>
            <a:ext cx="457200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349240"/>
            <a:ext cx="3072384" cy="32918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Как правильно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5696712"/>
            <a:ext cx="3072384" cy="14630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Формулируем безопасный порядок действий.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1828800"/>
            <a:ext cx="297180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23360" y="1828800"/>
            <a:ext cx="2971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5137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8795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Разбор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1376" y="2221992"/>
            <a:ext cx="27157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важно в разборе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1376" y="2697480"/>
            <a:ext cx="2715768" cy="31272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искать виноватого, а разобрать логику риска.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Показывать, где операция должна была быть остановлена.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Связывать кейс с правилом из Игумнова.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1828800"/>
            <a:ext cx="3977639" cy="41148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223760" y="1828800"/>
            <a:ext cx="3977639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5177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88352" y="1947672"/>
            <a:ext cx="2898648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разбора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7351776" y="2221992"/>
            <a:ext cx="3721607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Как собрать кейс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1776" y="2724912"/>
            <a:ext cx="3721607" cy="309067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r>
              <a:t>• Что произошло.</a:t>
            </a:r>
          </a:p>
          <a:p>
            <a:r>
              <a:t>• Какое правило нарушили.</a:t>
            </a:r>
          </a:p>
          <a:p>
            <a:r>
              <a:t>• Где работу нужно было остановить.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Промежуточный тест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Проверка по опасной зоне, запретам, специальным условиям, ЛЭП и усилению 5-6.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Тест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5292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Где проходит опасная зона.</a:t>
            </a:r>
          </a:p>
          <a:p>
            <a:r>
              <a:t>• Как распознать опасную обстановку.</a:t>
            </a:r>
          </a:p>
          <a:p>
            <a:r>
              <a:t>• Когда работу нужно остановить.</a:t>
            </a:r>
          </a:p>
          <a:p>
            <a:r>
              <a:t>• Правило 1 м у поворотной части и запрет работы при плохой погоде, плохой видимости и неисправности.</a:t>
            </a:r>
          </a:p>
          <a:p>
            <a:r>
              <a:t>• Что меняется рядом с ЛЭП и в блоке 5-6 разряда.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3231826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сборки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Тестовый экран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16352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Вопросы по опасной зоне, правилу 1 м, погодным стоп-условиям, ЛЭП и усилению 5-6.</a:t>
            </a:r>
          </a:p>
          <a:p>
            <a:r>
              <a:t>• Ошибки должны вести в разбор причин, а не только к правильному ответу.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опасная зона не определена до начала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Опасную зону определяют заранее.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До начала перемещения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Людей в этой зоне быть не должно.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Без этого работу начинать нельзя.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опасная зона на площадке)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опасная обстановка оценивается слишком узко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Смотри не только на груз.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Оценивай траекторию.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Учитывай раскачивание и помехи.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Думай о людях вокруг.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(кейс-слайд: опасная обстановка)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работа продолжается без безопасных условий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безопасных условий.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Работу нужно прекратить.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работать без понятной организации.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Риск сначала устраняют.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(стоп-слайд: нет безопасных условий)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работа рядом с ЛЭП ведется на глаз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ЛЭП — особая опасность.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оценивать расстояние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Нужны специальные меры.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Нужен организованный порядок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ЛЭП и зона риска)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в сложной операции участники не понимают схему и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Сложный подъем нельзя держать только на устных договоренностях.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Участникам должны быть понятны схема, роли и последовательность действий.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Будущий старший стропальщик удерживает подъем как единую операцию.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Если порядок не разъяснен, работу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tIns="25400" rIns="762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роли, маршрут и точки контроля)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Финальный вывод по подтеме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Главный итог блока: пространство работ читают заранее, а сложные операции заранее организуют.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1208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Итог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56048" cy="420624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должен уметь слушатель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56048" cy="2898648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Видеть опасную зону до начала перемещения.</a:t>
            </a:r>
          </a:p>
          <a:p>
            <a:r>
              <a:t>• Не работать в неясных и неорганизованных условиях.</a:t>
            </a:r>
          </a:p>
          <a:p>
            <a:r>
              <a:t>• Останавливать работу при риске до происшествия.</a:t>
            </a:r>
          </a:p>
          <a:p>
            <a:r>
              <a:t>• Понимать особый порядок у ЛЭП и организацию сложного подъема для 5-6 разряда.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525780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716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08192" y="1947672"/>
            <a:ext cx="4002760" cy="379591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ориентир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071616" y="2221992"/>
            <a:ext cx="5001768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r>
              <a:t>Что нужно унести из блока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2724912"/>
            <a:ext cx="5001768" cy="2862072"/>
          </a:xfrm>
          <a:prstGeom prst="rect">
            <a:avLst/>
          </a:prstGeom>
          <a:noFill/>
        </p:spPr>
        <p:txBody>
          <a:bodyPr wrap="square" lIns="36576" tIns="27432" rIns="36576" bIns="27432">
            <a:normAutofit/>
          </a:bodyPr>
          <a:lstStyle/>
          <a:p>
            <a:r>
              <a:t>• Опасную зону читают заранее.</a:t>
            </a:r>
          </a:p>
          <a:p>
            <a:r>
              <a:t>• Не работают в неясных условиях.</a:t>
            </a:r>
          </a:p>
          <a:p>
            <a:r>
              <a:t>• У ЛЭП действует особый порядок.</a:t>
            </a:r>
          </a:p>
          <a:p>
            <a:r>
              <a:t>• Для 5-6 разряда сложный подъем заранее организуют.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3309</Words>
  <Application>Microsoft Office PowerPoint</Application>
  <PresentationFormat>Широкоэкранный</PresentationFormat>
  <Paragraphs>554</Paragraphs>
  <Slides>28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Дмитрий</cp:lastModifiedBy>
  <cp:revision>20</cp:revision>
  <dcterms:created xsi:type="dcterms:W3CDTF">2013-01-27T09:14:16Z</dcterms:created>
  <dcterms:modified xsi:type="dcterms:W3CDTF">2026-07-01T05:07:20Z</dcterms:modified>
  <cp:category/>
</cp:coreProperties>
</file>