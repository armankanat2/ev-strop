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Relationship Id="rId5" Type="http://schemas.openxmlformats.org/officeDocument/2006/relationships/slide" Target="slide5.xml"/><Relationship Id="rId4" Type="http://schemas.openxmlformats.org/officeDocument/2006/relationships/slide" Target="slid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slide" Target="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slide" Target="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slide" Target="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Титульный экран курса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12B36"/>
                </a:solidFill>
              </a:rPr>
              <a:t>ЭВ Стропальщик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7830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65A89"/>
                </a:solidFill>
              </a:rPr>
              <a:t>Стропальщик 2-4 разряда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2084831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E7436"/>
                </a:solidFill>
              </a:rPr>
              <a:t>Стропальщик 5-6 разряда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606040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12B36"/>
                </a:solidFill>
              </a:rPr>
              <a:t>Практический курс по безопасной работе с грузами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" y="3218688"/>
            <a:ext cx="566928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>
                <a:solidFill>
                  <a:srgbClr val="212B36"/>
                </a:solidFill>
              </a:rPr>
              <a:t>Базовая часть курса - для 2-4 разряда. Для 5-6 разряда открывайте дополнительные блоки.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23760" y="658368"/>
            <a:ext cx="4965192" cy="6199632"/>
          </a:xfrm>
          <a:prstGeom prst="rect">
            <a:avLst/>
          </a:prstGeom>
          <a:solidFill>
            <a:srgbClr val="537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35240" y="10972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Живая demo-сборка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1645920"/>
            <a:ext cx="4069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Сейчас можно посмотреть:
• S001 титул
• S002 экран выбора
• S002-P01 видеоинструкция
• S002-P02 словарь терминов</a:t>
            </a:r>
          </a:p>
        </p:txBody>
      </p:sp>
      <p:sp>
        <p:nvSpPr>
          <p:cNvPr id="13" name="Rounded Rectangle 12">
            <a:hlinkClick r:id="rId2" action="ppaction://hlinksldjump"/>
          </p:cNvPr>
          <p:cNvSpPr/>
          <p:nvPr/>
        </p:nvSpPr>
        <p:spPr>
          <a:xfrm>
            <a:off x="612648" y="4709160"/>
            <a:ext cx="2377440" cy="566928"/>
          </a:xfrm>
          <a:prstGeom prst="roundRect">
            <a:avLst/>
          </a:prstGeom>
          <a:solidFill>
            <a:srgbClr val="DE7436"/>
          </a:solidFill>
          <a:ln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НАЧАТЬ КУРС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Видеоинструкция по курсу и глосарий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Тема 1 • вводный экран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144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12B36"/>
                </a:solidFill>
              </a:rPr>
              <a:t>Выберите, что открыть: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640080" y="1508760"/>
            <a:ext cx="5212080" cy="3566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5212080" cy="658368"/>
          </a:xfrm>
          <a:prstGeom prst="roundRect">
            <a:avLst/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Видеоинструкция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423160"/>
            <a:ext cx="4700016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Это навигация по курсу.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Откройте и ознакомьтесь.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Переход в подвал S002-P01.</a:t>
            </a:r>
          </a:p>
        </p:txBody>
      </p:sp>
      <p:sp>
        <p:nvSpPr>
          <p:cNvPr id="10" name="Rounded Rectangle 9">
            <a:hlinkClick r:id="rId3" action="ppaction://hlinksldjump"/>
          </p:cNvPr>
          <p:cNvSpPr/>
          <p:nvPr/>
        </p:nvSpPr>
        <p:spPr>
          <a:xfrm>
            <a:off x="6309360" y="1508760"/>
            <a:ext cx="5212080" cy="3566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09360" y="1508760"/>
            <a:ext cx="5212080" cy="658368"/>
          </a:xfrm>
          <a:prstGeom prst="roundRect">
            <a:avLst/>
          </a:prstGeom>
          <a:solidFill>
            <a:srgbClr val="42855F"/>
          </a:solidFill>
          <a:ln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Словарь терминов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2423160"/>
            <a:ext cx="4700016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Откройте и прочтите.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Термины вынесены в отдельный подвал.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Переход в подвал S002-P02.</a:t>
            </a:r>
          </a:p>
        </p:txBody>
      </p:sp>
      <p:sp>
        <p:nvSpPr>
          <p:cNvPr id="13" name="Rounded Rectangle 12">
            <a:hlinkClick r:id="rId2" action="ppaction://hlinksldjump"/>
          </p:cNvPr>
          <p:cNvSpPr/>
          <p:nvPr/>
        </p:nvSpPr>
        <p:spPr>
          <a:xfrm>
            <a:off x="1600200" y="4572000"/>
            <a:ext cx="3246120" cy="566928"/>
          </a:xfrm>
          <a:prstGeom prst="roundRect">
            <a:avLst/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ОТКРЫТЬ S002-P01</a:t>
            </a:r>
          </a:p>
        </p:txBody>
      </p:sp>
      <p:sp>
        <p:nvSpPr>
          <p:cNvPr id="14" name="Rounded Rectangle 13">
            <a:hlinkClick r:id="rId3" action="ppaction://hlinksldjump"/>
          </p:cNvPr>
          <p:cNvSpPr/>
          <p:nvPr/>
        </p:nvSpPr>
        <p:spPr>
          <a:xfrm>
            <a:off x="7269480" y="4572000"/>
            <a:ext cx="3246120" cy="566928"/>
          </a:xfrm>
          <a:prstGeom prst="roundRect">
            <a:avLst/>
          </a:prstGeom>
          <a:solidFill>
            <a:srgbClr val="42855F"/>
          </a:solidFill>
          <a:ln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ОТКРЫТЬ S002-P02</a:t>
            </a:r>
          </a:p>
        </p:txBody>
      </p:sp>
      <p:sp>
        <p:nvSpPr>
          <p:cNvPr id="15" name="Rounded Rectangle 14">
            <a:hlinkClick r:id="rId4" action="ppaction://hlinksldjump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  <p:sp>
        <p:nvSpPr>
          <p:cNvPr id="16" name="Rounded Rectangle 15">
            <a:hlinkClick r:id="rId5" action="ppaction://hlinksldjump"/>
          </p:cNvPr>
          <p:cNvSpPr/>
          <p:nvPr/>
        </p:nvSpPr>
        <p:spPr>
          <a:xfrm>
            <a:off x="9372600" y="5989320"/>
            <a:ext cx="2148840" cy="457200"/>
          </a:xfrm>
          <a:prstGeom prst="roundRect">
            <a:avLst/>
          </a:prstGeom>
          <a:solidFill>
            <a:srgbClr val="DE7436"/>
          </a:solidFill>
          <a:ln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ДАЛЕЕ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Видеоинструкция по курсу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S002-P01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Подвал от S002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43000"/>
            <a:ext cx="4389120" cy="3520440"/>
          </a:xfrm>
          <a:prstGeom prst="roundRect">
            <a:avLst/>
          </a:prstGeom>
          <a:solidFill>
            <a:srgbClr val="E0E8EF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444752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22B42"/>
                </a:solidFill>
              </a:rPr>
              <a:t>Здесь будет видеоролик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3886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212B36"/>
                </a:solidFill>
              </a:rPr>
              <a:t>Рабочая озвучка уже подготовлена:
S002-P01_ozvuchka_55_sec_stress_2026-06-20.mp3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4096512"/>
            <a:ext cx="3749039" cy="530352"/>
          </a:xfrm>
          <a:prstGeom prst="roundRect">
            <a:avLst/>
          </a:prstGeom>
          <a:solidFill>
            <a:srgbClr val="DE7436"/>
          </a:solidFill>
          <a:ln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ОТКРЫТЬ ВИДЕОИНСТРУКЦИЮ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118872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12B36"/>
                </a:solidFill>
              </a:rPr>
              <a:t>Что должен понять слушатель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0" y="1645920"/>
            <a:ext cx="5486400" cy="3246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394960" y="1645920"/>
            <a:ext cx="5486400" cy="658368"/>
          </a:xfrm>
          <a:prstGeom prst="roundRect">
            <a:avLst/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Коротко о логике курса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50992" y="2560320"/>
            <a:ext cx="4974336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Курс интерактивный.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Темы идут по порядку.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После тем и блоков будут тесты.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По кнопкам открывайте пояснения.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После просмотра вернитесь в курс.</a:t>
            </a:r>
          </a:p>
        </p:txBody>
      </p:sp>
      <p:sp>
        <p:nvSpPr>
          <p:cNvPr id="14" name="Rounded Rectangle 13">
            <a:hlinkClick r:id="rId2" action="ppaction://hlinksldjump"/>
          </p:cNvPr>
          <p:cNvSpPr/>
          <p:nvPr/>
        </p:nvSpPr>
        <p:spPr>
          <a:xfrm>
            <a:off x="8366760" y="5989320"/>
            <a:ext cx="2788920" cy="457200"/>
          </a:xfrm>
          <a:prstGeom prst="roundRect">
            <a:avLst/>
          </a:prstGeom>
          <a:solidFill>
            <a:srgbClr val="122B42"/>
          </a:solidFill>
          <a:ln>
            <a:solidFill>
              <a:srgbClr val="12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 К КУРСУ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Словарь терминов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S002-P02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Подвал от S002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80160"/>
            <a:ext cx="530352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280160"/>
            <a:ext cx="5303520" cy="658368"/>
          </a:xfrm>
          <a:prstGeom prst="roundRect">
            <a:avLst/>
          </a:prstGeom>
          <a:solidFill>
            <a:srgbClr val="42855F"/>
          </a:solidFill>
          <a:ln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Левая колонка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194560"/>
            <a:ext cx="479145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Стропальщик - рабочий, который выполняет строповку груза.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Строп - грузозахватное средство.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Строповка - способ обвязки и зацепки.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280160"/>
            <a:ext cx="530352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263640" y="1280160"/>
            <a:ext cx="5303520" cy="658368"/>
          </a:xfrm>
          <a:prstGeom prst="roundRect">
            <a:avLst/>
          </a:prstGeom>
          <a:solidFill>
            <a:srgbClr val="42855F"/>
          </a:solidFill>
          <a:ln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Правая колонка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9672" y="2194560"/>
            <a:ext cx="479145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Груз - предмет или конструкция для подъема.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Грузозахватное приспособление - устройство для захвата груза.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СИЗ - средства индивидуальной защиты.</a:t>
            </a:r>
          </a:p>
        </p:txBody>
      </p:sp>
      <p:sp>
        <p:nvSpPr>
          <p:cNvPr id="12" name="Rounded Rectangle 11">
            <a:hlinkClick r:id="rId2" action="ppaction://hlinksldjump"/>
          </p:cNvPr>
          <p:cNvSpPr/>
          <p:nvPr/>
        </p:nvSpPr>
        <p:spPr>
          <a:xfrm>
            <a:off x="8366760" y="5989320"/>
            <a:ext cx="2788920" cy="457200"/>
          </a:xfrm>
          <a:prstGeom prst="roundRect">
            <a:avLst/>
          </a:prstGeom>
          <a:solidFill>
            <a:srgbClr val="122B42"/>
          </a:solidFill>
          <a:ln>
            <a:solidFill>
              <a:srgbClr val="12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 К КУРСУ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Какие документы регулируют работу стропальщика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Тема 1 • общая часть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530352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5303520" cy="658368"/>
          </a:xfrm>
          <a:prstGeom prst="roundRect">
            <a:avLst/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Основа работы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240280"/>
            <a:ext cx="479145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Трудовое законодательство.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Правила по охране труда.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Требования промышленной безопасности.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Инструкции и правила работодателя.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25880"/>
            <a:ext cx="52120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309360" y="1325880"/>
            <a:ext cx="5212080" cy="658368"/>
          </a:xfrm>
          <a:prstGeom prst="roundRect">
            <a:avLst/>
          </a:prstGeom>
          <a:solidFill>
            <a:srgbClr val="42855F"/>
          </a:solidFill>
          <a:ln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Что надо понять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5392" y="2240280"/>
            <a:ext cx="470001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Стропальщик работает не по привычке, а по правилам.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Каждый из этих блоков влияет на безопасность работ.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Нарушать инструкции и схемы нельзя.</a:t>
            </a:r>
          </a:p>
        </p:txBody>
      </p:sp>
      <p:sp>
        <p:nvSpPr>
          <p:cNvPr id="12" name="Rounded Rectangle 11">
            <a:hlinkClick r:id="rId2" action="ppaction://hlinksldjump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  <p:sp>
        <p:nvSpPr>
          <p:cNvPr id="13" name="Rounded Rectangle 12">
            <a:hlinkClick r:id="rId3" action="ppaction://hlinksldjump"/>
          </p:cNvPr>
          <p:cNvSpPr/>
          <p:nvPr/>
        </p:nvSpPr>
        <p:spPr>
          <a:xfrm>
            <a:off x="9372600" y="5989320"/>
            <a:ext cx="2148840" cy="457200"/>
          </a:xfrm>
          <a:prstGeom prst="roundRect">
            <a:avLst/>
          </a:prstGeom>
          <a:solidFill>
            <a:srgbClr val="DE7436"/>
          </a:solidFill>
          <a:ln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ДАЛЕЕ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Кто такой стропальщик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Тема 1 • общая часть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530352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5303520" cy="658368"/>
          </a:xfrm>
          <a:prstGeom prst="roundRect">
            <a:avLst/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Основные действия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240280"/>
            <a:ext cx="479145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Подбирает и проверяет стропы.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Стропит груз по схеме.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Подает сигналы крановщику.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Следит за безопасным перемещением груза.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25880"/>
            <a:ext cx="52120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309360" y="1325880"/>
            <a:ext cx="5212080" cy="658368"/>
          </a:xfrm>
          <a:prstGeom prst="roundRect">
            <a:avLst/>
          </a:prstGeom>
          <a:solidFill>
            <a:srgbClr val="42855F"/>
          </a:solidFill>
          <a:ln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Ответственность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5392" y="2240280"/>
            <a:ext cx="470001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Он отвечает не только за строп, но и за безопасность.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Ошибка при строповке может привести к аварии.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Поэтому все действия должны быть точными и по правилам.</a:t>
            </a:r>
          </a:p>
        </p:txBody>
      </p:sp>
      <p:sp>
        <p:nvSpPr>
          <p:cNvPr id="12" name="Rounded Rectangle 11">
            <a:hlinkClick r:id="rId2" action="ppaction://hlinksldjump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  <p:sp>
        <p:nvSpPr>
          <p:cNvPr id="13" name="Rounded Rectangle 12">
            <a:hlinkClick r:id="rId3" action="ppaction://hlinksldjump"/>
          </p:cNvPr>
          <p:cNvSpPr/>
          <p:nvPr/>
        </p:nvSpPr>
        <p:spPr>
          <a:xfrm>
            <a:off x="9372600" y="5989320"/>
            <a:ext cx="2148840" cy="457200"/>
          </a:xfrm>
          <a:prstGeom prst="roundRect">
            <a:avLst/>
          </a:prstGeom>
          <a:solidFill>
            <a:srgbClr val="DE7436"/>
          </a:solidFill>
          <a:ln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ДАЛЕЕ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Кто может работать стропальщиком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Тема 1 • общая часть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530352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5303520" cy="658368"/>
          </a:xfrm>
          <a:prstGeom prst="roundRect">
            <a:avLst/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Допуск к работе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240280"/>
            <a:ext cx="479145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Прошел обучение.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Прошел инструктаж.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Сдал проверку знаний.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Получил допуск работодателя.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Использует СИЗ.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25880"/>
            <a:ext cx="52120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309360" y="1325880"/>
            <a:ext cx="5212080" cy="658368"/>
          </a:xfrm>
          <a:prstGeom prst="roundRect">
            <a:avLst/>
          </a:prstGeom>
          <a:solidFill>
            <a:srgbClr val="42855F"/>
          </a:solidFill>
          <a:ln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Важный вывод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5392" y="2240280"/>
            <a:ext cx="470001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Допуск к работе - это не формальность.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Без подготовки и проверки знаний работать нельзя.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Безопасная работа начинается с допуска.</a:t>
            </a:r>
          </a:p>
        </p:txBody>
      </p:sp>
      <p:sp>
        <p:nvSpPr>
          <p:cNvPr id="12" name="Rounded Rectangle 11">
            <a:hlinkClick r:id="rId2" action="ppaction://hlinksldjump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  <p:sp>
        <p:nvSpPr>
          <p:cNvPr id="13" name="Rounded Rectangle 12">
            <a:hlinkClick r:id="rId3" action="ppaction://hlinksldjump"/>
          </p:cNvPr>
          <p:cNvSpPr/>
          <p:nvPr/>
        </p:nvSpPr>
        <p:spPr>
          <a:xfrm>
            <a:off x="9372600" y="5989320"/>
            <a:ext cx="2148840" cy="457200"/>
          </a:xfrm>
          <a:prstGeom prst="roundRect">
            <a:avLst/>
          </a:prstGeom>
          <a:solidFill>
            <a:srgbClr val="DE7436"/>
          </a:solidFill>
          <a:ln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ДАЛЕЕ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Разряды 2-4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Тема 1 • общая часть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530352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5303520" cy="658368"/>
          </a:xfrm>
          <a:prstGeom prst="roundRect">
            <a:avLst/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Что входит в курс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240280"/>
            <a:ext cx="479145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2 разряд - простые грузы до 5 т.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3 разряд - простые грузы свыше 5 т до 25 т.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4 разряд - сложные грузы до 5 т.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25880"/>
            <a:ext cx="52120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309360" y="1325880"/>
            <a:ext cx="5212080" cy="658368"/>
          </a:xfrm>
          <a:prstGeom prst="roundRect">
            <a:avLst/>
          </a:prstGeom>
          <a:solidFill>
            <a:srgbClr val="42855F"/>
          </a:solidFill>
          <a:ln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Как читать маршрут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5392" y="2240280"/>
            <a:ext cx="470001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Базовая часть курса закрывает 2-4 разряд.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Для 5-6 разряда будут отдельные углубленные блоки.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Дальше начинается практическая тема 2.</a:t>
            </a:r>
          </a:p>
        </p:txBody>
      </p:sp>
      <p:sp>
        <p:nvSpPr>
          <p:cNvPr id="12" name="Rounded Rectangle 11">
            <a:hlinkClick r:id="rId2" action="ppaction://hlinksldjump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  <p:sp>
        <p:nvSpPr>
          <p:cNvPr id="13" name="Rounded Rectangle 12">
            <a:hlinkClick r:id="rId3" action="ppaction://hlinksldjump"/>
          </p:cNvPr>
          <p:cNvSpPr/>
          <p:nvPr/>
        </p:nvSpPr>
        <p:spPr>
          <a:xfrm>
            <a:off x="9372600" y="5989320"/>
            <a:ext cx="2148840" cy="457200"/>
          </a:xfrm>
          <a:prstGeom prst="roundRect">
            <a:avLst/>
          </a:prstGeom>
          <a:solidFill>
            <a:srgbClr val="DE7436"/>
          </a:solidFill>
          <a:ln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ДАЛЕЕ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Тема 2. Стропальные работы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Переход к основному практическому блоку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63040"/>
            <a:ext cx="5074920" cy="4069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463040"/>
            <a:ext cx="5074920" cy="658368"/>
          </a:xfrm>
          <a:prstGeom prst="roundRect">
            <a:avLst/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Что дальше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2377440"/>
            <a:ext cx="4562856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В Теме 2 начинается прикладная часть курса.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Здесь будут грузы, схемы строповки, сигналы и опасные зоны.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Это точка перехода из вводной части в основную работу.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457200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38404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212B36"/>
                </a:solidFill>
              </a:rPr>
              <a:t>Тема 2.1 Грузы
→ Тема 2.2 Технология
→ Тема 2.3 Производство работ</a:t>
            </a:r>
          </a:p>
        </p:txBody>
      </p:sp>
      <p:sp>
        <p:nvSpPr>
          <p:cNvPr id="11" name="Rounded Rectangle 10">
            <a:hlinkClick r:id="rId2" action="ppaction://hlinksldjump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501</Words>
  <Application>Microsoft Office PowerPoint</Application>
  <PresentationFormat>Произвольный</PresentationFormat>
  <Paragraphs>117</Paragraphs>
  <Slides>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0" baseType="lpstr"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CodexSandboxOffline</cp:lastModifiedBy>
  <cp:revision>4</cp:revision>
  <dcterms:created xsi:type="dcterms:W3CDTF">2013-01-27T09:14:16Z</dcterms:created>
  <dcterms:modified xsi:type="dcterms:W3CDTF">2026-06-20T17:03:04Z</dcterms:modified>
  <cp:category/>
</cp:coreProperties>
</file>