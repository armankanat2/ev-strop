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1.xml"/><Relationship Id="rId5" Type="http://schemas.openxmlformats.org/officeDocument/2006/relationships/slide" Target="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.xml"/><Relationship Id="rId4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Relationship Id="rId3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Relationship Id="rId3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Титульный экран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B36"/>
                </a:solidFill>
              </a:rPr>
              <a:t>ЭВ Стропальщик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A89"/>
                </a:solidFill>
              </a:rPr>
              <a:t>Стропальщик 2-4 разряда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E7436"/>
                </a:solidFill>
              </a:rPr>
              <a:t>Стропальщик 5-6 разряда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Практический курс по безопасной работе с грузами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218688"/>
            <a:ext cx="566928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212B36"/>
                </a:solidFill>
              </a:rPr>
              <a:t>Базовая часть курса - для 2-4 разряда. Для 5-6 разряда открывайте дополнительные блоки.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658368"/>
            <a:ext cx="4965192" cy="6199632"/>
          </a:xfrm>
          <a:prstGeom prst="rect">
            <a:avLst/>
          </a:prstGeom>
          <a:solidFill>
            <a:srgbClr val="537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Живая demo-сборка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4069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Сейчас можно посмотреть:
• S001 титул
• S002 экран выбора
• S002-P01 видеоинструкция
• S002-P02 словарь терминов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612648" y="4709160"/>
            <a:ext cx="2377440" cy="566928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НАЧАТЬ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 и глосарий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вводный экран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Выберите, что открыть: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64008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21208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Видеоинструкция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навигация по курсу.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ознакомьтесь.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S002-P01.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630936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50876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прочтите.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Термины вынесены в отдельный подвал.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S002-P02.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1600200" y="4572000"/>
            <a:ext cx="3246120" cy="56692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S002-P01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7269480" y="4572000"/>
            <a:ext cx="324612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S002-P02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389120" cy="3520440"/>
          </a:xfrm>
          <a:prstGeom prst="roundRect">
            <a:avLst/>
          </a:prstGeom>
          <a:solidFill>
            <a:srgbClr val="E0E8EF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22B42"/>
                </a:solidFill>
              </a:rPr>
              <a:t>Здесь будет видеоролик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12B36"/>
                </a:solidFill>
              </a:rPr>
              <a:t>Рабочая озвучка уже подготовлена:
S002-P01_ozvuchka_55_sec_stress_2026-06-20.mp3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096512"/>
            <a:ext cx="3749039" cy="530352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ВИДЕОИНСТРУКЦИЮ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Что должен понять слушатель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645920"/>
            <a:ext cx="54864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645920"/>
            <a:ext cx="548640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Коротко о логике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0992" y="2560320"/>
            <a:ext cx="49743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Курс интерактивный.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Темы идут по порядку.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тем и блоков будут тесты.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 кнопкам открывайте пояснения.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просмотра вернитесь в курс.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43000"/>
            <a:ext cx="11045952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Термины расположены по алфавиту</a:t>
            </a:r>
          </a:p>
        </p:txBody>
      </p:sp>
      <p:sp>
        <p:nvSpPr>
          <p:cNvPr id="8" name="Rectangle 7"/>
          <p:cNvSpPr/>
          <p:nvPr/>
        </p:nvSpPr>
        <p:spPr>
          <a:xfrm>
            <a:off x="6071616" y="1627632"/>
            <a:ext cx="18288" cy="3794760"/>
          </a:xfrm>
          <a:prstGeom prst="rect">
            <a:avLst/>
          </a:prstGeom>
          <a:solidFill>
            <a:srgbClr val="D2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Гак</a:t>
            </a:r>
            <a:r>
              <a:rPr sz="1100">
                <a:solidFill>
                  <a:srgbClr val="212B36"/>
                </a:solidFill>
              </a:rPr>
              <a:t> - крюк грузоподъёмного механизма.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Груз</a:t>
            </a:r>
            <a:r>
              <a:rPr sz="1100">
                <a:solidFill>
                  <a:srgbClr val="212B36"/>
                </a:solidFill>
              </a:rPr>
              <a:t> - предмет или конструкция для подъёма.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Грузозахватное приспособление</a:t>
            </a:r>
            <a:r>
              <a:rPr sz="1100">
                <a:solidFill>
                  <a:srgbClr val="212B36"/>
                </a:solidFill>
              </a:rPr>
              <a:t> - устройство для захвата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Зажимы</a:t>
            </a:r>
            <a:r>
              <a:rPr sz="1100">
                <a:solidFill>
                  <a:srgbClr val="212B36"/>
                </a:solidFill>
              </a:rPr>
              <a:t> - устройства для закрепления концов каната.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Коуш</a:t>
            </a:r>
            <a:r>
              <a:rPr sz="1100">
                <a:solidFill>
                  <a:srgbClr val="212B36"/>
                </a:solidFill>
              </a:rPr>
              <a:t> - металлическая вставка, защищающая петлю каната от залома и износа.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Магнитные зажимы</a:t>
            </a:r>
            <a:r>
              <a:rPr sz="1100">
                <a:solidFill>
                  <a:srgbClr val="212B36"/>
                </a:solidFill>
              </a:rPr>
              <a:t> - устройства, удерживающие металлический груз с помощью магнита.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Мёртвый груз</a:t>
            </a:r>
            <a:r>
              <a:rPr sz="1100">
                <a:solidFill>
                  <a:srgbClr val="212B36"/>
                </a:solidFill>
              </a:rPr>
              <a:t> - груз, массу которого определить невозможно.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Оттяжка</a:t>
            </a:r>
            <a:r>
              <a:rPr sz="1100">
                <a:solidFill>
                  <a:srgbClr val="212B36"/>
                </a:solidFill>
              </a:rPr>
              <a:t> - канат или верёвка для управления положением груза и предотвращения его раскачивания.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Рым</a:t>
            </a:r>
            <a:r>
              <a:rPr sz="1100">
                <a:solidFill>
                  <a:srgbClr val="212B36"/>
                </a:solidFill>
              </a:rPr>
              <a:t> - кольцо или проушина для крепления стропа к грузу.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719072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Сигнальщик</a:t>
            </a:r>
            <a:r>
              <a:rPr sz="1100">
                <a:solidFill>
                  <a:srgbClr val="212B36"/>
                </a:solidFill>
              </a:rPr>
              <a:t> - работник, который подаёт команды крановщику при перемещении груза, если между стропальщиком и крановщиком контакт отсутствует.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СИЗ</a:t>
            </a:r>
            <a:r>
              <a:rPr sz="1100">
                <a:solidFill>
                  <a:srgbClr val="212B36"/>
                </a:solidFill>
              </a:rPr>
              <a:t> - средства индивидуальной защиты.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</a:t>
            </a:r>
            <a:r>
              <a:rPr sz="1100">
                <a:solidFill>
                  <a:srgbClr val="212B36"/>
                </a:solidFill>
              </a:rPr>
              <a:t> - грузозахватное средство.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Стропальщик</a:t>
            </a:r>
            <a:r>
              <a:rPr sz="1100">
                <a:solidFill>
                  <a:srgbClr val="212B36"/>
                </a:solidFill>
              </a:rPr>
              <a:t> - рабочий, который выполняет строповку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Строповка</a:t>
            </a:r>
            <a:r>
              <a:rPr sz="1100">
                <a:solidFill>
                  <a:srgbClr val="212B36"/>
                </a:solidFill>
              </a:rPr>
              <a:t> - способ обвязки и зацепки.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Тара</a:t>
            </a:r>
            <a:r>
              <a:rPr sz="1100">
                <a:solidFill>
                  <a:srgbClr val="212B36"/>
                </a:solidFill>
              </a:rPr>
              <a:t> - ёмкость или приспособление для размещения и перемещения груза.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Траверса</a:t>
            </a:r>
            <a:r>
              <a:rPr sz="1100">
                <a:solidFill>
                  <a:srgbClr val="212B36"/>
                </a:solidFill>
              </a:rPr>
              <a:t> - грузозахватная балка для подъёма длинных или крупногабаритных грузов.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65A89"/>
                </a:solidFill>
              </a:rPr>
              <a:t>Цапфа</a:t>
            </a:r>
            <a:r>
              <a:rPr sz="1100">
                <a:solidFill>
                  <a:srgbClr val="212B36"/>
                </a:solidFill>
              </a:rPr>
              <a:t> - выступающая часть груза или оборудования, используемая как опора или место строповки.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Какие документы регулируют работу стропальщика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B42"/>
                </a:solidFill>
              </a:rPr>
              <a:t>Это основные правовые акты, регулирующие работу стропальщика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6235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Закон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15087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Дата принятия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691640"/>
            <a:ext cx="306324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Кто издал</a:t>
            </a:r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640080" y="2203704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203704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12B36"/>
                </a:solidFill>
              </a:rPr>
              <a:t>30.12.2001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203704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3" name="Rectangle 12">
            <a:hlinkClick action="ppaction://hlinksldjump" r:id="rId4"/>
          </p:cNvPr>
          <p:cNvSpPr/>
          <p:nvPr/>
        </p:nvSpPr>
        <p:spPr>
          <a:xfrm>
            <a:off x="640080" y="2953512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953512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24.12.2021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953512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212B36"/>
                </a:solidFill>
              </a:rPr>
              <a:t>Правительство РФ</a:t>
            </a:r>
          </a:p>
        </p:txBody>
      </p:sp>
      <p:sp>
        <p:nvSpPr>
          <p:cNvPr id="16" name="Rectangle 15">
            <a:hlinkClick action="ppaction://hlinksldjump" r:id="rId5"/>
          </p:cNvPr>
          <p:cNvSpPr/>
          <p:nvPr/>
        </p:nvSpPr>
        <p:spPr>
          <a:xfrm>
            <a:off x="640080" y="3703320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03320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21.07.1997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703320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9" name="Rectangle 18">
            <a:hlinkClick action="ppaction://hlinksldjump" r:id="rId6"/>
          </p:cNvPr>
          <p:cNvSpPr/>
          <p:nvPr/>
        </p:nvSpPr>
        <p:spPr>
          <a:xfrm>
            <a:off x="640080" y="4453128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453128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26.11.2020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453128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212B36"/>
                </a:solidFill>
              </a:rPr>
              <a:t>Ростехнадзор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691640"/>
            <a:ext cx="196596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55480" y="1691640"/>
            <a:ext cx="196596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</a:rPr>
              <a:t>Интерактив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478024"/>
            <a:ext cx="1508760" cy="996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Нажмите на название документа.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26" name="Rounded Rectangle 25">
            <a:hlinkClick action="ppaction://hlinksldjump" r:id="rId7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Трудовой кодекс РФ № 197-ФЗ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Общая рамка по охране труда и допуску к работе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Раздел X "Охрана труда": обязанности работодателя и работника, СИЗ, безопасные условия труда, расследование несчастных случаев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Постановление Правительства РФ № 2464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Обучение по охране труда и проверка знаний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Инструктажи, стажировка, обучение, первая помощь, проверка знаний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Федеральный закон № 116-ФЗ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требования безопасной работы на опасных производственных объектах, подготовки работников, предупреждения аварий и производственного контроля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Нужен при работе на ОПО: подготовка работников, требования промбезопасности, производственный контроль. Для стропальщика важен тем, что требует проходить обучение, соблюдать правила безопасности, выполнять инструкции и сообщать о неисправностях и опасных ситуациях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Приказ Ростехнадзора № 461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правила безопасной эксплуатации кранов и других подъемных сооружений на опасных производственных объектах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212B36"/>
                </a:solidFill>
              </a:rPr>
              <a:t>п. 19, п. 98-99, п. 155-163: персонал, сигналы, ППР/ТК, строповка, ПРР, складирование. Для стропальщика важен тем, что определяет правила строповки и перемещения грузов, проверки стропов и тары, подачи сигналов и прекращения работы при опасности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такой стропальщик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61872"/>
            <a:ext cx="640080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63040"/>
            <a:ext cx="5989320" cy="3995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261872"/>
            <a:ext cx="434340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69480" y="1261872"/>
            <a:ext cx="4343400" cy="621792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Определение профессии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2157984"/>
            <a:ext cx="3758184" cy="277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22B42"/>
                </a:solidFill>
              </a:rPr>
              <a:t>Стропальщик</a:t>
            </a:r>
            <a:r>
              <a:rPr sz="1800">
                <a:solidFill>
                  <a:srgbClr val="212B36"/>
                </a:solidFill>
              </a:rPr>
              <a:t> — рабочая профессия, связанная с подготовкой, обвязкой, зацепкой и безопасным перемещением грузов с помощью грузоподъёмных механизмов.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может работать стропальщиком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188720"/>
            <a:ext cx="10789920" cy="45902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444752"/>
            <a:ext cx="9692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E7A86"/>
                </a:solidFill>
              </a:rPr>
              <a:t>К работе допускаются работники, которые: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15568" y="1938528"/>
            <a:ext cx="4663440" cy="107899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DE7436"/>
                </a:solidFill>
              </a:rPr>
              <a:t>18 лет и старше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938528"/>
            <a:ext cx="4663440" cy="107899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DE7436"/>
                </a:solidFill>
              </a:rPr>
              <a:t>медицинский осмотр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3401568"/>
            <a:ext cx="4663440" cy="129844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DE7436"/>
                </a:solidFill>
              </a:rPr>
              <a:t>обученные
и аттестованные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401568"/>
            <a:ext cx="4663440" cy="129844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DE7436"/>
                </a:solidFill>
              </a:rPr>
              <a:t>получившие удостоверение</a:t>
            </a:r>
          </a:p>
        </p:txBody>
      </p:sp>
      <p:sp>
        <p:nvSpPr>
          <p:cNvPr id="12" name="Rounded Rectangle 11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action="ppaction://hlinksldjump" r:id="rId3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Разряды 2-4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входит в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2 разряд - простые грузы до 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3 разряд - простые грузы свыше 5 т до 25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4 разряд - сложные грузы до 5 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Как читать маршрут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Базовая часть курса закрывает 2-4 разряд.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Для 5-6 разряда будут отдельные углубленные блоки.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Дальше начинается практическая тема 2.</a:t>
            </a:r>
          </a:p>
        </p:txBody>
      </p:sp>
      <p:sp>
        <p:nvSpPr>
          <p:cNvPr id="12" name="Rounded Rectangle 11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action="ppaction://hlinksldjump" r:id="rId3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Тема 2. Стропальные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Переход к основному практическому блоку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07492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0749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дальше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4562856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В Теме 2 начинается прикладная часть курса.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Здесь будут грузы, схемы строповки, сигналы и опасные зоны.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точка перехода из вводной части в основную работу.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45720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3840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212B36"/>
                </a:solidFill>
              </a:rPr>
              <a:t>Тема 2.1 Грузы
→ Тема 2.2 Технология
→ Тема 2.3 Производство работ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