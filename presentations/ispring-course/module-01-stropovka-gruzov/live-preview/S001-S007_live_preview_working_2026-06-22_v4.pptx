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5" Type="http://schemas.openxmlformats.org/officeDocument/2006/relationships/slide" Target="slide5.xml"/><Relationship Id="rId4" Type="http://schemas.openxmlformats.org/officeDocument/2006/relationships/slide" Target="sl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7" Type="http://schemas.openxmlformats.org/officeDocument/2006/relationships/slide" Target="slide10.xml"/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2.xml"/><Relationship Id="rId5" Type="http://schemas.openxmlformats.org/officeDocument/2006/relationships/slide" Target="slide9.xml"/><Relationship Id="rId4" Type="http://schemas.openxmlformats.org/officeDocument/2006/relationships/slide" Target="slide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slide" Target="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slide" Target="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slide" Target="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Титульный экран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B36"/>
                </a:solidFill>
              </a:rPr>
              <a:t>ЭВ Стропальщик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783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5A89"/>
                </a:solidFill>
              </a:rPr>
              <a:t>Стропальщик 2-4 разряда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8483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E7436"/>
                </a:solidFill>
              </a:rPr>
              <a:t>Стропальщик 5-6 разряда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6060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Практический курс по безопасной работе с грузами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218688"/>
            <a:ext cx="5669280" cy="987552"/>
          </a:xfrm>
          <a:prstGeom prst="round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>
                <a:solidFill>
                  <a:srgbClr val="212B36"/>
                </a:solidFill>
              </a:rPr>
              <a:t>Базовая часть курса - для 2-4 разряда. Для 5-6 разряда открывайте дополнительные блоки.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658368"/>
            <a:ext cx="4965192" cy="6199632"/>
          </a:xfrm>
          <a:prstGeom prst="rect">
            <a:avLst/>
          </a:prstGeom>
          <a:solidFill>
            <a:srgbClr val="5377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Живая demo-сборка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45920"/>
            <a:ext cx="4069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Сейчас можно посмотреть:
• S001 титул
• S002 экран выбора
• S002-P01 видеоинструкция
• S002-P02 словарь терминов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612648" y="4709160"/>
            <a:ext cx="2377440" cy="566928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НАЧАТЬ КУРС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 и глосарий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вводный экран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Выберите, что открыть:</a:t>
            </a:r>
          </a:p>
        </p:txBody>
      </p:sp>
      <p:sp>
        <p:nvSpPr>
          <p:cNvPr id="7" name="Rounded Rectangle 6">
            <a:hlinkClick r:id="rId2" action="ppaction://hlinksldjump"/>
          </p:cNvPr>
          <p:cNvSpPr/>
          <p:nvPr/>
        </p:nvSpPr>
        <p:spPr>
          <a:xfrm>
            <a:off x="64008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21208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Видеоинструкция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навигация по курсу.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ознакомьтесь.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S002-P01.</a:t>
            </a:r>
          </a:p>
        </p:txBody>
      </p:sp>
      <p:sp>
        <p:nvSpPr>
          <p:cNvPr id="10" name="Rounded Rectangle 9">
            <a:hlinkClick r:id="rId3" action="ppaction://hlinksldjump"/>
          </p:cNvPr>
          <p:cNvSpPr/>
          <p:nvPr/>
        </p:nvSpPr>
        <p:spPr>
          <a:xfrm>
            <a:off x="6309360" y="1508760"/>
            <a:ext cx="52120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60" y="150876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423160"/>
            <a:ext cx="4700016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Откройте и прочтите.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Термины вынесены в отдельный подвал.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Переход в подвал S002-P02.</a:t>
            </a:r>
          </a:p>
        </p:txBody>
      </p:sp>
      <p:sp>
        <p:nvSpPr>
          <p:cNvPr id="13" name="Rounded Rectangle 12">
            <a:hlinkClick r:id="rId2" action="ppaction://hlinksldjump"/>
          </p:cNvPr>
          <p:cNvSpPr/>
          <p:nvPr/>
        </p:nvSpPr>
        <p:spPr>
          <a:xfrm>
            <a:off x="1600200" y="4572000"/>
            <a:ext cx="3246120" cy="56692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S002-P01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7269480" y="4572000"/>
            <a:ext cx="324612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S002-P02</a:t>
            </a:r>
          </a:p>
        </p:txBody>
      </p:sp>
      <p:sp>
        <p:nvSpPr>
          <p:cNvPr id="15" name="Rounded Rectangle 14">
            <a:hlinkClick r:id="rId4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6" name="Rounded Rectangle 15">
            <a:hlinkClick r:id="rId5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Видеоинструкция по курсу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4389120" cy="3520440"/>
          </a:xfrm>
          <a:prstGeom prst="roundRect">
            <a:avLst/>
          </a:prstGeom>
          <a:solidFill>
            <a:srgbClr val="E0E8EF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22B42"/>
                </a:solidFill>
              </a:rPr>
              <a:t>Здесь будет видеоролик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886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212B36"/>
                </a:solidFill>
              </a:rPr>
              <a:t>Рабочая озвучка уже подготовлена:
S002-P01_ozvuchka_55_sec_stress_2026-06-20.mp3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096512"/>
            <a:ext cx="3749039" cy="530352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ОТКРЫТЬ ВИДЕОИНСТРУКЦИЮ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B36"/>
                </a:solidFill>
              </a:rPr>
              <a:t>Что должен понять слушатель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645920"/>
            <a:ext cx="548640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94960" y="1645920"/>
            <a:ext cx="548640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Коротко о логике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0992" y="2560320"/>
            <a:ext cx="49743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Курс интерактивный.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Темы идут по порядку.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тем и блоков будут тесты.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 кнопкам открывайте пояснения.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После просмотра вернитесь в курс.</a:t>
            </a:r>
          </a:p>
        </p:txBody>
      </p:sp>
      <p:sp>
        <p:nvSpPr>
          <p:cNvPr id="14" name="Rounded Rectangle 13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Словарь терминов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S002-P02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530352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Левая колонка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94560"/>
            <a:ext cx="47914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Стропальщик - рабочий, который выполняет строповку груза.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 - грузозахватное средство.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Строповка - способ обвязки и зацепки.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30352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Правая колонка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194560"/>
            <a:ext cx="479145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Груз - предмет или конструкция для подъема.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Грузозахватное приспособление - устройство для захвата груза.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СИЗ - средства индивидуальной защиты.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8366760" y="5989320"/>
            <a:ext cx="2788920" cy="457200"/>
          </a:xfrm>
          <a:prstGeom prst="roundRect">
            <a:avLst/>
          </a:prstGeom>
          <a:solidFill>
            <a:srgbClr val="122B42"/>
          </a:solidFill>
          <a:ln>
            <a:solidFill>
              <a:srgbClr val="12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 К КУРСУ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Какие документы регулируют работу стропальщика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2B42"/>
                </a:solidFill>
              </a:rPr>
              <a:t>Это основные правовые акты, регулирующие работу стропальщика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6235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Закон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150876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Дата принятия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691640"/>
            <a:ext cx="3063240" cy="512064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Кто издал</a:t>
            </a:r>
          </a:p>
        </p:txBody>
      </p:sp>
      <p:sp>
        <p:nvSpPr>
          <p:cNvPr id="10" name="Rectangle 9">
            <a:hlinkClick r:id="rId2" action="ppaction://hlinksldjump"/>
          </p:cNvPr>
          <p:cNvSpPr/>
          <p:nvPr/>
        </p:nvSpPr>
        <p:spPr>
          <a:xfrm>
            <a:off x="640080" y="2203704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203704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30.12.2001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203704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3" name="Rectangle 12">
            <a:hlinkClick r:id="rId3" action="ppaction://hlinksldjump"/>
          </p:cNvPr>
          <p:cNvSpPr/>
          <p:nvPr/>
        </p:nvSpPr>
        <p:spPr>
          <a:xfrm>
            <a:off x="640080" y="2953512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953512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24.12.2021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953512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Правительство РФ</a:t>
            </a:r>
          </a:p>
        </p:txBody>
      </p:sp>
      <p:sp>
        <p:nvSpPr>
          <p:cNvPr id="16" name="Rectangle 15">
            <a:hlinkClick r:id="rId4" action="ppaction://hlinksldjump"/>
          </p:cNvPr>
          <p:cNvSpPr/>
          <p:nvPr/>
        </p:nvSpPr>
        <p:spPr>
          <a:xfrm>
            <a:off x="640080" y="3703320"/>
            <a:ext cx="56235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03320"/>
            <a:ext cx="150876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21.07.1997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703320"/>
            <a:ext cx="30632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Федеральное Собрание РФ,
Президент РФ</a:t>
            </a:r>
          </a:p>
        </p:txBody>
      </p:sp>
      <p:sp>
        <p:nvSpPr>
          <p:cNvPr id="19" name="Rectangle 18">
            <a:hlinkClick r:id="rId5" action="ppaction://hlinksldjump"/>
          </p:cNvPr>
          <p:cNvSpPr/>
          <p:nvPr/>
        </p:nvSpPr>
        <p:spPr>
          <a:xfrm>
            <a:off x="640080" y="4453128"/>
            <a:ext cx="56235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b="1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453128"/>
            <a:ext cx="150876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212B36"/>
                </a:solidFill>
              </a:rPr>
              <a:t>26.11.2020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4453128"/>
            <a:ext cx="3063240" cy="749808"/>
          </a:xfrm>
          <a:prstGeom prst="rect">
            <a:avLst/>
          </a:prstGeom>
          <a:solidFill>
            <a:srgbClr val="F8FAFC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0">
                <a:solidFill>
                  <a:srgbClr val="212B36"/>
                </a:solidFill>
              </a:rPr>
              <a:t>Ростехнадзор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691640"/>
            <a:ext cx="1965960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555480" y="1691640"/>
            <a:ext cx="1965960" cy="56692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</a:rPr>
              <a:t>Интерактив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478024"/>
            <a:ext cx="1508760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Нажмите на название документа.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Откроется подвал с короткой справкой.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12B36"/>
                </a:solidFill>
              </a:rPr>
              <a:t>Из подвала можно вернуться в S003.</a:t>
            </a:r>
          </a:p>
        </p:txBody>
      </p:sp>
      <p:sp>
        <p:nvSpPr>
          <p:cNvPr id="25" name="Rounded Rectangle 24">
            <a:hlinkClick r:id="rId6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26" name="Rounded Rectangle 25">
            <a:hlinkClick r:id="rId7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Трудовой кодекс РФ № 197-ФЗ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Трудовой кодекс РФ № 197-ФЗ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Общая рамка по охране труда и допуску к работе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Раздел X "Охрана труда": обязанности работодателя и работника, СИЗ, безопасные условия труда, расследование несчастных случаев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Постановление Правительства РФ № 2464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Постановление Правительства РФ № 2464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Обучение по охране труда и проверка знаний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Инструктажи, стажировка, обучение, первая помощь, проверка знаний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Федеральный закон № 116-ФЗ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Федеральный закон № 116-ФЗ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требования безопасной работы на опасных производственных объектах, подготовки работников, предупреждения аварий и производственного контроля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Нужен при работе на ОПО: подготовка работников, требования промбезопасности, производственный контроль. Для стропальщика важен тем, что требует проходить обучение, соблюдать правила безопасности, выполнять инструкции и сообщать о неисправностях и опасных ситуациях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Приказ Ростехнадзора № 461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S003-P04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Подвал от S003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22B42"/>
                </a:solidFill>
              </a:rPr>
              <a:t>Короткая справка по документу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3774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600200"/>
            <a:ext cx="6720840" cy="502920"/>
          </a:xfrm>
          <a:prstGeom prst="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377440" cy="73152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Документ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103120"/>
            <a:ext cx="6720840" cy="73152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Приказ Ростехнадзора № 461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40"/>
            <a:ext cx="2377440" cy="9144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О чем документ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834640"/>
            <a:ext cx="672084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Устанавливает правила безопасной эксплуатации кранов и других подъемных сооружений на опасных производственных объектах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2377440" cy="1600200"/>
          </a:xfrm>
          <a:prstGeom prst="rect">
            <a:avLst/>
          </a:prstGeom>
          <a:solidFill>
            <a:srgbClr val="F0F4F7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1">
                <a:solidFill>
                  <a:srgbClr val="212B36"/>
                </a:solidFill>
              </a:rPr>
              <a:t>Чем важно для стропальщика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749040"/>
            <a:ext cx="6720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 b="0">
                <a:solidFill>
                  <a:srgbClr val="212B36"/>
                </a:solidFill>
              </a:rPr>
              <a:t>п. 19, п. 98-99, п. 155-163: персонал, сигналы, ППР/ТК, строповка, ПРР, складирование. Для стропальщика важен тем, что определяет правила строповки и перемещения грузов, проверки стропов и тары, подачи сигналов и прекращения работы при опасности</a:t>
            </a:r>
          </a:p>
        </p:txBody>
      </p:sp>
      <p:sp>
        <p:nvSpPr>
          <p:cNvPr id="15" name="Rounded Rectangle 14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Кто такой стропальщик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Основные действия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Подбирает и проверяет стропы.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Стропит груз по схеме.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Подает сигналы крановщику.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Следит за безопасным перемещением груза.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Он отвечает не только за строп, но и за безопасность.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Ошибка при строповке может привести к аварии.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Поэтому все действия должны быть точными и по правилам.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Кто может работать стропальщиком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Допуск к работе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Прошел обучение.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Прошел инструктаж.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Сдал проверку знаний.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Получил допуск работодателя.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Использует СИЗ.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Важный вывод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Допуск к работе - это не формальность.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Без подготовки и проверки знаний работать нельзя.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Безопасная работа начинается с допуска.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Разряды 2-4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Тема 1 • общая часть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3035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035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Что входит в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240280"/>
            <a:ext cx="47914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2 разряд - простые грузы до 5 т.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3 разряд - простые грузы свыше 5 т до 25 т.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4 разряд - сложные грузы до 5 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52120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212080" cy="658368"/>
          </a:xfrm>
          <a:prstGeom prst="roundRect">
            <a:avLst/>
          </a:prstGeom>
          <a:solidFill>
            <a:srgbClr val="42855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Как читать маршрут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240280"/>
            <a:ext cx="470001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Базовая часть курса закрывает 2-4 разряд.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Для 5-6 разряда будут отдельные углубленные блоки.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Дальше начинается практическая тема 2.</a:t>
            </a:r>
          </a:p>
        </p:txBody>
      </p:sp>
      <p:sp>
        <p:nvSpPr>
          <p:cNvPr id="12" name="Rounded Rectangle 11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372600" y="5989320"/>
            <a:ext cx="2148840" cy="457200"/>
          </a:xfrm>
          <a:prstGeom prst="roundRect">
            <a:avLst/>
          </a:prstGeom>
          <a:solidFill>
            <a:srgbClr val="DE7436"/>
          </a:solidFill>
          <a:ln>
            <a:solidFill>
              <a:srgbClr val="DE7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ДАЛЕЕ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28016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Тема 2. Стропальные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128016"/>
            <a:ext cx="1234440" cy="320040"/>
          </a:xfrm>
          <a:prstGeom prst="roundRect">
            <a:avLst/>
          </a:prstGeom>
          <a:solidFill>
            <a:srgbClr val="DE7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7A86"/>
                </a:solidFill>
              </a:rPr>
              <a:t>Переход к основному практическому блоку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074920" cy="4069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5074920" cy="658368"/>
          </a:xfrm>
          <a:prstGeom prst="roundRect">
            <a:avLst/>
          </a:prstGeom>
          <a:solidFill>
            <a:srgbClr val="265A89"/>
          </a:solidFill>
          <a:ln>
            <a:solidFill>
              <a:srgbClr val="265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Что дальше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77440"/>
            <a:ext cx="4562856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В Теме 2 начинается прикладная часть курса.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Здесь будут грузы, схемы строповки, сигналы и опасные зоны.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B36"/>
                </a:solidFill>
              </a:rPr>
              <a:t>Это точка перехода из вводной части в основную работу.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45720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428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3840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212B36"/>
                </a:solidFill>
              </a:rPr>
              <a:t>Тема 2.1 Грузы
→ Тема 2.2 Технология
→ Тема 2.3 Производство работ</a:t>
            </a:r>
          </a:p>
        </p:txBody>
      </p:sp>
      <p:sp>
        <p:nvSpPr>
          <p:cNvPr id="11" name="Rounded Rectangle 10">
            <a:hlinkClick r:id="rId2" action="ppaction://hlinksldjump"/>
          </p:cNvPr>
          <p:cNvSpPr/>
          <p:nvPr/>
        </p:nvSpPr>
        <p:spPr>
          <a:xfrm>
            <a:off x="640080" y="5989320"/>
            <a:ext cx="2148840" cy="457200"/>
          </a:xfrm>
          <a:prstGeom prst="roundRect">
            <a:avLst/>
          </a:prstGeom>
          <a:solidFill>
            <a:srgbClr val="537795"/>
          </a:solidFill>
          <a:ln>
            <a:solidFill>
              <a:srgbClr val="5377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НАЗАД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795</Words>
  <Application>Microsoft Office PowerPoint</Application>
  <PresentationFormat>Произвольный</PresentationFormat>
  <Paragraphs>180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CodexSandboxOffline</cp:lastModifiedBy>
  <cp:revision>2</cp:revision>
  <dcterms:created xsi:type="dcterms:W3CDTF">2013-01-27T09:14:16Z</dcterms:created>
  <dcterms:modified xsi:type="dcterms:W3CDTF">2026-06-22T18:15:40Z</dcterms:modified>
  <cp:category/>
</cp:coreProperties>
</file>