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Тема 2.2. Технология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Работа стропальщика как последовательность действий от подготовки до расстроповки.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57FF"/>
                </a:solidFill>
                <a:latin typeface="Arial"/>
              </a:rPr>
              <a:t>• В этом блоке разбираем рабочий порядок, а не отдельные жесты.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57FF"/>
                </a:solidFill>
                <a:latin typeface="Arial"/>
              </a:rPr>
              <a:t>• Подготовка, сигналы, сопровождение груза и безопасное завершение образуют единый цикл.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57FF"/>
                </a:solidFill>
                <a:latin typeface="Arial"/>
              </a:rPr>
              <a:t>• Каждое действие выполняется по технологической логике и в рамках опасной зоны.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892040"/>
            <a:ext cx="3977639" cy="438912"/>
          </a:xfrm>
          <a:prstGeom prst="rect">
            <a:avLst/>
          </a:prstGeom>
          <a:solidFill>
            <a:srgbClr val="EAF0FF"/>
          </a:solidFill>
          <a:ln w="635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74336"/>
            <a:ext cx="3794759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Инженерная логика • понятные сигналы • безопасная последовательность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25880"/>
            <a:ext cx="640080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325880"/>
            <a:ext cx="64008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82896" y="142646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44475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S029-V1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142646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142646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688" y="144475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1719072"/>
            <a:ext cx="61447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Ключевой визуальный вход</a:t>
            </a:r>
          </a:p>
        </p:txBody>
      </p:sp>
      <p:pic>
        <p:nvPicPr>
          <p:cNvPr id="21" name="Picture 20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203704"/>
            <a:ext cx="5184648" cy="34564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901184" y="5733288"/>
            <a:ext cx="610819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5806440"/>
            <a:ext cx="610819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Стропальщик подает команду на фоне грузоподъемной операции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Что будет в подтеме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Маршрут работы стропальщика от подготовки к операции до складирования и расстроповки.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19202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011680"/>
            <a:ext cx="19202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0848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13432"/>
            <a:ext cx="170078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Подготовка
к работе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78608" y="2670048"/>
            <a:ext cx="320040" cy="0"/>
          </a:xfrm>
          <a:prstGeom prst="line">
            <a:avLst/>
          </a:prstGeom>
          <a:ln w="2032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98648" y="2011680"/>
            <a:ext cx="19202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2011680"/>
            <a:ext cx="19202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0848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313432"/>
            <a:ext cx="170078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Обязанности
стропальщика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18888" y="2670048"/>
            <a:ext cx="320040" cy="0"/>
          </a:xfrm>
          <a:prstGeom prst="line">
            <a:avLst/>
          </a:prstGeom>
          <a:ln w="2032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38928" y="2011680"/>
            <a:ext cx="19202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8928" y="2011680"/>
            <a:ext cx="19202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48656" y="20848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313432"/>
            <a:ext cx="170078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Сигнализация
и связь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2670048"/>
            <a:ext cx="320040" cy="0"/>
          </a:xfrm>
          <a:prstGeom prst="line">
            <a:avLst/>
          </a:prstGeom>
          <a:ln w="2032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79208" y="2011680"/>
            <a:ext cx="19202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9208" y="2011680"/>
            <a:ext cx="19202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20848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313432"/>
            <a:ext cx="170078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Сопровождение
груза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9448" y="2670048"/>
            <a:ext cx="320040" cy="0"/>
          </a:xfrm>
          <a:prstGeom prst="line">
            <a:avLst/>
          </a:prstGeom>
          <a:ln w="2032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619488" y="2011680"/>
            <a:ext cx="192024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19488" y="2011680"/>
            <a:ext cx="192024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9216" y="20848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2313432"/>
            <a:ext cx="170078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Складирование
и расстроповка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69080"/>
            <a:ext cx="8229600" cy="411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Arial"/>
              </a:rPr>
              <a:t>Технология работы — это не один прием, а вся операция целиком.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72000"/>
            <a:ext cx="7863840" cy="1097280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57FF"/>
                </a:solidFill>
                <a:latin typeface="Arial"/>
              </a:rPr>
              <a:t>• сначала уточняем условия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57FF"/>
                </a:solidFill>
                <a:latin typeface="Arial"/>
              </a:rPr>
              <a:t>• затем действуем по сигналам и по маршруту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57FF"/>
                </a:solidFill>
                <a:latin typeface="Arial"/>
              </a:rPr>
              <a:t>• завершаем работу только после устойчивой установки груза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Подготовка к работе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Безопасная операция начинается до строповки и до первого сигнала.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00200"/>
            <a:ext cx="361188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36118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17007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7190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S031-T1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17007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17007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17190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1993392"/>
            <a:ext cx="335584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проверить до начала работ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2468880"/>
            <a:ext cx="3355848" cy="349300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Уточнить задание и условия выполнения работ.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Проверить массу, характер и свободное положение груза.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Проверить место работы и видимость.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Свериться со схемами и таблицами.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Осмотреть стропы, приспособления и тару.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1600200"/>
            <a:ext cx="66294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600200"/>
            <a:ext cx="66294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08576" y="17007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17190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S031-V1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17007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94392" y="17007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17190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1993392"/>
            <a:ext cx="63733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Памятка и схема</a:t>
            </a:r>
          </a:p>
        </p:txBody>
      </p:sp>
      <p:pic>
        <p:nvPicPr>
          <p:cNvPr id="27" name="Picture 26" descr="S031-P01_podgotovka-k-rabote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716" y="2478024"/>
            <a:ext cx="5657088" cy="318211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626864" y="5733288"/>
            <a:ext cx="633679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5806440"/>
            <a:ext cx="633679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Опорная памятка по подготовке к работе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Когда работу нельзя начинать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Если исходные условия не ясны или опасны, операция не запускается.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320040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32004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" y="17465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647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S032-T1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17465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4912" y="174650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7647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039112"/>
            <a:ext cx="29443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Можно начинать, если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514600"/>
            <a:ext cx="2944368" cy="10698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Понятно задание и подтверждена масса груза.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Есть схема и нужная оснастка.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Груз свободен и готов к подъему.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Рабочая зона подготовлена.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Видимость и условия позволяют работать безопасно.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645920"/>
            <a:ext cx="699516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1645920"/>
            <a:ext cx="69951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2816" y="17465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17647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S032-V1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17465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94392" y="174650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17647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2039112"/>
            <a:ext cx="673912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Разбор опасного условия</a:t>
            </a:r>
          </a:p>
        </p:txBody>
      </p:sp>
      <p:pic>
        <p:nvPicPr>
          <p:cNvPr id="27" name="Picture 26" descr="S031-P02_plohaia-osveshchennost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396" y="2523744"/>
            <a:ext cx="5331968" cy="299923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261104" y="5596128"/>
            <a:ext cx="6702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4" y="5669280"/>
            <a:ext cx="670255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Типовая ситуация: начинать работу при плохой освещенности нельзя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77639"/>
            <a:ext cx="320040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977639"/>
            <a:ext cx="320040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" y="4078223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096511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S032-T2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9072" y="4078223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4078223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1488" y="4096511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4370831"/>
            <a:ext cx="29443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Нельзя начинать, если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846319"/>
            <a:ext cx="2944368" cy="97840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Плохая видимость.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схемы строповки.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Масса груза не подтверждена.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Груз примерз, защемлен, заложен, залит или на нем находятся люди.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Оснастка неисправна, тара заполнена выше бортов или рабочее место небезопасно.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Обязанности стропальщика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Роль стропальщика раскрывается по этапам производственной операции.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2514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19293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476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S033-T1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93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19293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2536" y="19476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221992"/>
            <a:ext cx="2258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До начала работ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уточнить задание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оценить условия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подготовить место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47288" y="1828800"/>
            <a:ext cx="2514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75304" y="19293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19476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S033-T2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9293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9293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19476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75304" y="2221992"/>
            <a:ext cx="2258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При обвязке и зацепке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выбрать схему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проверить ветви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исключить перекос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1828800"/>
            <a:ext cx="2514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5664" y="19293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9476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S033-T3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19293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80" y="19293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63256" y="19476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2221992"/>
            <a:ext cx="2258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Перед подачей сигнала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проверить маршрут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убедиться в готовности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дать понятную команду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1828800"/>
            <a:ext cx="2514600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1828800"/>
            <a:ext cx="2514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6024" y="192938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194767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S033-T4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192938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192938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43616" y="194767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Роль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2221992"/>
            <a:ext cx="2258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После установки груза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36024" y="2697480"/>
            <a:ext cx="2258568" cy="28986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проверить устойчивость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снять стропы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убрать оснастку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897880"/>
            <a:ext cx="4846320" cy="411480"/>
          </a:xfrm>
          <a:prstGeom prst="rect">
            <a:avLst/>
          </a:prstGeom>
          <a:solidFill>
            <a:srgbClr val="EAF0FF"/>
          </a:solidFill>
          <a:ln w="635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980176"/>
            <a:ext cx="4663440" cy="24688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Стропальщик отвечает не за один жест, а за полный безопасный цикл.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Технологический цикл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Работа строится как последовательность этапов с обязательным контрольным подъемом.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Ограждение
и опасная зона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76272" y="2944368"/>
            <a:ext cx="256032" cy="0"/>
          </a:xfrm>
          <a:prstGeom prst="line">
            <a:avLst/>
          </a:prstGeom>
          <a:ln w="190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432304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2304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Подготовка груза
и схемы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2944368"/>
            <a:ext cx="256032" cy="0"/>
          </a:xfrm>
          <a:prstGeom prst="line">
            <a:avLst/>
          </a:prstGeom>
          <a:ln w="190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34256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256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Строповка
и сигнал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0176" y="2944368"/>
            <a:ext cx="256032" cy="0"/>
          </a:xfrm>
          <a:prstGeom prst="line">
            <a:avLst/>
          </a:prstGeom>
          <a:ln w="190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36208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Контроль
на 20-30 см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2128" y="2944368"/>
            <a:ext cx="256032" cy="0"/>
          </a:xfrm>
          <a:prstGeom prst="line">
            <a:avLst/>
          </a:prstGeom>
          <a:ln w="190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38160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Перемещение
и складирование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784080" y="2944368"/>
            <a:ext cx="256032" cy="0"/>
          </a:xfrm>
          <a:prstGeom prst="line">
            <a:avLst/>
          </a:prstGeom>
          <a:ln w="19050">
            <a:solidFill>
              <a:srgbClr val="005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040112" y="2240280"/>
            <a:ext cx="16459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40112" y="2240280"/>
            <a:ext cx="164592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3134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542032"/>
            <a:ext cx="142646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Снятие и хранение
оснастки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251960"/>
            <a:ext cx="10698480" cy="1280160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57FF"/>
                </a:solidFill>
                <a:latin typeface="Arial"/>
              </a:rPr>
              <a:t>• До основного подъема груз поднимают на 20-30 см и останавливают для проверки.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57FF"/>
                </a:solidFill>
                <a:latin typeface="Arial"/>
              </a:rPr>
              <a:t>• Только после проверки строповки, тормоза и перекоса продолжают перемещение.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Сигнализация и взаимодействие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Понятные команды и согласованная связь с крановщиком.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33832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33832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562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84832"/>
            <a:ext cx="316382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До 10 м — голосом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3832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33832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562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084832"/>
            <a:ext cx="316382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До 22 м — знаковой сигнализацией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38328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83080"/>
            <a:ext cx="338328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85623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084832"/>
            <a:ext cx="316382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Свыше 22 м — по рации или телефону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834640"/>
            <a:ext cx="315468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83464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" y="2935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953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S035-V1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2935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9192" y="293522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5768" y="2953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3227832"/>
            <a:ext cx="289864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Жест 01</a:t>
            </a:r>
          </a:p>
        </p:txBody>
      </p:sp>
      <p:pic>
        <p:nvPicPr>
          <p:cNvPr id="30" name="Picture 29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3712464"/>
            <a:ext cx="2029968" cy="135331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86384" y="5138928"/>
            <a:ext cx="286207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5212080"/>
            <a:ext cx="286207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Поднять груз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2834640"/>
            <a:ext cx="315468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77639" y="2834640"/>
            <a:ext cx="315468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05655" y="2935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1" y="2953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S035-V2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6631" y="2935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1" y="293522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53327" y="2953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Сигнал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5655" y="3227832"/>
            <a:ext cx="289864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Жест 02</a:t>
            </a:r>
          </a:p>
        </p:txBody>
      </p:sp>
      <p:pic>
        <p:nvPicPr>
          <p:cNvPr id="41" name="Picture 40" descr="S004_avatar-1_signal-palm-down-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5" y="3712464"/>
            <a:ext cx="2029968" cy="135331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4123943" y="5138928"/>
            <a:ext cx="286207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23943" y="5212080"/>
            <a:ext cx="286207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Опустить груз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2834640"/>
            <a:ext cx="3977639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2834640"/>
            <a:ext cx="39776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80376" y="2935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16952" y="2953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S035-T1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1352" y="2935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14431" y="293522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51007" y="2953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0376" y="3227832"/>
            <a:ext cx="3721607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Правила взаимодействия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0376" y="3703320"/>
            <a:ext cx="3721607" cy="166420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Команды понятны и однозначны.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Один источник сигнала.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Крановщик и стропальщик работают как связка.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При сомнении движение не продолжают.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5440680"/>
            <a:ext cx="4572000" cy="438912"/>
          </a:xfrm>
          <a:prstGeom prst="rect">
            <a:avLst/>
          </a:prstGeom>
          <a:solidFill>
            <a:srgbClr val="EAF0FF"/>
          </a:solidFill>
          <a:ln w="635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522976"/>
            <a:ext cx="438912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Крановщик и стропальщик работают как единая связка.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Команда «Стоп» и неясные сигналы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При любом сомнении операция должна быть остановлена.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5532120" cy="2788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55321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1792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S036-V1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792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79222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6" y="1810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084832"/>
            <a:ext cx="527608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Источник сигнала</a:t>
            </a:r>
          </a:p>
        </p:txBody>
      </p:sp>
      <p:pic>
        <p:nvPicPr>
          <p:cNvPr id="18" name="Picture 17" descr="S031-P04_istochnik-signala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564" y="2569464"/>
            <a:ext cx="2649728" cy="149047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4672" y="4133088"/>
            <a:ext cx="523951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06240"/>
            <a:ext cx="523951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Назначенное лицо подает сигнал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617720"/>
            <a:ext cx="5532120" cy="148132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617720"/>
            <a:ext cx="55321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47183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365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S036-V2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7183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471830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1496" y="47365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010912"/>
            <a:ext cx="527608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Сигнал остановки</a:t>
            </a:r>
          </a:p>
        </p:txBody>
      </p:sp>
      <p:pic>
        <p:nvPicPr>
          <p:cNvPr id="29" name="Picture 28" descr="S031-P06_neiasnyi-signal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868" y="5495544"/>
            <a:ext cx="325120" cy="1828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04672" y="5751576"/>
            <a:ext cx="523951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824728"/>
            <a:ext cx="523951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Неясный сигнал = остановка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1691640"/>
            <a:ext cx="4617720" cy="4389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1691640"/>
            <a:ext cx="461772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47104" y="1792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810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S036-T1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1792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179222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6" y="1810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084832"/>
            <a:ext cx="436168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нужно остановить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2560320"/>
            <a:ext cx="4361688" cy="340156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Подан сигнал «Стоп».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Сигнал непонятен.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Плохая видимость.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Нет уверенного взаимодействия.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19088" y="4663440"/>
            <a:ext cx="4617720" cy="143560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19088" y="4663440"/>
            <a:ext cx="461772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47104" y="47640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7823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S036-V3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47640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21240" y="476402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57816" y="47823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5056632"/>
            <a:ext cx="436168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Приоритет остановки</a:t>
            </a:r>
          </a:p>
        </p:txBody>
      </p:sp>
      <p:pic>
        <p:nvPicPr>
          <p:cNvPr id="49" name="Picture 48" descr="S031-P05_stop-prioritet_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028" y="5541264"/>
            <a:ext cx="243840" cy="137160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565392" y="5751576"/>
            <a:ext cx="432511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5824728"/>
            <a:ext cx="432511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Приоритет команды «Стоп»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Перемещение и сопровождение груза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Траектория груза и позиция стропальщика должны читаться до начала движения.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283464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45920"/>
            <a:ext cx="28346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" y="17465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7647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S037-T1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17465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174650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17647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039112"/>
            <a:ext cx="257860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Правила сопровождения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514600"/>
            <a:ext cx="2578608" cy="353872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Контролировать траекторию груза.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заходить в опасную зону и не находиться под грузом.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Использовать оттяжку при необходимости.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подтаскивать груз краном.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Не передвигать кран с поднятым грузом.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Удерживать груз только безопасным способом.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645920"/>
            <a:ext cx="365760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1645920"/>
            <a:ext cx="3657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85616" y="17465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2" y="17647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S037-V1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17465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74650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17647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5616" y="2039112"/>
            <a:ext cx="3401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Сопровождение груза</a:t>
            </a:r>
          </a:p>
        </p:txBody>
      </p:sp>
      <p:pic>
        <p:nvPicPr>
          <p:cNvPr id="27" name="Picture 26" descr="S031-P07_ottiagka_safe-guiding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3191256"/>
            <a:ext cx="3364992" cy="189280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803904" y="5824728"/>
            <a:ext cx="336499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3904" y="5897880"/>
            <a:ext cx="336499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Работа с оттяжкой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645920"/>
            <a:ext cx="3657600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645920"/>
            <a:ext cx="365760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0376" y="174650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176479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S037-V2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174650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94392" y="174650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0968" y="176479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2039112"/>
            <a:ext cx="340156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Контур опасной зоны</a:t>
            </a:r>
          </a:p>
        </p:txBody>
      </p:sp>
      <p:pic>
        <p:nvPicPr>
          <p:cNvPr id="38" name="Picture 37" descr="S031-P08_opasnaia-zona_movement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3191256"/>
            <a:ext cx="3364992" cy="189280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598664" y="5824728"/>
            <a:ext cx="336499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4" y="5897880"/>
            <a:ext cx="336499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Опасная зона при перемещении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Arial"/>
              </a:rPr>
              <a:t>Когда груз нужно немедленно опустить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Нештатная ситуация требует остановить перемещение и вернуть груз в безопасное положение.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356616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3566160" cy="36576"/>
          </a:xfrm>
          <a:prstGeom prst="rect">
            <a:avLst/>
          </a:prstGeom>
          <a:solidFill>
            <a:srgbClr val="C5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" y="188366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90195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S038-T1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188366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6392" y="188366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190195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2176272"/>
            <a:ext cx="331012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Когда опускать груз сразу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2651760"/>
            <a:ext cx="3310128" cy="335584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Груз раскачивается.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Появился риск перекоса.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Люди вошли в опасную зону.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Ситуация стала неуправляемой.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C51F1F"/>
                </a:solidFill>
                <a:latin typeface="Arial"/>
              </a:rPr>
              <a:t>• Нужно восстановить контроль до продолжения работ.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783080"/>
            <a:ext cx="653796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1783080"/>
            <a:ext cx="653796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4296" y="188366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190195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S038-V1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188366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48672" y="188366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190195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2176272"/>
            <a:ext cx="628192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Нештатная ситуация</a:t>
            </a:r>
          </a:p>
        </p:txBody>
      </p:sp>
      <p:pic>
        <p:nvPicPr>
          <p:cNvPr id="27" name="Picture 26" descr="S031-P11_raskachivanie-liudi_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2660904"/>
            <a:ext cx="5413248" cy="304495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672584" y="5779008"/>
            <a:ext cx="62453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4" y="5852160"/>
            <a:ext cx="6245352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Кейс: раскачивание груза и люди в зоне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Складирование и расстроповка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Операция заканчивается только после устойчивой установки груза и безопасного снятия стропов.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8346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8346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1792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10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S039-T1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792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79222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6" y="1810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084832"/>
            <a:ext cx="257860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Что проверить при укладке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560320"/>
            <a:ext cx="2578608" cy="3493008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Подготовлено место укладки.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Груз устойчив.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Использованы подкладки и прокладки.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Проходы и проезды не загромождены.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Стропы снимают только после устойчивой установки груза.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В перерывах и по окончании работ груз опускают.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Защемленные стропы и канаты краном не освобождают.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691640"/>
            <a:ext cx="3749039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1691640"/>
            <a:ext cx="37490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39896" y="1792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1810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S039-V1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1792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1" y="179222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7" y="1810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Опора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896" y="2084832"/>
            <a:ext cx="3493007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Место укладки</a:t>
            </a:r>
          </a:p>
        </p:txBody>
      </p:sp>
      <p:pic>
        <p:nvPicPr>
          <p:cNvPr id="27" name="Picture 26" descr="S031-P09_skladovanie_podkladki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188398"/>
            <a:ext cx="3456431" cy="194424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758184" y="5824728"/>
            <a:ext cx="3456431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58184" y="5897880"/>
            <a:ext cx="3456431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Подкладки и устойчивое основание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1691640"/>
            <a:ext cx="3749039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691640"/>
            <a:ext cx="3749039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0376" y="179222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181051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S039-V2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179222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5831" y="1792224"/>
            <a:ext cx="987552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22407" y="181051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C51F1F"/>
                </a:solidFill>
                <a:latin typeface="Arial"/>
              </a:rPr>
              <a:t>Критично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2084832"/>
            <a:ext cx="3493007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Финальная проверка</a:t>
            </a:r>
          </a:p>
        </p:txBody>
      </p:sp>
      <p:pic>
        <p:nvPicPr>
          <p:cNvPr id="38" name="Picture 37" descr="S031-P10_rasstropovka_rano-pravil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3188398"/>
            <a:ext cx="3456431" cy="1944242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7598664" y="5824728"/>
            <a:ext cx="3456431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4" y="5897880"/>
            <a:ext cx="3456431" cy="16459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Arial"/>
              </a:rPr>
              <a:t>Расстроповка только после устойчивой установки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8288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Тема 2.2 • Технология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30352"/>
            <a:ext cx="1143000" cy="41148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78440" y="256032"/>
            <a:ext cx="1051560" cy="292608"/>
          </a:xfrm>
          <a:prstGeom prst="rect">
            <a:avLst/>
          </a:prstGeom>
          <a:solidFill>
            <a:srgbClr val="0038B8"/>
          </a:solidFill>
          <a:ln w="10160">
            <a:solidFill>
              <a:srgbClr val="003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5016" y="274320"/>
            <a:ext cx="978408" cy="25603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S040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6400800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Arial"/>
              </a:rPr>
              <a:t>Промежуточный тест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85216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Arial"/>
              </a:rPr>
              <a:t>Проверка по подготовке, сигналам, сопровождению груза и складированию.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3474720" cy="182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ЭВ Стропальщик • Тема 2.2 •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106070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07040" cy="36576"/>
          </a:xfrm>
          <a:prstGeom prst="rect">
            <a:avLst/>
          </a:prstGeom>
          <a:solidFill>
            <a:srgbClr val="003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" y="1883664"/>
            <a:ext cx="841248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901952"/>
            <a:ext cx="768096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S040-T1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1883664"/>
            <a:ext cx="100584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Arial"/>
              </a:rPr>
              <a:t>Шаг 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68712" y="1883664"/>
            <a:ext cx="987552" cy="237744"/>
          </a:xfrm>
          <a:prstGeom prst="rect">
            <a:avLst/>
          </a:prstGeom>
          <a:solidFill>
            <a:srgbClr val="EAF0FF"/>
          </a:solidFill>
          <a:ln w="1016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05288" y="1901952"/>
            <a:ext cx="914400" cy="20116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/>
            <a:r>
              <a:rPr sz="900" b="1">
                <a:solidFill>
                  <a:srgbClr val="0038B8"/>
                </a:solidFill>
                <a:latin typeface="Arial"/>
              </a:rPr>
              <a:t>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176272"/>
            <a:ext cx="10351008" cy="3108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Контрольный вопрос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2651760"/>
            <a:ext cx="10351008" cy="-27432"/>
          </a:xfrm>
          <a:prstGeom prst="rect">
            <a:avLst/>
          </a:prstGeom>
          <a:noFill/>
        </p:spPr>
        <p:txBody>
          <a:bodyPr wrap="square" lIns="101600" rIns="762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038B8"/>
                </a:solidFill>
                <a:latin typeface="Arial"/>
              </a:rPr>
              <a:t>• Какое действие при перемещении груза является опасным и недопустимым?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108960"/>
            <a:ext cx="100584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108960"/>
            <a:ext cx="100584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182112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410712"/>
            <a:ext cx="983894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Находиться под грузом или рядом с его возможной траекторией падения.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822192"/>
            <a:ext cx="100584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822192"/>
            <a:ext cx="100584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895344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23944"/>
            <a:ext cx="983894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Контролировать опасную зону до начала движения.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535424"/>
            <a:ext cx="100584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535424"/>
            <a:ext cx="100584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608576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837176"/>
            <a:ext cx="983894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Удерживать груз оттяжкой при безопасной дистанции.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48656"/>
            <a:ext cx="100584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5248656"/>
            <a:ext cx="10058400" cy="27432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321808"/>
            <a:ext cx="411480" cy="274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038B8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550408"/>
            <a:ext cx="9838944" cy="502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Следить за отсутствием людей на пути перемещения.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989320"/>
            <a:ext cx="4206240" cy="384048"/>
          </a:xfrm>
          <a:prstGeom prst="rect">
            <a:avLst/>
          </a:prstGeom>
          <a:solidFill>
            <a:srgbClr val="EAF0FF"/>
          </a:solidFill>
          <a:ln w="635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6071616"/>
            <a:ext cx="4023360" cy="21945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Тест держим в той же инженерной визуальной системе.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