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85" r:id="rId4"/>
    <p:sldId id="286" r:id="rId5"/>
    <p:sldId id="284" r:id="rId6"/>
    <p:sldId id="283" r:id="rId7"/>
    <p:sldId id="282" r:id="rId8"/>
    <p:sldId id="287" r:id="rId9"/>
    <p:sldId id="281" r:id="rId10"/>
    <p:sldId id="288" r:id="rId11"/>
    <p:sldId id="289" r:id="rId12"/>
    <p:sldId id="280" r:id="rId13"/>
    <p:sldId id="279" r:id="rId14"/>
    <p:sldId id="290" r:id="rId15"/>
    <p:sldId id="291" r:id="rId16"/>
    <p:sldId id="278" r:id="rId17"/>
    <p:sldId id="277" r:id="rId18"/>
    <p:sldId id="292" r:id="rId19"/>
    <p:sldId id="293" r:id="rId20"/>
    <p:sldId id="276" r:id="rId21"/>
    <p:sldId id="275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EA7F0-4FA8-5257-ABA5-2BAC22F02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1C8DCD-B4CB-AF01-82F9-EF882C0DD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8200B3-B5DA-07A1-3F60-E5F92A96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4A172-6EEF-F02E-B3CD-97C04E01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52960-B483-EB22-68FE-2EFF8C30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45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D50A6-E350-47D7-9685-DBA274D9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6EEC6-A374-76D1-B67E-32B6A9D8B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AAB5D-7A1C-33AB-25C8-8131E4BB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67815-8AC7-50D5-85BA-FBD04494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F76F8-57A2-B39A-76AB-B833AB4F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8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D2D6F-043E-AA99-4A07-C39346EA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1875F-FDB0-8AE8-809D-6D2BCEF4E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B0508-6093-C553-52AE-D4EBB59A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B3BCCD-10A6-E3B7-3767-F241FDA4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BBE0DD-3168-EDCD-AC79-FAB7DD27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9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61D7A-F6ED-A7A1-0C97-547C0BD1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BED177-997B-C115-6B9F-502729AD0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B93AC8-DF4D-B95D-A28D-3FB2B14F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A165D2-9930-13F6-8164-001D4A7D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17345A-98B5-D544-0625-99189F99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DAD09D-970A-A3C1-5F5F-8237C98F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0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45DF8-16A9-238B-BB10-E988C263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C33D5E-2698-8CC1-D8EC-5BA02E770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3692CD-7098-2D93-FA9C-B539AE4FB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3795D0-AD58-FE7C-5847-F9A9F367F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4EEF46-8372-6B84-8CD2-F2C46AD58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B986FB7-385F-6A90-809F-876DD9D8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05880B-0D4B-E2AC-215A-CC4C3971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3E1401-526C-4939-7EBF-CC5E17EC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79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704BE-994E-F2FF-EF14-78A149C2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CCE502-4B3C-5E13-0AD5-C9A26DC3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42C3E2-7DB9-7D8C-BDB9-80D5EC2C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649FB0-A46E-013C-B571-9F1E7983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3ACB15-3D94-6CC7-616D-735086F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9F3D74-4193-EC57-E976-4D32E83C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F5AC7B-694D-239A-A08F-21AA5C9F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41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DDDC6-C8ED-AC89-6AF0-AA766D91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1E8B2F-FC08-A286-9BD1-367C9610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7D7123-2771-C5CC-DA7C-85DF690B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285D4B-ECB3-DDD5-345C-D98FE2C9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0DE1F1-A39B-6971-3535-49474C14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67D8C6-938A-2502-890B-042EC458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60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4CEF3-020C-374D-60C9-54CC611B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31A0C3-932D-0A47-B16B-89BE10C83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850040-4726-EE11-A87B-D6FDB2825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C8BF62-6EB9-BC27-4FD2-9A264106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04FAC3-AD4C-DFBF-13CA-72061D18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C6169D-660E-9073-56A3-8CF3C29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0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177BA-4F53-3F61-F843-E631D99F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90D29E-46D9-6175-F129-70460A97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B463A-2641-FD51-AD06-0C625F6F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30334-AF73-0EDE-CCB1-FC0C103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5A316C-7E81-F643-4B0B-C80A10D8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7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A01DB1-CEAA-2F7F-065A-DD09DDF71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64F5E6-A0BC-BC4E-A6BD-7A55A1ABA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C8501A-127F-6D7A-37C9-D23AA82E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0BE5BB-0D44-A6EF-026E-B0BF1E7B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B1683-E85B-BAD4-FDF9-D72222A4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512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8439-B886-5D48-2F29-E9F05011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631E2D-BA80-D8BE-7B20-09962D7E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230332-F6EA-1B66-F48D-E7513AD32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3ECE5-5C77-4820-9FDC-B8AEB273E572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A78F7-69F3-C311-75E2-0C32215F1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A6DE64-E201-4707-7376-1B179333A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22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S029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Работа стропальщика как последовательность действий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Что дальше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dirty="0" sz="1600" b="0">
                <a:solidFill>
                  <a:srgbClr val="0057FF"/>
                </a:solidFill>
                <a:latin typeface="Arial"/>
              </a:rPr>
              <a:t>В этом блоке разбираем, как именно работает стропальщик: подготовка к работе, обязанности, сигналы, сопровождение груза, складирование и </a:t>
            </a:r>
            <a:r>
              <a:rPr lang="ru-RU" dirty="0" err="1" sz="1600" b="0">
                <a:solidFill>
                  <a:srgbClr val="0057FF"/>
                </a:solidFill>
                <a:latin typeface="Arial"/>
              </a:rPr>
              <a:t>расстроповка</a:t>
            </a:r>
            <a:r>
              <a:rPr lang="ru-RU" dirty="0" sz="1600" b="0">
                <a:solidFill>
                  <a:srgbClr val="0057FF"/>
                </a:solidFill>
                <a:latin typeface="Arial"/>
              </a:rPr>
              <a:t>. Это переход от правил строповки к самой рабочей технологии.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Стропальщик подает команду перед началом грузоподъемной операции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0072"/>
            <a:ext cx="4590288" cy="3060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Что будет в подтеме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Маршрут подтемы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Подготовка к работе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Обязанности стропальщика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Сигнализация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Сопровождение груза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Складирование и расстроповка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434840" cy="32461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Маршрут из 5 шагов: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1. Подготовка к работе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2. Обязанности стропальщика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3. Сигнализация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4. Сопровождение груза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5. Складирование и расстроповка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11990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Урок 1. Подготовка к работе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Стартовый чек-лист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Уточни задание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Проверь массу и характер груза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Проверь место работы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Проверь схемы и таблицы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Осмотри оснастку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Памятка по подготовке до начала работ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1_podgotovka-k-rabote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4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S031-P01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Что должно быть до начала работ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Памятка перед началом работы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1. Понятно задание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что поднимать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откуда и куда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в каких условиях</a:t>
            </a:r>
          </a:p>
          <a:p>
            <a:pPr algn="l"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2. Понятен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масса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характер груза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устойчивость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Подготовка: задание, условия, оснастка и рабочая зона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1_podgotovka-k-rabote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88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S032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1. Когда работу нельзя начинать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Можно / нельзя начинать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Плохая видимость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Нет схемы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Неисправная оснастка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Небезопасное рабочее место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Неясны условия работы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Пример условия, при котором работу начинать нельзя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2_plohaia-osveshchennost_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0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S033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Урок 2. Обязанности стропальщика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Что входит в роль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До начала работ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При обвязке и зацепке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Перед подачей сигнала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После установки груза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434840" cy="32461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Таблица обязанностей: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до начала работ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во время операции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после установки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46249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S034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2. Технологический цикл работы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Укрупненный цикл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Ограждение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Подготовка груза и схемы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Строповка и сигнал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Контроль на 20-30 см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Перемещение и складирование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Снятие и хранение оснастки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434840" cy="32461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Схема процесса: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от установки ограждения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до уборки стропов и оснастки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4625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S034-P01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Полный цикл работ стропальщика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Полный маршрут операции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1. Установить ограждение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2. Определить массу груза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3. Определить схему строповки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4. Проверить и выбрать стропы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5. Оговорить сигналы с машинистом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6. Проверить маршрут перемещения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7. Проверить место складирования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8. Выполнить строповку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Раскрытие маршрута операции по этапам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3_obviazka-pered-podem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8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S035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3. Сигнализация и взаимодействие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Как подаются команды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До 10 м — голосом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До 22 м — знаковая сигнализация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Свыше 22 м — рация или телефон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Команды должны быть понятными и однозначными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Ключевой ручной сигнал для взаимодействия с крановщиком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0072"/>
            <a:ext cx="4590288" cy="3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1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S035-P01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Способы подачи команд и сигналы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Как подаются команды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По дистанции: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до 10 м — голосом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до 22 м — знаковой сигнализацией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свыше 22 м — по рации или телефону</a:t>
            </a:r>
          </a:p>
          <a:p>
            <a:pPr algn="l"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Команды на груз: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Внимание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Поднять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Опустить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Осторожно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Способы подачи сигналов и пример ручной команды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04_avatar-1_signal-palm-down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0072"/>
            <a:ext cx="4590288" cy="3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4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S035-PP01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Подподвал. Подробная галерея жестов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Расшифровка знаковых команд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Группа 1: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Внимание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Поднять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Опустить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Осторожно</a:t>
            </a:r>
          </a:p>
          <a:p>
            <a:pPr algn="l">
              <a:spcAft>
                <a:spcPts val="800"/>
              </a:spcAft>
            </a:pPr>
            <a:endParaRPr lang="ru-RU">
              <a:solidFill>
                <a:srgbClr val="212B36"/>
              </a:solidFill>
            </a:endParaRP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Для каждой команды: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слева жест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справа короткая подпись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Галерея жестов должна читаться как единая система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0072"/>
            <a:ext cx="4590288" cy="3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53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S036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3. Команда Стоп и неясные сигналы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Когда работу останавливают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Стоп обязателен к исполнению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Неясный сигнал — остановка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Плохая видимость — остановка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Нет уверенного взаимодействия — остановка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Команда «Стоп» имеет безусловный приоритет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5_stop-prioritet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3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S037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4. Перемещение и сопровождение груза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Безопасная траектория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Контролируй траекторию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 заходи в опасную зону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Работай с оттяжкой при необходимости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 находись под грузом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Удерживай груз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Опасная зона и безопасная позиция при перемещении груза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8_opasnaia-zona_movement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97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S037-P01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Опасная зона при перемещении груза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Что нужно показать отдельно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Опасная зона: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- траектория груза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- возможное раскачивание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- зона падения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- запрещенные позиции людей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Схема опасной зоны для отдельного разбора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8_opasnaia-zona_movement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2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S037-PP01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Подподвал. Работа с оттяжкой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Как использовать оттяжку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Оттяжка нужна: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- чтобы удерживать груз от разворота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- чтобы уменьшать раскачивание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0057FF"/>
                </a:solidFill>
                <a:latin typeface="Arial"/>
              </a:rPr>
              <a:t>- чтобы сопровождать груз на дистанции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Работа с оттяжкой только на безопасной дистанции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7_ottiagka_safe-guiding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7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S038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4. Когда груз нужно немедленно опустить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Нужно остановить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Груз раскачивается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Есть риск перекоса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Люди в опасной зоне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Ситуация стала неуправляемой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Нештатная ситуация: перемещение нужно остановить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11_raskachivanie-liudi_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01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Урок 5. Складирование и расстроповка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Как завершить операцию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Подготовь место укладки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Проверь устойчивость груза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Используй подкладки и прокладки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 загромождай проходы и проезды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Снимай стропы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Подкладки и устойчивое положение перед расстроповкой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9_skladovanie_podkladki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S039-P01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Подготовка места и момент расстроповки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Как безопасно завершить работу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Подготовка места: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ровное основание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подкладки и прокладки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свободные проходы и проезды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понятная точка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Расстроповка допустима только после устойчивой установки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10_rasstropovka_rano-pravil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24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S039-PP01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Подподвал. Схемы безопасного складирования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Что раскрываем дополнительно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Варианты для показа: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длинномер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пакет листов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цилиндрический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0057FF"/>
                </a:solidFill>
                <a:latin typeface="Arial"/>
              </a:rPr>
              <a:t>- груз на подкладках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2784" y="5431536"/>
            <a:ext cx="4526280" cy="25603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r>
              <a:t>Варианты безопасного складирования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31-P09_skladovanie_podkladki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9149"/>
            <a:ext cx="4590288" cy="25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2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S040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Промежуточный тест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Проверка по теме 2.2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Что делать до начала работ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Кто подает сигнал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Когда остановить перемещение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Как складировать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434840" cy="32461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Тестовый экран: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вопросы по подготовке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сигналам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сопровождению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складированию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005327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rIns="101600" tIns="76200" bIns="76200">
            <a:spAutoFit/>
          </a:bodyPr>
          <a:lstStyle/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0057FF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76200" bIns="7620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S041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28800"/>
            <a:ext cx="5138928" cy="411480"/>
          </a:xfrm>
          <a:prstGeom prst="roundRect">
            <a:avLst>
              <a:gd name="adj" fmla="val 19300"/>
            </a:avLst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rIns="101600" rtlCol="0" anchor="ctr" wrap="square" tIns="76200" bIns="76200"/>
          <a:lstStyle/>
          <a:p>
            <a:pPr algn="l"/>
            <a:r>
              <a:rPr lang="ru-RU" b="1" sz="1400">
                <a:solidFill>
                  <a:srgbClr val="FFFFFF"/>
                </a:solidFill>
                <a:latin typeface="Arial"/>
              </a:rPr>
              <a:t>Что должен уметь слушатель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4645152" cy="3090672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Работай по порядку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 пропускай проверку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Держи связь с крановщиком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Не сопровождай груз с риском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0057FF"/>
                </a:solidFill>
                <a:latin typeface="Arial"/>
              </a:rPr>
              <a:t>Завершай работу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3328" y="1828800"/>
            <a:ext cx="5138928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434840" cy="32461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Итоговый экран-памятка: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подготовка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сигналы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сопровождение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завершение работы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803105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1197</Words>
  <Application>Microsoft Office PowerPoint</Application>
  <PresentationFormat>Широкоэкранный</PresentationFormat>
  <Paragraphs>347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11</cp:revision>
  <dcterms:created xsi:type="dcterms:W3CDTF">2026-06-29T18:19:40Z</dcterms:created>
  <dcterms:modified xsi:type="dcterms:W3CDTF">2026-06-29T19:59:43Z</dcterms:modified>
</cp:coreProperties>
</file>