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9" ns1:id="rId20"/>
    <ns0:sldId id="270" ns1:id="rId21"/>
    <ns0:sldId id="271" ns1:id="rId22"/>
    <ns0:sldId id="267" ns1:id="rId18"/>
    <ns0:sldId id="268" ns1:id="rId19"/>
    <ns0:sldId id="272" ns1:id="rId23"/>
    <ns0:sldId id="273" ns1:id="rId24"/>
  </ns0:sldIdLst>
  <ns0:sldSz cx="12191695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0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/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45952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Термины расположены по алфавиту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627632"/>
            <a:ext cx="18288" cy="379476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Гак</a:t>
            </a:r>
            <a:r>
              <a:rPr sz="1100">
                <a:solidFill>
                  <a:srgbClr val="212B36"/>
                </a:solidFill>
              </a:rPr>
              <a:t> - крюк грузоподъёмного механизма.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</a:t>
            </a:r>
            <a:r>
              <a:rPr sz="1100">
                <a:solidFill>
                  <a:srgbClr val="212B36"/>
                </a:solidFill>
              </a:rPr>
              <a:t> - предмет или конструкция для подъёма.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Грузозахватное приспособление</a:t>
            </a:r>
            <a:r>
              <a:rPr sz="1100">
                <a:solidFill>
                  <a:srgbClr val="212B36"/>
                </a:solidFill>
              </a:rPr>
              <a:t> - устройство для захвата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Зажимы</a:t>
            </a:r>
            <a:r>
              <a:rPr sz="1100">
                <a:solidFill>
                  <a:srgbClr val="212B36"/>
                </a:solidFill>
              </a:rPr>
              <a:t> - устройства для закрепления концов каната.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Коуш</a:t>
            </a:r>
            <a:r>
              <a:rPr sz="1100">
                <a:solidFill>
                  <a:srgbClr val="212B36"/>
                </a:solidFill>
              </a:rPr>
              <a:t> - металлическая вставка, защищающая петлю каната от залома и износа.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Магнитные зажимы</a:t>
            </a:r>
            <a:r>
              <a:rPr sz="1100">
                <a:solidFill>
                  <a:srgbClr val="212B36"/>
                </a:solidFill>
              </a:rPr>
              <a:t> - устройства, удерживающие металлический груз с помощью магнита.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Мёртвый груз</a:t>
            </a:r>
            <a:r>
              <a:rPr sz="1100">
                <a:solidFill>
                  <a:srgbClr val="212B36"/>
                </a:solidFill>
              </a:rPr>
              <a:t> - груз, массу которого определить невозможно.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Оттяжка</a:t>
            </a:r>
            <a:r>
              <a:rPr sz="1100">
                <a:solidFill>
                  <a:srgbClr val="212B36"/>
                </a:solidFill>
              </a:rPr>
              <a:t> - канат или верёвка для управления положением груза и предотвращения его раскачивания.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Рым</a:t>
            </a:r>
            <a:r>
              <a:rPr sz="1100">
                <a:solidFill>
                  <a:srgbClr val="212B36"/>
                </a:solidFill>
              </a:rPr>
              <a:t> - кольцо или проушина для крепления стропа к грузу.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Сигнальщик</a:t>
            </a:r>
            <a:r>
              <a:rPr sz="1100">
                <a:solidFill>
                  <a:srgbClr val="212B36"/>
                </a:solidFill>
              </a:rPr>
              <a:t> - работник, который подаёт команды крановщику при перемещении груза, если между стропальщиком и крановщиком контакт отсутствует.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СИЗ</a:t>
            </a:r>
            <a:r>
              <a:rPr sz="1100">
                <a:solidFill>
                  <a:srgbClr val="212B36"/>
                </a:solidFill>
              </a:rPr>
              <a:t> - средства индивидуальной защиты.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</a:t>
            </a:r>
            <a:r>
              <a:rPr sz="1100">
                <a:solidFill>
                  <a:srgbClr val="212B36"/>
                </a:solidFill>
              </a:rPr>
              <a:t> - грузозахватное средство.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Стропальщик</a:t>
            </a:r>
            <a:r>
              <a:rPr sz="1100">
                <a:solidFill>
                  <a:srgbClr val="212B36"/>
                </a:solidFill>
              </a:rPr>
              <a:t> - рабочий, который выполняет строповку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Строповка</a:t>
            </a:r>
            <a:r>
              <a:rPr sz="1100">
                <a:solidFill>
                  <a:srgbClr val="212B36"/>
                </a:solidFill>
              </a:rPr>
              <a:t> - способ обвязки и зацепки.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Тара</a:t>
            </a:r>
            <a:r>
              <a:rPr sz="1100">
                <a:solidFill>
                  <a:srgbClr val="212B36"/>
                </a:solidFill>
              </a:rPr>
              <a:t> - ёмкость или приспособление для размещения и перемещения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Траверса</a:t>
            </a:r>
            <a:r>
              <a:rPr sz="1100">
                <a:solidFill>
                  <a:srgbClr val="212B36"/>
                </a:solidFill>
              </a:rPr>
              <a:t> - грузозахватная балка для подъёма длинных или крупногабаритных грузов.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Цапфа</a:t>
            </a:r>
            <a:r>
              <a:rPr sz="1100">
                <a:solidFill>
                  <a:srgbClr val="212B36"/>
                </a:solidFill>
              </a:rPr>
              <a:t> - выступающая часть груза или оборудования, используемая как опора или место строповки.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action="ppaction://hlinksldjump" r:id="rId4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action="ppaction://hlinksldjump" r:id="rId5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action="ppaction://hlinksldjump" r:id="rId6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action="ppaction://hlinksldjump" r:id="rId7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6400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5989320" cy="3995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261872"/>
            <a:ext cx="43434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1261872"/>
            <a:ext cx="4343400" cy="62179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Определение профессии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157984"/>
            <a:ext cx="3758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B42"/>
                </a:solidFill>
              </a:rPr>
              <a:t>Стропальщик</a:t>
            </a:r>
            <a:r>
              <a:rPr sz="1800">
                <a:solidFill>
                  <a:srgbClr val="212B36"/>
                </a:solidFill>
              </a:rPr>
              <a:t> — рабочая профессия, связанная с подготовкой, обвязкой, зацепкой и безопасным перемещением грузов с помощью грузоподъёмных механизмов.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70432"/>
            <a:ext cx="10771632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173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7A86"/>
                </a:solidFill>
              </a:rPr>
              <a:t>К работе допускаются работники, которые: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969264" y="1810512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Прошел обучение</a:t>
            </a:r>
          </a:p>
        </p:txBody>
      </p:sp>
      <p:sp>
        <p:nvSpPr>
          <p:cNvPr id="9" name="Oval 8"/>
          <p:cNvSpPr/>
          <p:nvPr/>
        </p:nvSpPr>
        <p:spPr>
          <a:xfrm>
            <a:off x="1133856" y="1883664"/>
            <a:ext cx="402336" cy="402336"/>
          </a:xfrm>
          <a:prstGeom prst="ellipse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69264" y="2468880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Прошел инструктаж</a:t>
            </a:r>
          </a:p>
        </p:txBody>
      </p:sp>
      <p:sp>
        <p:nvSpPr>
          <p:cNvPr id="11" name="Oval 10"/>
          <p:cNvSpPr/>
          <p:nvPr/>
        </p:nvSpPr>
        <p:spPr>
          <a:xfrm>
            <a:off x="1133856" y="2542032"/>
            <a:ext cx="402336" cy="402336"/>
          </a:xfrm>
          <a:prstGeom prst="ellipse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969264" y="3127248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Прошел проверку знаний</a:t>
            </a:r>
          </a:p>
        </p:txBody>
      </p:sp>
      <p:sp>
        <p:nvSpPr>
          <p:cNvPr id="13" name="Oval 12"/>
          <p:cNvSpPr/>
          <p:nvPr/>
        </p:nvSpPr>
        <p:spPr>
          <a:xfrm>
            <a:off x="1133856" y="3200400"/>
            <a:ext cx="402336" cy="402336"/>
          </a:xfrm>
          <a:prstGeom prst="ellipse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969264" y="3785616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Допущен к работе</a:t>
            </a:r>
          </a:p>
        </p:txBody>
      </p:sp>
      <p:sp>
        <p:nvSpPr>
          <p:cNvPr id="15" name="Oval 14"/>
          <p:cNvSpPr/>
          <p:nvPr/>
        </p:nvSpPr>
        <p:spPr>
          <a:xfrm>
            <a:off x="1133856" y="3858768"/>
            <a:ext cx="402336" cy="402336"/>
          </a:xfrm>
          <a:prstGeom prst="ellipse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969264" y="4443983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Использует СИЗ</a:t>
            </a:r>
          </a:p>
        </p:txBody>
      </p:sp>
      <p:sp>
        <p:nvSpPr>
          <p:cNvPr id="17" name="Oval 16"/>
          <p:cNvSpPr/>
          <p:nvPr/>
        </p:nvSpPr>
        <p:spPr>
          <a:xfrm>
            <a:off x="1133856" y="4517136"/>
            <a:ext cx="402336" cy="402336"/>
          </a:xfrm>
          <a:prstGeom prst="ellipse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5230368"/>
            <a:ext cx="10012680" cy="640080"/>
          </a:xfrm>
          <a:prstGeom prst="roundRect">
            <a:avLst/>
          </a:prstGeom>
          <a:solidFill>
            <a:srgbClr val="FAF2EC"/>
          </a:solidFill>
          <a:ln w="1524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9555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E7436"/>
                </a:solidFill>
              </a:rPr>
              <a:t>Допуск — это не формальность, а условие безопасной работы.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Rounded Rectangle 20">
            <a:hlinkClick action="ppaction://hlinksldjump" r:id="rId8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пройти обучение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Дает базу по профессии и безопасным приемам работы.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Готовит к строповке, сигналам и работе с грузом.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 обучения безопасный допуск невозможен.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Зачем нужно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Получил базовые знания.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Понял порядок работы.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Можешь идти к следующим этапам допуска.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инструктаж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Инструктаж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Объясняет безопасный порядок работы.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Напоминает опасности и запреты.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 готовность к работе.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Зачем нужен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Объяснили.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Применяешь на работе.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проверка знаний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Проверка знаний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Показывает, что работник понял требования.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 готовность к допуску.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Не является формальностью.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Логика допуска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Знание.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Допуск.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Безопасная работа.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допуск к работе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Допуск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Оформляется после обучения, инструктажа и проверки знаний.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Подтверждает, что работник может работать самостоятельно.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 допуска самостоятельная работа недопустима.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это дает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Понятный статус допуска.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Право выполнять работу по правилам.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Основу для безопасной самостоятельной работы.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входит в СИЗ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Базовые СИЗ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Защитная каска.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Спецодежда и защитная обувь.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Перчатки и другие средства по условиям работы.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Важно помнить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Набор СИЗ зависит от условий объекта.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СИЗ не заменяют правильную организацию работ.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Но они обязательны как часть безопасной работы.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Разряды 2-4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входит в 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2 разряд - простые грузы до 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3 разряд - простые грузы свыше 5 т до 25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4 разряд - сложные грузы до 5 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Как читать маршрут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Базовая часть курса закрывает 2-4 разряд.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Для 5-6 разряда будут отдельные углубленные блоки.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Дальше начинается практическая тема 2.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