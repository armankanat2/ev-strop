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74" r:id="rId3"/>
    <p:sldId id="285" r:id="rId4"/>
    <p:sldId id="286" r:id="rId5"/>
    <p:sldId id="284" r:id="rId6"/>
    <p:sldId id="283" r:id="rId7"/>
    <p:sldId id="282" r:id="rId8"/>
    <p:sldId id="287" r:id="rId9"/>
    <p:sldId id="281" r:id="rId10"/>
    <p:sldId id="288" r:id="rId11"/>
    <p:sldId id="289" r:id="rId12"/>
    <p:sldId id="280" r:id="rId13"/>
    <p:sldId id="279" r:id="rId14"/>
    <p:sldId id="290" r:id="rId15"/>
    <p:sldId id="291" r:id="rId16"/>
    <p:sldId id="278" r:id="rId17"/>
    <p:sldId id="277" r:id="rId18"/>
    <p:sldId id="292" r:id="rId19"/>
    <p:sldId id="293" r:id="rId20"/>
    <p:sldId id="276" r:id="rId21"/>
    <p:sldId id="275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AEA7F0-4FA8-5257-ABA5-2BAC22F02C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31C8DCD-B4CB-AF01-82F9-EF882C0DDB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E8200B3-B5DA-07A1-3F60-E5F92A96D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3ECE5-5C77-4820-9FDC-B8AEB273E572}" type="datetimeFigureOut">
              <a:rPr lang="ru-RU" smtClean="0"/>
              <a:t>29.06.2026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14A172-6EEF-F02E-B3CD-97C04E013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352960-B483-EB22-68FE-2EFF8C30A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30BC-AF03-4BF6-8562-80CF34B4FE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8459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AD50A6-E350-47D7-9685-DBA274D9B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F6EEC6-A374-76D1-B67E-32B6A9D8B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90AAB5D-7A1C-33AB-25C8-8131E4BBC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3ECE5-5C77-4820-9FDC-B8AEB273E572}" type="datetimeFigureOut">
              <a:rPr lang="ru-RU" smtClean="0"/>
              <a:t>29.06.2026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667815-8AC7-50D5-85BA-FBD04494B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5F76F8-57A2-B39A-76AB-B833AB4FD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30BC-AF03-4BF6-8562-80CF34B4FE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6285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1D2D6F-043E-AA99-4A07-C39346EA1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5D1875F-FDB0-8AE8-809D-6D2BCEF4E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2B0508-6093-C553-52AE-D4EBB59AD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3ECE5-5C77-4820-9FDC-B8AEB273E572}" type="datetimeFigureOut">
              <a:rPr lang="ru-RU" smtClean="0"/>
              <a:t>29.06.2026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BB3BCCD-10A6-E3B7-3767-F241FDA41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BBE0DD-3168-EDCD-AC79-FAB7DD27E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30BC-AF03-4BF6-8562-80CF34B4FE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5298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561D7A-F6ED-A7A1-0C97-547C0BD11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BED177-997B-C115-6B9F-502729AD02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EB93AC8-DF4D-B95D-A28D-3FB2B14F45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FA165D2-9930-13F6-8164-001D4A7DB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3ECE5-5C77-4820-9FDC-B8AEB273E572}" type="datetimeFigureOut">
              <a:rPr lang="ru-RU" smtClean="0"/>
              <a:t>29.06.2026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117345A-98B5-D544-0625-99189F99B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3DAD09D-970A-A3C1-5F5F-8237C98F0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30BC-AF03-4BF6-8562-80CF34B4FE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7109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345DF8-16A9-238B-BB10-E988C2630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4C33D5E-2698-8CC1-D8EC-5BA02E770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83692CD-7098-2D93-FA9C-B539AE4FB8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A3795D0-AD58-FE7C-5847-F9A9F367F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64EEF46-8372-6B84-8CD2-F2C46AD58D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B986FB7-385F-6A90-809F-876DD9D8A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3ECE5-5C77-4820-9FDC-B8AEB273E572}" type="datetimeFigureOut">
              <a:rPr lang="ru-RU" smtClean="0"/>
              <a:t>29.06.2026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005880B-0D4B-E2AC-215A-CC4C3971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B3E1401-526C-4939-7EBF-CC5E17ECA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30BC-AF03-4BF6-8562-80CF34B4FE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5790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C704BE-994E-F2FF-EF14-78A149C2D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1CCE502-4B3C-5E13-0AD5-C9A26DC3E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3ECE5-5C77-4820-9FDC-B8AEB273E572}" type="datetimeFigureOut">
              <a:rPr lang="ru-RU" smtClean="0"/>
              <a:t>29.06.2026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542C3E2-7DB9-7D8C-BDB9-80D5EC2C6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8649FB0-A46E-013C-B571-9F1E79836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30BC-AF03-4BF6-8562-80CF34B4FE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360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83ACB15-3D94-6CC7-616D-735086F7F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3ECE5-5C77-4820-9FDC-B8AEB273E572}" type="datetimeFigureOut">
              <a:rPr lang="ru-RU" smtClean="0"/>
              <a:t>29.06.2026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79F3D74-4193-EC57-E976-4D32E83C4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2F5AC7B-694D-239A-A08F-21AA5C9FB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30BC-AF03-4BF6-8562-80CF34B4FE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3411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5DDDC6-C8ED-AC89-6AF0-AA766D91E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1E8B2F-FC08-A286-9BD1-367C96107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27D7123-2771-C5CC-DA7C-85DF690B6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A285D4B-ECB3-DDD5-345C-D98FE2C9E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3ECE5-5C77-4820-9FDC-B8AEB273E572}" type="datetimeFigureOut">
              <a:rPr lang="ru-RU" smtClean="0"/>
              <a:t>29.06.2026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00DE1F1-A39B-6971-3535-49474C144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367D8C6-938A-2502-890B-042EC4587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30BC-AF03-4BF6-8562-80CF34B4FE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1609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D4CEF3-020C-374D-60C9-54CC611B5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B31A0C3-932D-0A47-B16B-89BE10C830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E850040-4726-EE11-A87B-D6FDB2825C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EC8BF62-6EB9-BC27-4FD2-9A2641062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3ECE5-5C77-4820-9FDC-B8AEB273E572}" type="datetimeFigureOut">
              <a:rPr lang="ru-RU" smtClean="0"/>
              <a:t>29.06.2026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F04FAC3-AD4C-DFBF-13CA-72061D189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0C6169D-660E-9073-56A3-8CF3C2902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30BC-AF03-4BF6-8562-80CF34B4FE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208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C177BA-4F53-3F61-F843-E631D99FD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290D29E-46D9-6175-F129-70460A973B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DBB463A-2641-FD51-AD06-0C625F6F4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3ECE5-5C77-4820-9FDC-B8AEB273E572}" type="datetimeFigureOut">
              <a:rPr lang="ru-RU" smtClean="0"/>
              <a:t>29.06.2026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D30334-AF73-0EDE-CCB1-FC0C1030B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5A316C-7E81-F643-4B0B-C80A10D89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30BC-AF03-4BF6-8562-80CF34B4FE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8977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BA01DB1-CEAA-2F7F-065A-DD09DDF716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264F5E6-A0BC-BC4E-A6BD-7A55A1ABA3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C8501A-127F-6D7A-37C9-D23AA82E1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3ECE5-5C77-4820-9FDC-B8AEB273E572}" type="datetimeFigureOut">
              <a:rPr lang="ru-RU" smtClean="0"/>
              <a:t>29.06.2026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C0BE5BB-0D44-A6EF-026E-B0BF1E7B8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BB1683-E85B-BAD4-FDF9-D72222A44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30BC-AF03-4BF6-8562-80CF34B4FE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2512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7F8439-B886-5D48-2F29-E9F050112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A631E2D-BA80-D8BE-7B20-09962D7E12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3230332-F6EA-1B66-F48D-E7513AD32E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33ECE5-5C77-4820-9FDC-B8AEB273E572}" type="datetimeFigureOut">
              <a:rPr lang="ru-RU" smtClean="0"/>
              <a:t>29.06.2026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BA78F7-69F3-C311-75E2-0C32215F1B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A6DE64-E201-4707-7376-1B179333A5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0B30BC-AF03-4BF6-8562-80CF34B4FE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4220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b="1">
                <a:solidFill>
                  <a:srgbClr val="FFFFFF"/>
                </a:solidFill>
              </a:rPr>
              <a:t>Тема 2.2. Технология работы</a:t>
            </a:r>
            <a:endParaRPr sz="2400" b="1">
              <a:solidFill>
                <a:srgbClr val="FFFFFF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S029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>
                <a:solidFill>
                  <a:srgbClr val="6E7A86"/>
                </a:solidFill>
              </a:rPr>
              <a:t>Работа стропальщика как последовательность действий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5074920" cy="406908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5074920" cy="658368"/>
          </a:xfrm>
          <a:prstGeom prst="roundRect">
            <a:avLst>
              <a:gd name="adj" fmla="val 19300"/>
            </a:avLst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lang="ru-RU" b="1">
                <a:solidFill>
                  <a:srgbClr val="FFFFFF"/>
                </a:solidFill>
              </a:rPr>
              <a:t>Что дальше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8992" y="2377440"/>
            <a:ext cx="456285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>
                <a:solidFill>
                  <a:srgbClr val="212B36"/>
                </a:solidFill>
              </a:rPr>
              <a:t>В этом блоке разбираем, как именно работает стропальщик: подготовка к работе, обязанности, сигналы, сопровождение груза, складирование и </a:t>
            </a:r>
            <a:r>
              <a:rPr lang="ru-RU" dirty="0" err="1">
                <a:solidFill>
                  <a:srgbClr val="212B36"/>
                </a:solidFill>
              </a:rPr>
              <a:t>расстроповка</a:t>
            </a:r>
            <a:r>
              <a:rPr lang="ru-RU" dirty="0">
                <a:solidFill>
                  <a:srgbClr val="212B36"/>
                </a:solidFill>
              </a:rPr>
              <a:t>. Это переход от правил строповки к самой рабочей технологии.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074920" cy="406908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783080"/>
            <a:ext cx="43434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solidFill>
                  <a:srgbClr val="212B36"/>
                </a:solidFill>
              </a:rPr>
              <a:t>Фото за сигнальным ограждением стоит стропальщик с поднятой вертикально вверх рукой (внимание) в стороне на заднем плане кран.</a:t>
            </a:r>
            <a:endParaRPr sz="2000" dirty="0">
              <a:solidFill>
                <a:srgbClr val="212B36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8540496" y="5989320"/>
            <a:ext cx="2761488" cy="457200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Далее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b="1">
                <a:solidFill>
                  <a:srgbClr val="FFFFFF"/>
                </a:solidFill>
              </a:rPr>
              <a:t>Тема 2.2. Технология работы</a:t>
            </a:r>
            <a:endParaRPr sz="2400" b="1">
              <a:solidFill>
                <a:srgbClr val="FFFFFF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S030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>
                <a:solidFill>
                  <a:srgbClr val="6E7A86"/>
                </a:solidFill>
              </a:rPr>
              <a:t>Что будет в подтеме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5074920" cy="406908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5074920" cy="658368"/>
          </a:xfrm>
          <a:prstGeom prst="roundRect">
            <a:avLst>
              <a:gd name="adj" fmla="val 19300"/>
            </a:avLst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lang="ru-RU" b="1">
                <a:solidFill>
                  <a:srgbClr val="FFFFFF"/>
                </a:solidFill>
              </a:rPr>
              <a:t>Маршрут подтемы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8992" y="2377440"/>
            <a:ext cx="4562856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Подготовка к работе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Обязанности стропальщика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Сигнализация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Сопровождение груза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Складирование и расстроповка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074920" cy="406908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783079"/>
            <a:ext cx="43434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>
                <a:solidFill>
                  <a:srgbClr val="212B36"/>
                </a:solidFill>
              </a:rPr>
              <a:t>Маршрут из 5 шагов: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1. Подготовка к работе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2. Обязанности стропальщика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3. Сигнализация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4. Сопровождение груза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5. Складирование и расстроповка</a:t>
            </a:r>
            <a:endParaRPr sz="2000" dirty="0">
              <a:solidFill>
                <a:srgbClr val="212B36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8540496" y="5989320"/>
            <a:ext cx="2761488" cy="457200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Далее</a:t>
            </a:r>
          </a:p>
        </p:txBody>
      </p:sp>
    </p:spTree>
    <p:extLst>
      <p:ext uri="{BB962C8B-B14F-4D97-AF65-F5344CB8AC3E}">
        <p14:creationId xmlns:p14="http://schemas.microsoft.com/office/powerpoint/2010/main" val="2119909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b="1">
                <a:solidFill>
                  <a:srgbClr val="FFFFFF"/>
                </a:solidFill>
              </a:rPr>
              <a:t>Тема 2.2. Технология работы</a:t>
            </a:r>
            <a:endParaRPr sz="2400" b="1">
              <a:solidFill>
                <a:srgbClr val="FFFFFF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S031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>
                <a:solidFill>
                  <a:srgbClr val="6E7A86"/>
                </a:solidFill>
              </a:rPr>
              <a:t>Урок 1. Подготовка к работе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5074920" cy="406908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5074920" cy="658368"/>
          </a:xfrm>
          <a:prstGeom prst="roundRect">
            <a:avLst>
              <a:gd name="adj" fmla="val 19300"/>
            </a:avLst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lang="ru-RU" b="1">
                <a:solidFill>
                  <a:srgbClr val="FFFFFF"/>
                </a:solidFill>
              </a:rPr>
              <a:t>Стартовый чек-лист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8992" y="2377440"/>
            <a:ext cx="4562856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Уточни задание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Проверь массу и характер груза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Проверь место работы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Проверь схемы и таблицы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Осмотри оснастку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074920" cy="406908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783080"/>
            <a:ext cx="43434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>
                <a:solidFill>
                  <a:srgbClr val="212B36"/>
                </a:solidFill>
              </a:rPr>
              <a:t>Чек-лист из 5 шагов: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1. Задание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2. Груз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3. Место работ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4. Схема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5. Оснастка</a:t>
            </a:r>
            <a:endParaRPr sz="2000" dirty="0">
              <a:solidFill>
                <a:srgbClr val="212B36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8540496" y="5989320"/>
            <a:ext cx="2761488" cy="457200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Далее</a:t>
            </a:r>
          </a:p>
        </p:txBody>
      </p:sp>
    </p:spTree>
    <p:extLst>
      <p:ext uri="{BB962C8B-B14F-4D97-AF65-F5344CB8AC3E}">
        <p14:creationId xmlns:p14="http://schemas.microsoft.com/office/powerpoint/2010/main" val="711148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b="1">
                <a:solidFill>
                  <a:srgbClr val="FFFFFF"/>
                </a:solidFill>
              </a:rPr>
              <a:t>Тема 2.2. Технология работы</a:t>
            </a:r>
            <a:endParaRPr sz="2400" b="1">
              <a:solidFill>
                <a:srgbClr val="FFFFFF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S031-P01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>
                <a:solidFill>
                  <a:srgbClr val="6E7A86"/>
                </a:solidFill>
              </a:rPr>
              <a:t>Подвал. Что должно быть до начала работ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5074920" cy="406908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5074920" cy="658368"/>
          </a:xfrm>
          <a:prstGeom prst="roundRect">
            <a:avLst>
              <a:gd name="adj" fmla="val 19300"/>
            </a:avLst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lang="ru-RU" b="1">
                <a:solidFill>
                  <a:srgbClr val="FFFFFF"/>
                </a:solidFill>
              </a:rPr>
              <a:t>Памятка перед началом работы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8992" y="2377440"/>
            <a:ext cx="4562856" cy="3406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1. Понятно задание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- что поднимать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- откуда и куда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- в каких условиях</a:t>
            </a:r>
          </a:p>
          <a:p>
            <a:pPr>
              <a:spcAft>
                <a:spcPts val="800"/>
              </a:spcAft>
            </a:pPr>
            <a:endParaRPr lang="ru-RU">
              <a:solidFill>
                <a:srgbClr val="212B36"/>
              </a:solidFill>
            </a:endParaRP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2. Понятен груз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- масса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- характер груза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- устойчивость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074920" cy="406908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783080"/>
            <a:ext cx="43434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>
                <a:solidFill>
                  <a:srgbClr val="212B36"/>
                </a:solidFill>
              </a:rPr>
              <a:t>3. Проверено место работ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- ограждение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- видимость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- маршрут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- безопасные позиции</a:t>
            </a:r>
          </a:p>
          <a:p>
            <a:pPr algn="ctr"/>
            <a:endParaRPr lang="ru-RU" sz="2000">
              <a:solidFill>
                <a:srgbClr val="212B36"/>
              </a:solidFill>
            </a:endParaRPr>
          </a:p>
          <a:p>
            <a:pPr algn="ctr"/>
            <a:r>
              <a:rPr lang="ru-RU" sz="2000">
                <a:solidFill>
                  <a:srgbClr val="212B36"/>
                </a:solidFill>
              </a:rPr>
              <a:t>4. Проверены схема и оснастка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- схема строповки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- исправные стропы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- нужные приспособления</a:t>
            </a:r>
            <a:endParaRPr sz="2000" dirty="0">
              <a:solidFill>
                <a:srgbClr val="212B36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8540496" y="5989320"/>
            <a:ext cx="2761488" cy="457200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Далее</a:t>
            </a:r>
          </a:p>
        </p:txBody>
      </p:sp>
    </p:spTree>
    <p:extLst>
      <p:ext uri="{BB962C8B-B14F-4D97-AF65-F5344CB8AC3E}">
        <p14:creationId xmlns:p14="http://schemas.microsoft.com/office/powerpoint/2010/main" val="3144882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b="1">
                <a:solidFill>
                  <a:srgbClr val="FFFFFF"/>
                </a:solidFill>
              </a:rPr>
              <a:t>Тема 2.2. Технология работы</a:t>
            </a:r>
            <a:endParaRPr sz="2400" b="1">
              <a:solidFill>
                <a:srgbClr val="FFFFFF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S032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>
                <a:solidFill>
                  <a:srgbClr val="6E7A86"/>
                </a:solidFill>
              </a:rPr>
              <a:t>Урок 1. Когда работу нельзя начинать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5074920" cy="406908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5074920" cy="658368"/>
          </a:xfrm>
          <a:prstGeom prst="roundRect">
            <a:avLst>
              <a:gd name="adj" fmla="val 19300"/>
            </a:avLst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lang="ru-RU" b="1">
                <a:solidFill>
                  <a:srgbClr val="FFFFFF"/>
                </a:solidFill>
              </a:rPr>
              <a:t>Можно / нельзя начинать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8992" y="2377440"/>
            <a:ext cx="4562856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Плохая видимость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Нет схемы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Неисправная оснастка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Небезопасное рабочее место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Неясны условия работы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074920" cy="406908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783080"/>
            <a:ext cx="43434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>
                <a:solidFill>
                  <a:srgbClr val="212B36"/>
                </a:solidFill>
              </a:rPr>
              <a:t>Экран решения: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можно начинать / нельзя начинать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с примерами небезопасных условий</a:t>
            </a:r>
            <a:endParaRPr sz="2000" dirty="0">
              <a:solidFill>
                <a:srgbClr val="212B36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8540496" y="5989320"/>
            <a:ext cx="2761488" cy="457200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Далее</a:t>
            </a:r>
          </a:p>
        </p:txBody>
      </p:sp>
    </p:spTree>
    <p:extLst>
      <p:ext uri="{BB962C8B-B14F-4D97-AF65-F5344CB8AC3E}">
        <p14:creationId xmlns:p14="http://schemas.microsoft.com/office/powerpoint/2010/main" val="3263508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b="1">
                <a:solidFill>
                  <a:srgbClr val="FFFFFF"/>
                </a:solidFill>
              </a:rPr>
              <a:t>Тема 2.2. Технология работы</a:t>
            </a:r>
            <a:endParaRPr sz="2400" b="1">
              <a:solidFill>
                <a:srgbClr val="FFFFFF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S033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>
                <a:solidFill>
                  <a:srgbClr val="6E7A86"/>
                </a:solidFill>
              </a:rPr>
              <a:t>Урок 2. Обязанности стропальщика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5074920" cy="406908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5074920" cy="658368"/>
          </a:xfrm>
          <a:prstGeom prst="roundRect">
            <a:avLst>
              <a:gd name="adj" fmla="val 19300"/>
            </a:avLst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lang="ru-RU" b="1">
                <a:solidFill>
                  <a:srgbClr val="FFFFFF"/>
                </a:solidFill>
              </a:rPr>
              <a:t>Что входит в роль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8992" y="2377440"/>
            <a:ext cx="4562856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До начала работ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При обвязке и зацепке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Перед подачей сигнала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После установки груза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074920" cy="406908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783079"/>
            <a:ext cx="43434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>
                <a:solidFill>
                  <a:srgbClr val="212B36"/>
                </a:solidFill>
              </a:rPr>
              <a:t>Таблица обязанностей: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до начала работ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во время операции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после установки</a:t>
            </a:r>
            <a:endParaRPr sz="2000" dirty="0">
              <a:solidFill>
                <a:srgbClr val="212B36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8540496" y="5989320"/>
            <a:ext cx="2761488" cy="457200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Далее</a:t>
            </a:r>
          </a:p>
        </p:txBody>
      </p:sp>
    </p:spTree>
    <p:extLst>
      <p:ext uri="{BB962C8B-B14F-4D97-AF65-F5344CB8AC3E}">
        <p14:creationId xmlns:p14="http://schemas.microsoft.com/office/powerpoint/2010/main" val="2462491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b="1">
                <a:solidFill>
                  <a:srgbClr val="FFFFFF"/>
                </a:solidFill>
              </a:rPr>
              <a:t>Тема 2.2. Технология работы</a:t>
            </a:r>
            <a:endParaRPr sz="2400" b="1">
              <a:solidFill>
                <a:srgbClr val="FFFFFF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S034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>
                <a:solidFill>
                  <a:srgbClr val="6E7A86"/>
                </a:solidFill>
              </a:rPr>
              <a:t>Урок 2. Технологический цикл работы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5074920" cy="406908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5074920" cy="658368"/>
          </a:xfrm>
          <a:prstGeom prst="roundRect">
            <a:avLst>
              <a:gd name="adj" fmla="val 19300"/>
            </a:avLst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lang="ru-RU" b="1">
                <a:solidFill>
                  <a:srgbClr val="FFFFFF"/>
                </a:solidFill>
              </a:rPr>
              <a:t>Укрупненный цикл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8992" y="2377440"/>
            <a:ext cx="4562856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Ограждение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Подготовка груза и схемы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Строповка и сигнал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Контроль на 20-30 см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Перемещение и складирование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Снятие и хранение оснастки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074920" cy="406908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783079"/>
            <a:ext cx="43434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>
                <a:solidFill>
                  <a:srgbClr val="212B36"/>
                </a:solidFill>
              </a:rPr>
              <a:t>Схема процесса: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от установки ограждения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до уборки стропов и оснастки</a:t>
            </a:r>
            <a:endParaRPr sz="2000" dirty="0">
              <a:solidFill>
                <a:srgbClr val="212B36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8540496" y="5989320"/>
            <a:ext cx="2761488" cy="457200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Далее</a:t>
            </a:r>
          </a:p>
        </p:txBody>
      </p:sp>
    </p:spTree>
    <p:extLst>
      <p:ext uri="{BB962C8B-B14F-4D97-AF65-F5344CB8AC3E}">
        <p14:creationId xmlns:p14="http://schemas.microsoft.com/office/powerpoint/2010/main" val="1346259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b="1">
                <a:solidFill>
                  <a:srgbClr val="FFFFFF"/>
                </a:solidFill>
              </a:rPr>
              <a:t>Тема 2.2. Технология работы</a:t>
            </a:r>
            <a:endParaRPr sz="2400" b="1">
              <a:solidFill>
                <a:srgbClr val="FFFFFF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S034-P01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>
                <a:solidFill>
                  <a:srgbClr val="6E7A86"/>
                </a:solidFill>
              </a:rPr>
              <a:t>Подвал. Полный цикл работ стропальщика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5074920" cy="406908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5074920" cy="658368"/>
          </a:xfrm>
          <a:prstGeom prst="roundRect">
            <a:avLst>
              <a:gd name="adj" fmla="val 19300"/>
            </a:avLst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lang="ru-RU" b="1">
                <a:solidFill>
                  <a:srgbClr val="FFFFFF"/>
                </a:solidFill>
              </a:rPr>
              <a:t>Полный маршрут операции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8992" y="2377440"/>
            <a:ext cx="4562856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1. Установить ограждение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2. Определить массу груза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3. Определить схему строповки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4. Проверить и выбрать стропы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5. Оговорить сигналы с машинистом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6. Проверить маршрут перемещения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7. Проверить место складирования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8. Выполнить строповку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074920" cy="406908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783080"/>
            <a:ext cx="43434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>
                <a:solidFill>
                  <a:srgbClr val="212B36"/>
                </a:solidFill>
              </a:rPr>
              <a:t>9. При необходимости поставить оттяжку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10. Подать команду на подъем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11. Поднять на 20-30 см и остановить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12. Проверить строповку, тормоз и перекос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13. Переместить груз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14. Выполнить складирование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15. Извлечь и убрать оснастку на хранение</a:t>
            </a:r>
            <a:endParaRPr sz="2000" dirty="0">
              <a:solidFill>
                <a:srgbClr val="212B36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8540496" y="5989320"/>
            <a:ext cx="2761488" cy="457200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Далее</a:t>
            </a:r>
          </a:p>
        </p:txBody>
      </p:sp>
    </p:spTree>
    <p:extLst>
      <p:ext uri="{BB962C8B-B14F-4D97-AF65-F5344CB8AC3E}">
        <p14:creationId xmlns:p14="http://schemas.microsoft.com/office/powerpoint/2010/main" val="1953282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b="1">
                <a:solidFill>
                  <a:srgbClr val="FFFFFF"/>
                </a:solidFill>
              </a:rPr>
              <a:t>Тема 2.2. Технология работы</a:t>
            </a:r>
            <a:endParaRPr sz="2400" b="1">
              <a:solidFill>
                <a:srgbClr val="FFFFFF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S035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>
                <a:solidFill>
                  <a:srgbClr val="6E7A86"/>
                </a:solidFill>
              </a:rPr>
              <a:t>Урок 3. Сигнализация и взаимодействие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5074920" cy="406908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5074920" cy="658368"/>
          </a:xfrm>
          <a:prstGeom prst="roundRect">
            <a:avLst>
              <a:gd name="adj" fmla="val 19300"/>
            </a:avLst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lang="ru-RU" b="1">
                <a:solidFill>
                  <a:srgbClr val="FFFFFF"/>
                </a:solidFill>
              </a:rPr>
              <a:t>Как подаются команды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8992" y="2377440"/>
            <a:ext cx="4562856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До 10 м — голосом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До 22 м — знаковая сигнализация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Свыше 22 м — рация или телефон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Команды должны быть понятными и однозначными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074920" cy="406908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783080"/>
            <a:ext cx="43434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>
                <a:solidFill>
                  <a:srgbClr val="212B36"/>
                </a:solidFill>
              </a:rPr>
              <a:t>Галерея команд: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Внимание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Поднять / опустить груз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Поднять / опустить стрелу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Перемещение влево / вправо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Осторожно</a:t>
            </a:r>
            <a:endParaRPr sz="2000" dirty="0">
              <a:solidFill>
                <a:srgbClr val="212B36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8540496" y="5989320"/>
            <a:ext cx="2761488" cy="457200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Далее</a:t>
            </a:r>
          </a:p>
        </p:txBody>
      </p:sp>
    </p:spTree>
    <p:extLst>
      <p:ext uri="{BB962C8B-B14F-4D97-AF65-F5344CB8AC3E}">
        <p14:creationId xmlns:p14="http://schemas.microsoft.com/office/powerpoint/2010/main" val="37127138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b="1">
                <a:solidFill>
                  <a:srgbClr val="FFFFFF"/>
                </a:solidFill>
              </a:rPr>
              <a:t>Тема 2.2. Технология работы</a:t>
            </a:r>
            <a:endParaRPr sz="2400" b="1">
              <a:solidFill>
                <a:srgbClr val="FFFFFF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S035-P01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>
                <a:solidFill>
                  <a:srgbClr val="6E7A86"/>
                </a:solidFill>
              </a:rPr>
              <a:t>Подвал. Способы подачи команд и сигналы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5074920" cy="406908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5074920" cy="658368"/>
          </a:xfrm>
          <a:prstGeom prst="roundRect">
            <a:avLst>
              <a:gd name="adj" fmla="val 19300"/>
            </a:avLst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lang="ru-RU" b="1">
                <a:solidFill>
                  <a:srgbClr val="FFFFFF"/>
                </a:solidFill>
              </a:rPr>
              <a:t>Как подаются команды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8992" y="2377440"/>
            <a:ext cx="456285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По дистанции: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- до 10 м — голосом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- до 22 м — знаковой сигнализацией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- свыше 22 м — по рации или телефону</a:t>
            </a:r>
          </a:p>
          <a:p>
            <a:pPr>
              <a:spcAft>
                <a:spcPts val="800"/>
              </a:spcAft>
            </a:pPr>
            <a:endParaRPr lang="ru-RU">
              <a:solidFill>
                <a:srgbClr val="212B36"/>
              </a:solidFill>
            </a:endParaRP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Команды на груз: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- Внимание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- Поднять груз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- Опустить груз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- Осторожно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074920" cy="406908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783080"/>
            <a:ext cx="43434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>
                <a:solidFill>
                  <a:srgbClr val="212B36"/>
                </a:solidFill>
              </a:rPr>
              <a:t>Команды на стрелу и перемещение: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- Поднять стрелу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- Опустить стрелу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- Переместить стрелу влево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- Переместить стрелу вправо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- Переместить тележку/кран влево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- Переместить тележку/кран вправо</a:t>
            </a:r>
          </a:p>
          <a:p>
            <a:pPr algn="ctr"/>
            <a:endParaRPr lang="ru-RU" sz="2000">
              <a:solidFill>
                <a:srgbClr val="212B36"/>
              </a:solidFill>
            </a:endParaRPr>
          </a:p>
          <a:p>
            <a:pPr algn="ctr"/>
            <a:r>
              <a:rPr lang="ru-RU" sz="2000">
                <a:solidFill>
                  <a:srgbClr val="212B36"/>
                </a:solidFill>
              </a:rPr>
              <a:t>Команда Стоп раскрывается отдельно на S036</a:t>
            </a:r>
            <a:endParaRPr sz="2000" dirty="0">
              <a:solidFill>
                <a:srgbClr val="212B36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8540496" y="5989320"/>
            <a:ext cx="2761488" cy="457200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Далее</a:t>
            </a:r>
          </a:p>
        </p:txBody>
      </p:sp>
    </p:spTree>
    <p:extLst>
      <p:ext uri="{BB962C8B-B14F-4D97-AF65-F5344CB8AC3E}">
        <p14:creationId xmlns:p14="http://schemas.microsoft.com/office/powerpoint/2010/main" val="4171946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b="1">
                <a:solidFill>
                  <a:srgbClr val="FFFFFF"/>
                </a:solidFill>
              </a:rPr>
              <a:t>Тема 2.2. Технология работы</a:t>
            </a:r>
            <a:endParaRPr sz="2400" b="1">
              <a:solidFill>
                <a:srgbClr val="FFFFFF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S035-PP01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>
                <a:solidFill>
                  <a:srgbClr val="6E7A86"/>
                </a:solidFill>
              </a:rPr>
              <a:t>Подподвал. Подробная галерея жестов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5074920" cy="406908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5074920" cy="658368"/>
          </a:xfrm>
          <a:prstGeom prst="roundRect">
            <a:avLst>
              <a:gd name="adj" fmla="val 19300"/>
            </a:avLst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lang="ru-RU" b="1">
                <a:solidFill>
                  <a:srgbClr val="FFFFFF"/>
                </a:solidFill>
              </a:rPr>
              <a:t>Расшифровка знаковых команд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8992" y="2377440"/>
            <a:ext cx="4562856" cy="3406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Группа 1: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- Внимание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- Поднять груз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- Опустить груз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- Осторожно</a:t>
            </a:r>
          </a:p>
          <a:p>
            <a:pPr>
              <a:spcAft>
                <a:spcPts val="800"/>
              </a:spcAft>
            </a:pPr>
            <a:endParaRPr lang="ru-RU">
              <a:solidFill>
                <a:srgbClr val="212B36"/>
              </a:solidFill>
            </a:endParaRP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Для каждой команды: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слева жест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справа короткая подпись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074920" cy="406908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783080"/>
            <a:ext cx="43434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>
                <a:solidFill>
                  <a:srgbClr val="212B36"/>
                </a:solidFill>
              </a:rPr>
              <a:t>Группа 2: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- Поднять стрелу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- Опустить стрелу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- Переместить стрелу влево / вправо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- Переместить тележку или кран влево / вправо</a:t>
            </a:r>
          </a:p>
          <a:p>
            <a:pPr algn="ctr"/>
            <a:endParaRPr lang="ru-RU" sz="2000">
              <a:solidFill>
                <a:srgbClr val="212B36"/>
              </a:solidFill>
            </a:endParaRPr>
          </a:p>
          <a:p>
            <a:pPr algn="ctr"/>
            <a:r>
              <a:rPr lang="ru-RU" sz="2000">
                <a:solidFill>
                  <a:srgbClr val="212B36"/>
                </a:solidFill>
              </a:rPr>
              <a:t>Для парных команд используем симметричные изображения</a:t>
            </a:r>
            <a:endParaRPr sz="2000" dirty="0">
              <a:solidFill>
                <a:srgbClr val="212B36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8540496" y="5989320"/>
            <a:ext cx="2761488" cy="457200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Далее</a:t>
            </a:r>
          </a:p>
        </p:txBody>
      </p:sp>
    </p:spTree>
    <p:extLst>
      <p:ext uri="{BB962C8B-B14F-4D97-AF65-F5344CB8AC3E}">
        <p14:creationId xmlns:p14="http://schemas.microsoft.com/office/powerpoint/2010/main" val="27271537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b="1">
                <a:solidFill>
                  <a:srgbClr val="FFFFFF"/>
                </a:solidFill>
              </a:rPr>
              <a:t>Тема 2.2. Технология работы</a:t>
            </a:r>
            <a:endParaRPr sz="2400" b="1">
              <a:solidFill>
                <a:srgbClr val="FFFFFF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S036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>
                <a:solidFill>
                  <a:srgbClr val="6E7A86"/>
                </a:solidFill>
              </a:rPr>
              <a:t>Урок 3. Команда Стоп и неясные сигналы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5074920" cy="406908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5074920" cy="658368"/>
          </a:xfrm>
          <a:prstGeom prst="roundRect">
            <a:avLst>
              <a:gd name="adj" fmla="val 19300"/>
            </a:avLst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lang="ru-RU" b="1">
                <a:solidFill>
                  <a:srgbClr val="FFFFFF"/>
                </a:solidFill>
              </a:rPr>
              <a:t>Когда работу останавливают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8992" y="2377440"/>
            <a:ext cx="4562856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Стоп обязателен к исполнению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Неясный сигнал — остановка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Плохая видимость — остановка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Нет уверенного взаимодействия — остановка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074920" cy="406908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783079"/>
            <a:ext cx="43434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>
                <a:solidFill>
                  <a:srgbClr val="212B36"/>
                </a:solidFill>
              </a:rPr>
              <a:t>Схема взаимодействия: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ясный сигнал / неясный сигнал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потеря контакта / остановка</a:t>
            </a:r>
            <a:endParaRPr sz="2000" dirty="0">
              <a:solidFill>
                <a:srgbClr val="212B36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8540496" y="5989320"/>
            <a:ext cx="2761488" cy="457200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Далее</a:t>
            </a:r>
          </a:p>
        </p:txBody>
      </p:sp>
    </p:spTree>
    <p:extLst>
      <p:ext uri="{BB962C8B-B14F-4D97-AF65-F5344CB8AC3E}">
        <p14:creationId xmlns:p14="http://schemas.microsoft.com/office/powerpoint/2010/main" val="3131832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b="1">
                <a:solidFill>
                  <a:srgbClr val="FFFFFF"/>
                </a:solidFill>
              </a:rPr>
              <a:t>Тема 2.2. Технология работы</a:t>
            </a:r>
            <a:endParaRPr sz="2400" b="1">
              <a:solidFill>
                <a:srgbClr val="FFFFFF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S037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>
                <a:solidFill>
                  <a:srgbClr val="6E7A86"/>
                </a:solidFill>
              </a:rPr>
              <a:t>Урок 4. Перемещение и сопровождение груза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5074920" cy="406908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5074920" cy="658368"/>
          </a:xfrm>
          <a:prstGeom prst="roundRect">
            <a:avLst>
              <a:gd name="adj" fmla="val 19300"/>
            </a:avLst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lang="ru-RU" b="1">
                <a:solidFill>
                  <a:srgbClr val="FFFFFF"/>
                </a:solidFill>
              </a:rPr>
              <a:t>Безопасная траектория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8992" y="2377440"/>
            <a:ext cx="4562856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Контролируй траекторию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Не заходи в опасную зону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Работай с оттяжкой при необходимости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Не находись под грузом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Удерживай груз безопасно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074920" cy="406908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783080"/>
            <a:ext cx="43434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>
                <a:solidFill>
                  <a:srgbClr val="212B36"/>
                </a:solidFill>
              </a:rPr>
              <a:t>Схема маршрута: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груз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опасная зона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позиция стропальщика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работа с оттяжкой</a:t>
            </a:r>
            <a:endParaRPr sz="2000" dirty="0">
              <a:solidFill>
                <a:srgbClr val="212B36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8540496" y="5989320"/>
            <a:ext cx="2761488" cy="457200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Далее</a:t>
            </a:r>
          </a:p>
        </p:txBody>
      </p:sp>
    </p:spTree>
    <p:extLst>
      <p:ext uri="{BB962C8B-B14F-4D97-AF65-F5344CB8AC3E}">
        <p14:creationId xmlns:p14="http://schemas.microsoft.com/office/powerpoint/2010/main" val="32683974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b="1">
                <a:solidFill>
                  <a:srgbClr val="FFFFFF"/>
                </a:solidFill>
              </a:rPr>
              <a:t>Тема 2.2. Технология работы</a:t>
            </a:r>
            <a:endParaRPr sz="2400" b="1">
              <a:solidFill>
                <a:srgbClr val="FFFFFF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S037-P01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>
                <a:solidFill>
                  <a:srgbClr val="6E7A86"/>
                </a:solidFill>
              </a:rPr>
              <a:t>Подвал. Опасная зона при перемещении груза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5074920" cy="406908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5074920" cy="658368"/>
          </a:xfrm>
          <a:prstGeom prst="roundRect">
            <a:avLst>
              <a:gd name="adj" fmla="val 19300"/>
            </a:avLst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lang="ru-RU" b="1">
                <a:solidFill>
                  <a:srgbClr val="FFFFFF"/>
                </a:solidFill>
              </a:rPr>
              <a:t>Что нужно показать отдельно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8992" y="2377440"/>
            <a:ext cx="4562856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Опасная зона: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- траектория груза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- возможное раскачивание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- зона падения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- запрещенные позиции людей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074920" cy="406908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783080"/>
            <a:ext cx="43434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>
                <a:solidFill>
                  <a:srgbClr val="212B36"/>
                </a:solidFill>
              </a:rPr>
              <a:t>Безопасная работа: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- позиция стропальщика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- сопровождение с дистанции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- работа с оттяжкой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- запрет нахождения под грузом</a:t>
            </a:r>
            <a:endParaRPr sz="2000" dirty="0">
              <a:solidFill>
                <a:srgbClr val="212B36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8540496" y="5989320"/>
            <a:ext cx="2761488" cy="457200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Далее</a:t>
            </a:r>
          </a:p>
        </p:txBody>
      </p:sp>
    </p:spTree>
    <p:extLst>
      <p:ext uri="{BB962C8B-B14F-4D97-AF65-F5344CB8AC3E}">
        <p14:creationId xmlns:p14="http://schemas.microsoft.com/office/powerpoint/2010/main" val="23269242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b="1">
                <a:solidFill>
                  <a:srgbClr val="FFFFFF"/>
                </a:solidFill>
              </a:rPr>
              <a:t>Тема 2.2. Технология работы</a:t>
            </a:r>
            <a:endParaRPr sz="2400" b="1">
              <a:solidFill>
                <a:srgbClr val="FFFFFF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S037-PP01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>
                <a:solidFill>
                  <a:srgbClr val="6E7A86"/>
                </a:solidFill>
              </a:rPr>
              <a:t>Подподвал. Работа с оттяжкой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5074920" cy="406908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5074920" cy="658368"/>
          </a:xfrm>
          <a:prstGeom prst="roundRect">
            <a:avLst>
              <a:gd name="adj" fmla="val 19300"/>
            </a:avLst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lang="ru-RU" b="1">
                <a:solidFill>
                  <a:srgbClr val="FFFFFF"/>
                </a:solidFill>
              </a:rPr>
              <a:t>Как использовать оттяжку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8992" y="2377440"/>
            <a:ext cx="4562856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Оттяжка нужна: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- чтобы удерживать груз от разворота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- чтобы уменьшать раскачивание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- чтобы сопровождать груз на дистанции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074920" cy="406908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783080"/>
            <a:ext cx="43434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>
                <a:solidFill>
                  <a:srgbClr val="212B36"/>
                </a:solidFill>
              </a:rPr>
              <a:t>Запрещено: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- тянуть груз под подвесом руками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- заходить под груз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- сопровождать груз без оценки опасной зоны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- исправлять строповку при подвешенном грузе</a:t>
            </a:r>
            <a:endParaRPr sz="2000" dirty="0">
              <a:solidFill>
                <a:srgbClr val="212B36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8540496" y="5989320"/>
            <a:ext cx="2761488" cy="457200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Далее</a:t>
            </a:r>
          </a:p>
        </p:txBody>
      </p:sp>
    </p:spTree>
    <p:extLst>
      <p:ext uri="{BB962C8B-B14F-4D97-AF65-F5344CB8AC3E}">
        <p14:creationId xmlns:p14="http://schemas.microsoft.com/office/powerpoint/2010/main" val="42696739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b="1">
                <a:solidFill>
                  <a:srgbClr val="FFFFFF"/>
                </a:solidFill>
              </a:rPr>
              <a:t>Тема 2.2. Технология работы</a:t>
            </a:r>
            <a:endParaRPr sz="2400" b="1">
              <a:solidFill>
                <a:srgbClr val="FFFFFF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S038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>
                <a:solidFill>
                  <a:srgbClr val="6E7A86"/>
                </a:solidFill>
              </a:rPr>
              <a:t>Урок 4. Когда груз нужно немедленно опустить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5074920" cy="406908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5074920" cy="658368"/>
          </a:xfrm>
          <a:prstGeom prst="roundRect">
            <a:avLst>
              <a:gd name="adj" fmla="val 19300"/>
            </a:avLst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lang="ru-RU" b="1">
                <a:solidFill>
                  <a:srgbClr val="FFFFFF"/>
                </a:solidFill>
              </a:rPr>
              <a:t>Нужно остановить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8992" y="2377440"/>
            <a:ext cx="4562856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Груз раскачивается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Есть риск перекоса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Люди в опасной зоне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Ситуация стала неуправляемой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074920" cy="406908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783080"/>
            <a:ext cx="43434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>
                <a:solidFill>
                  <a:srgbClr val="212B36"/>
                </a:solidFill>
              </a:rPr>
              <a:t>Кейс: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что произошло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почему это опасно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что должен сделать стропальщик</a:t>
            </a:r>
            <a:endParaRPr sz="2000" dirty="0">
              <a:solidFill>
                <a:srgbClr val="212B36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8540496" y="5989320"/>
            <a:ext cx="2761488" cy="457200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Далее</a:t>
            </a:r>
          </a:p>
        </p:txBody>
      </p:sp>
    </p:spTree>
    <p:extLst>
      <p:ext uri="{BB962C8B-B14F-4D97-AF65-F5344CB8AC3E}">
        <p14:creationId xmlns:p14="http://schemas.microsoft.com/office/powerpoint/2010/main" val="39776014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b="1">
                <a:solidFill>
                  <a:srgbClr val="FFFFFF"/>
                </a:solidFill>
              </a:rPr>
              <a:t>Тема 2.2. Технология работы</a:t>
            </a:r>
            <a:endParaRPr sz="2400" b="1">
              <a:solidFill>
                <a:srgbClr val="FFFFFF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S039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>
                <a:solidFill>
                  <a:srgbClr val="6E7A86"/>
                </a:solidFill>
              </a:rPr>
              <a:t>Урок 5. Складирование и расстроповка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5074920" cy="406908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5074920" cy="658368"/>
          </a:xfrm>
          <a:prstGeom prst="roundRect">
            <a:avLst>
              <a:gd name="adj" fmla="val 19300"/>
            </a:avLst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lang="ru-RU" b="1">
                <a:solidFill>
                  <a:srgbClr val="FFFFFF"/>
                </a:solidFill>
              </a:rPr>
              <a:t>Как завершить операцию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8992" y="2377440"/>
            <a:ext cx="4562856" cy="2164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Подготовь место укладки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Проверь устойчивость груза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Используй подкладки и прокладки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Не загромождай проходы и проезды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Снимай стропы только после устойчивой установки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074920" cy="406908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783080"/>
            <a:ext cx="43434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>
                <a:solidFill>
                  <a:srgbClr val="212B36"/>
                </a:solidFill>
              </a:rPr>
              <a:t>Схема складирования: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место укладки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подкладки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устойчивость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момент расстроповки</a:t>
            </a:r>
            <a:endParaRPr sz="2000" dirty="0">
              <a:solidFill>
                <a:srgbClr val="212B36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8540496" y="5989320"/>
            <a:ext cx="2761488" cy="457200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Далее</a:t>
            </a:r>
          </a:p>
        </p:txBody>
      </p:sp>
    </p:spTree>
    <p:extLst>
      <p:ext uri="{BB962C8B-B14F-4D97-AF65-F5344CB8AC3E}">
        <p14:creationId xmlns:p14="http://schemas.microsoft.com/office/powerpoint/2010/main" val="52907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b="1">
                <a:solidFill>
                  <a:srgbClr val="FFFFFF"/>
                </a:solidFill>
              </a:rPr>
              <a:t>Тема 2.2. Технология работы</a:t>
            </a:r>
            <a:endParaRPr sz="2400" b="1">
              <a:solidFill>
                <a:srgbClr val="FFFFFF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S039-P01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>
                <a:solidFill>
                  <a:srgbClr val="6E7A86"/>
                </a:solidFill>
              </a:rPr>
              <a:t>Подвал. Подготовка места и момент расстроповки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5074920" cy="406908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5074920" cy="658368"/>
          </a:xfrm>
          <a:prstGeom prst="roundRect">
            <a:avLst>
              <a:gd name="adj" fmla="val 19300"/>
            </a:avLst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lang="ru-RU" b="1">
                <a:solidFill>
                  <a:srgbClr val="FFFFFF"/>
                </a:solidFill>
              </a:rPr>
              <a:t>Как безопасно завершить работу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8992" y="2377440"/>
            <a:ext cx="4562856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Подготовка места: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- ровное основание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- подкладки и прокладки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- свободные проходы и проезды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- понятная точка установки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074920" cy="406908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783080"/>
            <a:ext cx="43434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>
                <a:solidFill>
                  <a:srgbClr val="212B36"/>
                </a:solidFill>
              </a:rPr>
              <a:t>Расстроповка: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- только после устойчивой установки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- без зажатия ветвей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- без риска переката и опрокидывания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- при сомнении сначала выровнять груз</a:t>
            </a:r>
            <a:endParaRPr sz="2000" dirty="0">
              <a:solidFill>
                <a:srgbClr val="212B36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8540496" y="5989320"/>
            <a:ext cx="2761488" cy="457200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Далее</a:t>
            </a:r>
          </a:p>
        </p:txBody>
      </p:sp>
    </p:spTree>
    <p:extLst>
      <p:ext uri="{BB962C8B-B14F-4D97-AF65-F5344CB8AC3E}">
        <p14:creationId xmlns:p14="http://schemas.microsoft.com/office/powerpoint/2010/main" val="40298244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b="1">
                <a:solidFill>
                  <a:srgbClr val="FFFFFF"/>
                </a:solidFill>
              </a:rPr>
              <a:t>Тема 2.2. Технология работы</a:t>
            </a:r>
            <a:endParaRPr sz="2400" b="1">
              <a:solidFill>
                <a:srgbClr val="FFFFFF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S039-PP01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>
                <a:solidFill>
                  <a:srgbClr val="6E7A86"/>
                </a:solidFill>
              </a:rPr>
              <a:t>Подподвал. Схемы безопасного складирования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5074920" cy="406908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5074920" cy="658368"/>
          </a:xfrm>
          <a:prstGeom prst="roundRect">
            <a:avLst>
              <a:gd name="adj" fmla="val 19300"/>
            </a:avLst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lang="ru-RU" b="1">
                <a:solidFill>
                  <a:srgbClr val="FFFFFF"/>
                </a:solidFill>
              </a:rPr>
              <a:t>Что раскрываем дополнительно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8992" y="2377440"/>
            <a:ext cx="4562856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Варианты для показа: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- длинномер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- пакет листов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- цилиндрический груз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- груз на подкладках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074920" cy="406908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783080"/>
            <a:ext cx="43434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>
                <a:solidFill>
                  <a:srgbClr val="212B36"/>
                </a:solidFill>
              </a:rPr>
              <a:t>Что сравниваем: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- подготовлено / не подготовлено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- устойчиво / неустойчиво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- можно расстроповывать / нельзя расстроповывать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- правильная опора / риск переката</a:t>
            </a:r>
            <a:endParaRPr sz="2000" dirty="0">
              <a:solidFill>
                <a:srgbClr val="212B36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8540496" y="5989320"/>
            <a:ext cx="2761488" cy="457200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Далее</a:t>
            </a:r>
          </a:p>
        </p:txBody>
      </p:sp>
    </p:spTree>
    <p:extLst>
      <p:ext uri="{BB962C8B-B14F-4D97-AF65-F5344CB8AC3E}">
        <p14:creationId xmlns:p14="http://schemas.microsoft.com/office/powerpoint/2010/main" val="9898247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b="1">
                <a:solidFill>
                  <a:srgbClr val="FFFFFF"/>
                </a:solidFill>
              </a:rPr>
              <a:t>Тема 2.2. Технология работы</a:t>
            </a:r>
            <a:endParaRPr sz="2400" b="1">
              <a:solidFill>
                <a:srgbClr val="FFFFFF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S040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>
                <a:solidFill>
                  <a:srgbClr val="6E7A86"/>
                </a:solidFill>
              </a:rPr>
              <a:t>Промежуточный тест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5074920" cy="406908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5074920" cy="658368"/>
          </a:xfrm>
          <a:prstGeom prst="roundRect">
            <a:avLst>
              <a:gd name="adj" fmla="val 19300"/>
            </a:avLst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lang="ru-RU" b="1">
                <a:solidFill>
                  <a:srgbClr val="FFFFFF"/>
                </a:solidFill>
              </a:rPr>
              <a:t>Проверка по теме 2.2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8992" y="2377440"/>
            <a:ext cx="4562856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Что делать до начала работ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Кто подает сигнал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Когда остановить перемещение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Как складировать безопасно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074920" cy="406908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783080"/>
            <a:ext cx="43434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>
                <a:solidFill>
                  <a:srgbClr val="212B36"/>
                </a:solidFill>
              </a:rPr>
              <a:t>Тестовый экран: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вопросы по подготовке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сигналам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сопровождению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складированию</a:t>
            </a:r>
            <a:endParaRPr sz="2000" dirty="0">
              <a:solidFill>
                <a:srgbClr val="212B36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8540496" y="5989320"/>
            <a:ext cx="2761488" cy="457200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Далее</a:t>
            </a:r>
          </a:p>
        </p:txBody>
      </p:sp>
    </p:spTree>
    <p:extLst>
      <p:ext uri="{BB962C8B-B14F-4D97-AF65-F5344CB8AC3E}">
        <p14:creationId xmlns:p14="http://schemas.microsoft.com/office/powerpoint/2010/main" val="4005327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b="1">
                <a:solidFill>
                  <a:srgbClr val="FFFFFF"/>
                </a:solidFill>
              </a:rPr>
              <a:t>Тема 2.2. Технология работы</a:t>
            </a:r>
            <a:endParaRPr sz="2400" b="1">
              <a:solidFill>
                <a:srgbClr val="FFFFFF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S041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>
                <a:solidFill>
                  <a:srgbClr val="6E7A86"/>
                </a:solidFill>
              </a:rPr>
              <a:t>Финальный вывод по подтеме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5074920" cy="406908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5074920" cy="658368"/>
          </a:xfrm>
          <a:prstGeom prst="roundRect">
            <a:avLst>
              <a:gd name="adj" fmla="val 19300"/>
            </a:avLst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lang="ru-RU" b="1">
                <a:solidFill>
                  <a:srgbClr val="FFFFFF"/>
                </a:solidFill>
              </a:rPr>
              <a:t>Что должен уметь слушатель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8992" y="2377440"/>
            <a:ext cx="4562856" cy="2164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Работай по порядку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Не пропускай проверку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Держи связь с крановщиком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Не сопровождай груз с риском</a:t>
            </a:r>
          </a:p>
          <a:p>
            <a:pPr>
              <a:spcAft>
                <a:spcPts val="800"/>
              </a:spcAft>
            </a:pPr>
            <a:r>
              <a:rPr lang="ru-RU">
                <a:solidFill>
                  <a:srgbClr val="212B36"/>
                </a:solidFill>
              </a:rPr>
              <a:t>Завершай работу только после устойчивой установки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074920" cy="406908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783080"/>
            <a:ext cx="43434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>
                <a:solidFill>
                  <a:srgbClr val="212B36"/>
                </a:solidFill>
              </a:rPr>
              <a:t>Итоговый экран-памятка: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подготовка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сигналы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сопровождение</a:t>
            </a:r>
          </a:p>
          <a:p>
            <a:pPr algn="ctr"/>
            <a:r>
              <a:rPr lang="ru-RU" sz="2000">
                <a:solidFill>
                  <a:srgbClr val="212B36"/>
                </a:solidFill>
              </a:rPr>
              <a:t>завершение работы</a:t>
            </a:r>
            <a:endParaRPr sz="2000" dirty="0">
              <a:solidFill>
                <a:srgbClr val="212B36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8540496" y="5989320"/>
            <a:ext cx="2761488" cy="457200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Далее</a:t>
            </a:r>
          </a:p>
        </p:txBody>
      </p:sp>
    </p:spTree>
    <p:extLst>
      <p:ext uri="{BB962C8B-B14F-4D97-AF65-F5344CB8AC3E}">
        <p14:creationId xmlns:p14="http://schemas.microsoft.com/office/powerpoint/2010/main" val="78031051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1197</Words>
  <Application>Microsoft Office PowerPoint</Application>
  <PresentationFormat>Широкоэкранный</PresentationFormat>
  <Paragraphs>347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Дмитрий</dc:creator>
  <cp:lastModifiedBy>Дмитрий</cp:lastModifiedBy>
  <cp:revision>11</cp:revision>
  <dcterms:created xsi:type="dcterms:W3CDTF">2026-06-29T18:19:40Z</dcterms:created>
  <dcterms:modified xsi:type="dcterms:W3CDTF">2026-06-29T19:42:32Z</dcterms:modified>
</cp:coreProperties>
</file>